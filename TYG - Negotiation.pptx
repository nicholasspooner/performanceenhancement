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6"/>
  </p:notesMasterIdLst>
  <p:sldIdLst>
    <p:sldId id="316" r:id="rId2"/>
    <p:sldId id="318" r:id="rId3"/>
    <p:sldId id="286" r:id="rId4"/>
    <p:sldId id="272" r:id="rId5"/>
    <p:sldId id="260" r:id="rId6"/>
    <p:sldId id="266" r:id="rId7"/>
    <p:sldId id="271" r:id="rId8"/>
    <p:sldId id="261" r:id="rId9"/>
    <p:sldId id="289" r:id="rId10"/>
    <p:sldId id="288" r:id="rId11"/>
    <p:sldId id="290" r:id="rId12"/>
    <p:sldId id="293" r:id="rId13"/>
    <p:sldId id="294" r:id="rId14"/>
    <p:sldId id="292" r:id="rId15"/>
    <p:sldId id="299" r:id="rId16"/>
    <p:sldId id="296" r:id="rId17"/>
    <p:sldId id="297" r:id="rId18"/>
    <p:sldId id="287" r:id="rId19"/>
    <p:sldId id="306" r:id="rId20"/>
    <p:sldId id="317" r:id="rId21"/>
    <p:sldId id="301" r:id="rId22"/>
    <p:sldId id="264" r:id="rId23"/>
    <p:sldId id="270" r:id="rId24"/>
    <p:sldId id="267" r:id="rId25"/>
    <p:sldId id="302" r:id="rId26"/>
    <p:sldId id="300" r:id="rId27"/>
    <p:sldId id="257" r:id="rId28"/>
    <p:sldId id="258" r:id="rId29"/>
    <p:sldId id="280" r:id="rId30"/>
    <p:sldId id="303" r:id="rId31"/>
    <p:sldId id="263" r:id="rId32"/>
    <p:sldId id="265" r:id="rId33"/>
    <p:sldId id="305" r:id="rId34"/>
    <p:sldId id="315" r:id="rId3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art 1" id="{FA81E3AA-F64A-AE49-A828-013217ED2C8B}">
          <p14:sldIdLst>
            <p14:sldId id="316"/>
            <p14:sldId id="318"/>
            <p14:sldId id="286"/>
            <p14:sldId id="272"/>
            <p14:sldId id="260"/>
            <p14:sldId id="266"/>
            <p14:sldId id="271"/>
            <p14:sldId id="261"/>
            <p14:sldId id="289"/>
            <p14:sldId id="288"/>
            <p14:sldId id="290"/>
            <p14:sldId id="293"/>
            <p14:sldId id="294"/>
            <p14:sldId id="292"/>
            <p14:sldId id="299"/>
            <p14:sldId id="296"/>
            <p14:sldId id="297"/>
            <p14:sldId id="287"/>
          </p14:sldIdLst>
        </p14:section>
        <p14:section name="Part 2" id="{D09B8B64-E721-9945-8BA7-6778AF5FDEAA}">
          <p14:sldIdLst>
            <p14:sldId id="306"/>
            <p14:sldId id="317"/>
            <p14:sldId id="301"/>
            <p14:sldId id="264"/>
            <p14:sldId id="270"/>
            <p14:sldId id="267"/>
            <p14:sldId id="302"/>
            <p14:sldId id="300"/>
            <p14:sldId id="257"/>
            <p14:sldId id="258"/>
            <p14:sldId id="280"/>
            <p14:sldId id="303"/>
            <p14:sldId id="263"/>
            <p14:sldId id="265"/>
            <p14:sldId id="305"/>
            <p14:sldId id="315"/>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743" autoAdjust="0"/>
    <p:restoredTop sz="82016" autoAdjust="0"/>
  </p:normalViewPr>
  <p:slideViewPr>
    <p:cSldViewPr snapToGrid="0">
      <p:cViewPr varScale="1">
        <p:scale>
          <a:sx n="180" d="100"/>
          <a:sy n="180" d="100"/>
        </p:scale>
        <p:origin x="1936" y="192"/>
      </p:cViewPr>
      <p:guideLst/>
    </p:cSldViewPr>
  </p:slideViewPr>
  <p:outlineViewPr>
    <p:cViewPr>
      <p:scale>
        <a:sx n="33" d="100"/>
        <a:sy n="33" d="100"/>
      </p:scale>
      <p:origin x="0" y="-8736"/>
    </p:cViewPr>
  </p:outlineViewPr>
  <p:notesTextViewPr>
    <p:cViewPr>
      <p:scale>
        <a:sx n="100" d="100"/>
        <a:sy n="100" d="100"/>
      </p:scale>
      <p:origin x="0" y="0"/>
    </p:cViewPr>
  </p:notesTextViewPr>
  <p:sorterViewPr>
    <p:cViewPr>
      <p:scale>
        <a:sx n="80" d="100"/>
        <a:sy n="80" d="100"/>
      </p:scale>
      <p:origin x="0" y="0"/>
    </p:cViewPr>
  </p:sorterViewPr>
  <p:notesViewPr>
    <p:cSldViewPr snapToGrid="0">
      <p:cViewPr varScale="1">
        <p:scale>
          <a:sx n="99" d="100"/>
          <a:sy n="99" d="100"/>
        </p:scale>
        <p:origin x="3752" y="19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diagrams/_rels/data2.xml.rels><?xml version="1.0" encoding="UTF-8" standalone="yes"?>
<Relationships xmlns="http://schemas.openxmlformats.org/package/2006/relationships"><Relationship Id="rId3" Type="http://schemas.openxmlformats.org/officeDocument/2006/relationships/image" Target="../media/image31.svg"/><Relationship Id="rId2" Type="http://schemas.openxmlformats.org/officeDocument/2006/relationships/image" Target="../media/image30.svg"/><Relationship Id="rId1" Type="http://schemas.openxmlformats.org/officeDocument/2006/relationships/image" Target="../media/image29.svg"/></Relationships>
</file>

<file path=ppt/diagrams/_rels/drawing2.xml.rels><?xml version="1.0" encoding="UTF-8" standalone="yes"?>
<Relationships xmlns="http://schemas.openxmlformats.org/package/2006/relationships"><Relationship Id="rId3" Type="http://schemas.openxmlformats.org/officeDocument/2006/relationships/image" Target="../media/image31.svg"/><Relationship Id="rId2" Type="http://schemas.openxmlformats.org/officeDocument/2006/relationships/image" Target="../media/image30.svg"/><Relationship Id="rId1" Type="http://schemas.openxmlformats.org/officeDocument/2006/relationships/image" Target="../media/image29.svg"/></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E037C45-D025-4E30-B14A-6051D15AB1D5}" type="doc">
      <dgm:prSet loTypeId="urn:microsoft.com/office/officeart/2005/8/layout/vList2" loCatId="list" qsTypeId="urn:microsoft.com/office/officeart/2005/8/quickstyle/simple4" qsCatId="simple" csTypeId="urn:microsoft.com/office/officeart/2005/8/colors/colorful1" csCatId="colorful" phldr="1"/>
      <dgm:spPr/>
      <dgm:t>
        <a:bodyPr/>
        <a:lstStyle/>
        <a:p>
          <a:endParaRPr lang="en-US"/>
        </a:p>
      </dgm:t>
    </dgm:pt>
    <dgm:pt modelId="{29CF333F-3C90-496B-AEF4-C93CB642BE4B}">
      <dgm:prSet/>
      <dgm:spPr/>
      <dgm:t>
        <a:bodyPr/>
        <a:lstStyle/>
        <a:p>
          <a:r>
            <a:rPr lang="en-US"/>
            <a:t>Tactical Empathy</a:t>
          </a:r>
        </a:p>
      </dgm:t>
    </dgm:pt>
    <dgm:pt modelId="{8DC5FCE9-518C-40AC-89EC-CAD7055FAFE6}" type="parTrans" cxnId="{95905ABF-F630-4483-A031-F54CBF4E0EAC}">
      <dgm:prSet/>
      <dgm:spPr/>
      <dgm:t>
        <a:bodyPr/>
        <a:lstStyle/>
        <a:p>
          <a:endParaRPr lang="en-US"/>
        </a:p>
      </dgm:t>
    </dgm:pt>
    <dgm:pt modelId="{8B4ACEAE-8396-40D6-8D80-82BCD04D0343}" type="sibTrans" cxnId="{95905ABF-F630-4483-A031-F54CBF4E0EAC}">
      <dgm:prSet/>
      <dgm:spPr/>
      <dgm:t>
        <a:bodyPr/>
        <a:lstStyle/>
        <a:p>
          <a:endParaRPr lang="en-US"/>
        </a:p>
      </dgm:t>
    </dgm:pt>
    <dgm:pt modelId="{E531E23C-9406-405B-A555-BC98D6CF7024}">
      <dgm:prSet/>
      <dgm:spPr/>
      <dgm:t>
        <a:bodyPr/>
        <a:lstStyle/>
        <a:p>
          <a:r>
            <a:rPr lang="en-US"/>
            <a:t>Trust Base Influence</a:t>
          </a:r>
        </a:p>
      </dgm:t>
    </dgm:pt>
    <dgm:pt modelId="{CD965C7B-0AC1-43D0-A58C-E16DC5AA633B}" type="parTrans" cxnId="{B47D3B6C-2BA6-4076-A8E1-94855A7095EA}">
      <dgm:prSet/>
      <dgm:spPr/>
      <dgm:t>
        <a:bodyPr/>
        <a:lstStyle/>
        <a:p>
          <a:endParaRPr lang="en-US"/>
        </a:p>
      </dgm:t>
    </dgm:pt>
    <dgm:pt modelId="{F5029183-9295-4B0B-BEEE-7B749597632D}" type="sibTrans" cxnId="{B47D3B6C-2BA6-4076-A8E1-94855A7095EA}">
      <dgm:prSet/>
      <dgm:spPr/>
      <dgm:t>
        <a:bodyPr/>
        <a:lstStyle/>
        <a:p>
          <a:endParaRPr lang="en-US"/>
        </a:p>
      </dgm:t>
    </dgm:pt>
    <dgm:pt modelId="{02E38D62-EC5B-44C5-9D00-2F502184B4D2}">
      <dgm:prSet/>
      <dgm:spPr/>
      <dgm:t>
        <a:bodyPr/>
        <a:lstStyle/>
        <a:p>
          <a:r>
            <a:rPr lang="en-US"/>
            <a:t>Late Night DJ</a:t>
          </a:r>
        </a:p>
      </dgm:t>
    </dgm:pt>
    <dgm:pt modelId="{F4691A64-7333-48B8-B693-DBAD70A4EF1C}" type="parTrans" cxnId="{70702A1F-306B-4E38-9D92-A76C086CF266}">
      <dgm:prSet/>
      <dgm:spPr/>
      <dgm:t>
        <a:bodyPr/>
        <a:lstStyle/>
        <a:p>
          <a:endParaRPr lang="en-US"/>
        </a:p>
      </dgm:t>
    </dgm:pt>
    <dgm:pt modelId="{48C766CE-7F84-44C1-B617-13EE385E9758}" type="sibTrans" cxnId="{70702A1F-306B-4E38-9D92-A76C086CF266}">
      <dgm:prSet/>
      <dgm:spPr/>
      <dgm:t>
        <a:bodyPr/>
        <a:lstStyle/>
        <a:p>
          <a:endParaRPr lang="en-US"/>
        </a:p>
      </dgm:t>
    </dgm:pt>
    <dgm:pt modelId="{14419274-1A45-430A-B743-45B01CC48C3C}">
      <dgm:prSet/>
      <dgm:spPr/>
      <dgm:t>
        <a:bodyPr/>
        <a:lstStyle/>
        <a:p>
          <a:r>
            <a:rPr lang="en-US"/>
            <a:t>Mirrors</a:t>
          </a:r>
        </a:p>
      </dgm:t>
    </dgm:pt>
    <dgm:pt modelId="{6E86B8CF-3C91-4EB7-8D0D-EF94DA679897}" type="parTrans" cxnId="{EB8EF959-9068-42B1-929D-1A3A4955FBF1}">
      <dgm:prSet/>
      <dgm:spPr/>
      <dgm:t>
        <a:bodyPr/>
        <a:lstStyle/>
        <a:p>
          <a:endParaRPr lang="en-US"/>
        </a:p>
      </dgm:t>
    </dgm:pt>
    <dgm:pt modelId="{BB012A0D-9207-4498-BD7A-D0ADF92F99B1}" type="sibTrans" cxnId="{EB8EF959-9068-42B1-929D-1A3A4955FBF1}">
      <dgm:prSet/>
      <dgm:spPr/>
      <dgm:t>
        <a:bodyPr/>
        <a:lstStyle/>
        <a:p>
          <a:endParaRPr lang="en-US"/>
        </a:p>
      </dgm:t>
    </dgm:pt>
    <dgm:pt modelId="{BE28F69E-A308-41D2-93DE-60B536C7AB09}">
      <dgm:prSet/>
      <dgm:spPr/>
      <dgm:t>
        <a:bodyPr/>
        <a:lstStyle/>
        <a:p>
          <a:r>
            <a:rPr lang="en-US" dirty="0"/>
            <a:t>Labels</a:t>
          </a:r>
        </a:p>
      </dgm:t>
    </dgm:pt>
    <dgm:pt modelId="{57013681-A4CD-46E3-9EEE-C58310255147}" type="parTrans" cxnId="{625C17A1-400E-4DC1-AA0B-DCA8684DDB2F}">
      <dgm:prSet/>
      <dgm:spPr/>
      <dgm:t>
        <a:bodyPr/>
        <a:lstStyle/>
        <a:p>
          <a:endParaRPr lang="en-US"/>
        </a:p>
      </dgm:t>
    </dgm:pt>
    <dgm:pt modelId="{9724553D-005A-48CC-8354-F69F4BD71F3F}" type="sibTrans" cxnId="{625C17A1-400E-4DC1-AA0B-DCA8684DDB2F}">
      <dgm:prSet/>
      <dgm:spPr/>
      <dgm:t>
        <a:bodyPr/>
        <a:lstStyle/>
        <a:p>
          <a:endParaRPr lang="en-US"/>
        </a:p>
      </dgm:t>
    </dgm:pt>
    <dgm:pt modelId="{1B66A159-E15A-47E6-9952-28CA216A3C45}">
      <dgm:prSet/>
      <dgm:spPr/>
      <dgm:t>
        <a:bodyPr/>
        <a:lstStyle/>
        <a:p>
          <a:r>
            <a:rPr lang="en-US"/>
            <a:t>Calibrated Questions</a:t>
          </a:r>
        </a:p>
      </dgm:t>
    </dgm:pt>
    <dgm:pt modelId="{07EA3E6C-EB2C-4D07-8990-0F11B2CE90D4}" type="parTrans" cxnId="{521C230B-0F71-4DD8-A6FB-17E9C395C993}">
      <dgm:prSet/>
      <dgm:spPr/>
      <dgm:t>
        <a:bodyPr/>
        <a:lstStyle/>
        <a:p>
          <a:endParaRPr lang="en-US"/>
        </a:p>
      </dgm:t>
    </dgm:pt>
    <dgm:pt modelId="{253F03A3-BA40-4462-BBCB-F82690169A68}" type="sibTrans" cxnId="{521C230B-0F71-4DD8-A6FB-17E9C395C993}">
      <dgm:prSet/>
      <dgm:spPr/>
      <dgm:t>
        <a:bodyPr/>
        <a:lstStyle/>
        <a:p>
          <a:endParaRPr lang="en-US"/>
        </a:p>
      </dgm:t>
    </dgm:pt>
    <dgm:pt modelId="{26B8C6C1-9D94-4D2A-8AF2-90A11C66EF07}">
      <dgm:prSet/>
      <dgm:spPr/>
      <dgm:t>
        <a:bodyPr/>
        <a:lstStyle/>
        <a:p>
          <a:r>
            <a:rPr lang="en-US"/>
            <a:t>“No” Oriented Questions</a:t>
          </a:r>
        </a:p>
      </dgm:t>
    </dgm:pt>
    <dgm:pt modelId="{75658989-0740-4C59-9F11-FADF7FFEF84B}" type="parTrans" cxnId="{F9E73784-8ED0-49F3-8D65-12915A6A1742}">
      <dgm:prSet/>
      <dgm:spPr/>
      <dgm:t>
        <a:bodyPr/>
        <a:lstStyle/>
        <a:p>
          <a:endParaRPr lang="en-US"/>
        </a:p>
      </dgm:t>
    </dgm:pt>
    <dgm:pt modelId="{036565A5-2FE6-4E0D-B7E2-71FBA3CA309B}" type="sibTrans" cxnId="{F9E73784-8ED0-49F3-8D65-12915A6A1742}">
      <dgm:prSet/>
      <dgm:spPr/>
      <dgm:t>
        <a:bodyPr/>
        <a:lstStyle/>
        <a:p>
          <a:endParaRPr lang="en-US"/>
        </a:p>
      </dgm:t>
    </dgm:pt>
    <dgm:pt modelId="{DA94071D-A3A1-45FA-B3B5-7A02C9BFA99C}">
      <dgm:prSet/>
      <dgm:spPr/>
      <dgm:t>
        <a:bodyPr/>
        <a:lstStyle/>
        <a:p>
          <a:r>
            <a:rPr lang="en-US"/>
            <a:t>That’s Right</a:t>
          </a:r>
        </a:p>
      </dgm:t>
    </dgm:pt>
    <dgm:pt modelId="{761DBC07-55D2-478C-90AA-620DE121990F}" type="parTrans" cxnId="{5664A01C-5CB2-4DA7-8E2E-5F7BE069D06F}">
      <dgm:prSet/>
      <dgm:spPr/>
      <dgm:t>
        <a:bodyPr/>
        <a:lstStyle/>
        <a:p>
          <a:endParaRPr lang="en-US"/>
        </a:p>
      </dgm:t>
    </dgm:pt>
    <dgm:pt modelId="{70CB07F8-4242-47B6-B457-55F29D1F496F}" type="sibTrans" cxnId="{5664A01C-5CB2-4DA7-8E2E-5F7BE069D06F}">
      <dgm:prSet/>
      <dgm:spPr/>
      <dgm:t>
        <a:bodyPr/>
        <a:lstStyle/>
        <a:p>
          <a:endParaRPr lang="en-US"/>
        </a:p>
      </dgm:t>
    </dgm:pt>
    <dgm:pt modelId="{6A23D8C4-F7A7-43F9-A721-08924642923F}">
      <dgm:prSet/>
      <dgm:spPr/>
      <dgm:t>
        <a:bodyPr/>
        <a:lstStyle/>
        <a:p>
          <a:r>
            <a:rPr lang="en-US" dirty="0"/>
            <a:t>Never Split the Difference</a:t>
          </a:r>
        </a:p>
      </dgm:t>
    </dgm:pt>
    <dgm:pt modelId="{43B35156-057E-49BE-B87D-B47FB1564956}" type="parTrans" cxnId="{551710F5-F61D-4B41-B284-C26FCD7FEC11}">
      <dgm:prSet/>
      <dgm:spPr/>
      <dgm:t>
        <a:bodyPr/>
        <a:lstStyle/>
        <a:p>
          <a:endParaRPr lang="en-US"/>
        </a:p>
      </dgm:t>
    </dgm:pt>
    <dgm:pt modelId="{C2C62BB4-B623-4B3F-BE53-A0098CCBA6A2}" type="sibTrans" cxnId="{551710F5-F61D-4B41-B284-C26FCD7FEC11}">
      <dgm:prSet/>
      <dgm:spPr/>
      <dgm:t>
        <a:bodyPr/>
        <a:lstStyle/>
        <a:p>
          <a:endParaRPr lang="en-US"/>
        </a:p>
      </dgm:t>
    </dgm:pt>
    <dgm:pt modelId="{470AC142-23D0-8942-914B-1B4818D1AE31}">
      <dgm:prSet/>
      <dgm:spPr/>
      <dgm:t>
        <a:bodyPr/>
        <a:lstStyle/>
        <a:p>
          <a:r>
            <a:rPr lang="en-GB" dirty="0"/>
            <a:t>Accusation Audit</a:t>
          </a:r>
        </a:p>
      </dgm:t>
    </dgm:pt>
    <dgm:pt modelId="{20674A86-8B76-1D45-9D1F-66B23F3A4CF2}" type="parTrans" cxnId="{11A5EDDF-5749-1545-81F9-765E4229EB99}">
      <dgm:prSet/>
      <dgm:spPr/>
      <dgm:t>
        <a:bodyPr/>
        <a:lstStyle/>
        <a:p>
          <a:endParaRPr lang="en-GB"/>
        </a:p>
      </dgm:t>
    </dgm:pt>
    <dgm:pt modelId="{79B6347B-F65A-A945-8834-A780183A1D0F}" type="sibTrans" cxnId="{11A5EDDF-5749-1545-81F9-765E4229EB99}">
      <dgm:prSet/>
      <dgm:spPr/>
      <dgm:t>
        <a:bodyPr/>
        <a:lstStyle/>
        <a:p>
          <a:endParaRPr lang="en-GB"/>
        </a:p>
      </dgm:t>
    </dgm:pt>
    <dgm:pt modelId="{5886DCC9-2D21-394B-87C5-E7756C80C939}" type="pres">
      <dgm:prSet presAssocID="{6E037C45-D025-4E30-B14A-6051D15AB1D5}" presName="linear" presStyleCnt="0">
        <dgm:presLayoutVars>
          <dgm:animLvl val="lvl"/>
          <dgm:resizeHandles val="exact"/>
        </dgm:presLayoutVars>
      </dgm:prSet>
      <dgm:spPr/>
    </dgm:pt>
    <dgm:pt modelId="{C80487B6-8EC3-D945-831D-5EDAEE1F87ED}" type="pres">
      <dgm:prSet presAssocID="{29CF333F-3C90-496B-AEF4-C93CB642BE4B}" presName="parentText" presStyleLbl="node1" presStyleIdx="0" presStyleCnt="10">
        <dgm:presLayoutVars>
          <dgm:chMax val="0"/>
          <dgm:bulletEnabled val="1"/>
        </dgm:presLayoutVars>
      </dgm:prSet>
      <dgm:spPr/>
    </dgm:pt>
    <dgm:pt modelId="{86CDFC7F-39AD-7E47-AA01-5B685CE3D25D}" type="pres">
      <dgm:prSet presAssocID="{8B4ACEAE-8396-40D6-8D80-82BCD04D0343}" presName="spacer" presStyleCnt="0"/>
      <dgm:spPr/>
    </dgm:pt>
    <dgm:pt modelId="{DEC0DC49-F124-2440-A951-C2C32DDDB54F}" type="pres">
      <dgm:prSet presAssocID="{E531E23C-9406-405B-A555-BC98D6CF7024}" presName="parentText" presStyleLbl="node1" presStyleIdx="1" presStyleCnt="10">
        <dgm:presLayoutVars>
          <dgm:chMax val="0"/>
          <dgm:bulletEnabled val="1"/>
        </dgm:presLayoutVars>
      </dgm:prSet>
      <dgm:spPr/>
    </dgm:pt>
    <dgm:pt modelId="{AE3B6B55-EEE1-D341-A1CB-162D1BC32C6E}" type="pres">
      <dgm:prSet presAssocID="{F5029183-9295-4B0B-BEEE-7B749597632D}" presName="spacer" presStyleCnt="0"/>
      <dgm:spPr/>
    </dgm:pt>
    <dgm:pt modelId="{381793E5-B7F9-504E-891B-636C682A13B7}" type="pres">
      <dgm:prSet presAssocID="{02E38D62-EC5B-44C5-9D00-2F502184B4D2}" presName="parentText" presStyleLbl="node1" presStyleIdx="2" presStyleCnt="10">
        <dgm:presLayoutVars>
          <dgm:chMax val="0"/>
          <dgm:bulletEnabled val="1"/>
        </dgm:presLayoutVars>
      </dgm:prSet>
      <dgm:spPr/>
    </dgm:pt>
    <dgm:pt modelId="{CC11B2BC-492C-FB4C-AD36-2B9FC76AB0CA}" type="pres">
      <dgm:prSet presAssocID="{48C766CE-7F84-44C1-B617-13EE385E9758}" presName="spacer" presStyleCnt="0"/>
      <dgm:spPr/>
    </dgm:pt>
    <dgm:pt modelId="{7893B88E-BD5F-364E-A598-E88DECF3CB0B}" type="pres">
      <dgm:prSet presAssocID="{470AC142-23D0-8942-914B-1B4818D1AE31}" presName="parentText" presStyleLbl="node1" presStyleIdx="3" presStyleCnt="10">
        <dgm:presLayoutVars>
          <dgm:chMax val="0"/>
          <dgm:bulletEnabled val="1"/>
        </dgm:presLayoutVars>
      </dgm:prSet>
      <dgm:spPr/>
    </dgm:pt>
    <dgm:pt modelId="{A295CFFE-2248-5044-9186-0304FCE8B746}" type="pres">
      <dgm:prSet presAssocID="{79B6347B-F65A-A945-8834-A780183A1D0F}" presName="spacer" presStyleCnt="0"/>
      <dgm:spPr/>
    </dgm:pt>
    <dgm:pt modelId="{73829E52-ED6C-CF4C-8213-F765697FD719}" type="pres">
      <dgm:prSet presAssocID="{14419274-1A45-430A-B743-45B01CC48C3C}" presName="parentText" presStyleLbl="node1" presStyleIdx="4" presStyleCnt="10">
        <dgm:presLayoutVars>
          <dgm:chMax val="0"/>
          <dgm:bulletEnabled val="1"/>
        </dgm:presLayoutVars>
      </dgm:prSet>
      <dgm:spPr/>
    </dgm:pt>
    <dgm:pt modelId="{37DA713E-DCC8-F141-B2E0-75B92C272C43}" type="pres">
      <dgm:prSet presAssocID="{BB012A0D-9207-4498-BD7A-D0ADF92F99B1}" presName="spacer" presStyleCnt="0"/>
      <dgm:spPr/>
    </dgm:pt>
    <dgm:pt modelId="{B0354E65-12F1-384F-8F84-32AD23386793}" type="pres">
      <dgm:prSet presAssocID="{BE28F69E-A308-41D2-93DE-60B536C7AB09}" presName="parentText" presStyleLbl="node1" presStyleIdx="5" presStyleCnt="10">
        <dgm:presLayoutVars>
          <dgm:chMax val="0"/>
          <dgm:bulletEnabled val="1"/>
        </dgm:presLayoutVars>
      </dgm:prSet>
      <dgm:spPr/>
    </dgm:pt>
    <dgm:pt modelId="{B2A75F0C-6DA2-F245-8FF8-80F666006A60}" type="pres">
      <dgm:prSet presAssocID="{9724553D-005A-48CC-8354-F69F4BD71F3F}" presName="spacer" presStyleCnt="0"/>
      <dgm:spPr/>
    </dgm:pt>
    <dgm:pt modelId="{72DED67D-0D66-8342-94F8-4BF59A5631D1}" type="pres">
      <dgm:prSet presAssocID="{1B66A159-E15A-47E6-9952-28CA216A3C45}" presName="parentText" presStyleLbl="node1" presStyleIdx="6" presStyleCnt="10">
        <dgm:presLayoutVars>
          <dgm:chMax val="0"/>
          <dgm:bulletEnabled val="1"/>
        </dgm:presLayoutVars>
      </dgm:prSet>
      <dgm:spPr/>
    </dgm:pt>
    <dgm:pt modelId="{EA69AD1B-FC43-174F-8138-08FDD0ED9E03}" type="pres">
      <dgm:prSet presAssocID="{253F03A3-BA40-4462-BBCB-F82690169A68}" presName="spacer" presStyleCnt="0"/>
      <dgm:spPr/>
    </dgm:pt>
    <dgm:pt modelId="{E20AABD0-9803-4842-A16F-DC97B1DBEE52}" type="pres">
      <dgm:prSet presAssocID="{26B8C6C1-9D94-4D2A-8AF2-90A11C66EF07}" presName="parentText" presStyleLbl="node1" presStyleIdx="7" presStyleCnt="10">
        <dgm:presLayoutVars>
          <dgm:chMax val="0"/>
          <dgm:bulletEnabled val="1"/>
        </dgm:presLayoutVars>
      </dgm:prSet>
      <dgm:spPr/>
    </dgm:pt>
    <dgm:pt modelId="{831714FA-DFB6-294D-BCB3-EF2B4F30C07F}" type="pres">
      <dgm:prSet presAssocID="{036565A5-2FE6-4E0D-B7E2-71FBA3CA309B}" presName="spacer" presStyleCnt="0"/>
      <dgm:spPr/>
    </dgm:pt>
    <dgm:pt modelId="{8764561D-63B6-DF45-9A2F-52148F8E8B90}" type="pres">
      <dgm:prSet presAssocID="{DA94071D-A3A1-45FA-B3B5-7A02C9BFA99C}" presName="parentText" presStyleLbl="node1" presStyleIdx="8" presStyleCnt="10">
        <dgm:presLayoutVars>
          <dgm:chMax val="0"/>
          <dgm:bulletEnabled val="1"/>
        </dgm:presLayoutVars>
      </dgm:prSet>
      <dgm:spPr/>
    </dgm:pt>
    <dgm:pt modelId="{88252818-C18F-7941-B617-5621EF8A140B}" type="pres">
      <dgm:prSet presAssocID="{70CB07F8-4242-47B6-B457-55F29D1F496F}" presName="spacer" presStyleCnt="0"/>
      <dgm:spPr/>
    </dgm:pt>
    <dgm:pt modelId="{8C112376-8B7A-E94E-9DD7-98C727DEAFF1}" type="pres">
      <dgm:prSet presAssocID="{6A23D8C4-F7A7-43F9-A721-08924642923F}" presName="parentText" presStyleLbl="node1" presStyleIdx="9" presStyleCnt="10">
        <dgm:presLayoutVars>
          <dgm:chMax val="0"/>
          <dgm:bulletEnabled val="1"/>
        </dgm:presLayoutVars>
      </dgm:prSet>
      <dgm:spPr/>
    </dgm:pt>
  </dgm:ptLst>
  <dgm:cxnLst>
    <dgm:cxn modelId="{521C230B-0F71-4DD8-A6FB-17E9C395C993}" srcId="{6E037C45-D025-4E30-B14A-6051D15AB1D5}" destId="{1B66A159-E15A-47E6-9952-28CA216A3C45}" srcOrd="6" destOrd="0" parTransId="{07EA3E6C-EB2C-4D07-8990-0F11B2CE90D4}" sibTransId="{253F03A3-BA40-4462-BBCB-F82690169A68}"/>
    <dgm:cxn modelId="{AA0B5B0B-57D8-3E41-840D-66D0DB1BED66}" type="presOf" srcId="{1B66A159-E15A-47E6-9952-28CA216A3C45}" destId="{72DED67D-0D66-8342-94F8-4BF59A5631D1}" srcOrd="0" destOrd="0" presId="urn:microsoft.com/office/officeart/2005/8/layout/vList2"/>
    <dgm:cxn modelId="{103AF918-9BF4-4944-A7EC-6C887032A117}" type="presOf" srcId="{29CF333F-3C90-496B-AEF4-C93CB642BE4B}" destId="{C80487B6-8EC3-D945-831D-5EDAEE1F87ED}" srcOrd="0" destOrd="0" presId="urn:microsoft.com/office/officeart/2005/8/layout/vList2"/>
    <dgm:cxn modelId="{5664A01C-5CB2-4DA7-8E2E-5F7BE069D06F}" srcId="{6E037C45-D025-4E30-B14A-6051D15AB1D5}" destId="{DA94071D-A3A1-45FA-B3B5-7A02C9BFA99C}" srcOrd="8" destOrd="0" parTransId="{761DBC07-55D2-478C-90AA-620DE121990F}" sibTransId="{70CB07F8-4242-47B6-B457-55F29D1F496F}"/>
    <dgm:cxn modelId="{70702A1F-306B-4E38-9D92-A76C086CF266}" srcId="{6E037C45-D025-4E30-B14A-6051D15AB1D5}" destId="{02E38D62-EC5B-44C5-9D00-2F502184B4D2}" srcOrd="2" destOrd="0" parTransId="{F4691A64-7333-48B8-B693-DBAD70A4EF1C}" sibTransId="{48C766CE-7F84-44C1-B617-13EE385E9758}"/>
    <dgm:cxn modelId="{EB8EF959-9068-42B1-929D-1A3A4955FBF1}" srcId="{6E037C45-D025-4E30-B14A-6051D15AB1D5}" destId="{14419274-1A45-430A-B743-45B01CC48C3C}" srcOrd="4" destOrd="0" parTransId="{6E86B8CF-3C91-4EB7-8D0D-EF94DA679897}" sibTransId="{BB012A0D-9207-4498-BD7A-D0ADF92F99B1}"/>
    <dgm:cxn modelId="{B68FDE69-59EF-854F-9107-A17E73EB6FF8}" type="presOf" srcId="{6E037C45-D025-4E30-B14A-6051D15AB1D5}" destId="{5886DCC9-2D21-394B-87C5-E7756C80C939}" srcOrd="0" destOrd="0" presId="urn:microsoft.com/office/officeart/2005/8/layout/vList2"/>
    <dgm:cxn modelId="{B47D3B6C-2BA6-4076-A8E1-94855A7095EA}" srcId="{6E037C45-D025-4E30-B14A-6051D15AB1D5}" destId="{E531E23C-9406-405B-A555-BC98D6CF7024}" srcOrd="1" destOrd="0" parTransId="{CD965C7B-0AC1-43D0-A58C-E16DC5AA633B}" sibTransId="{F5029183-9295-4B0B-BEEE-7B749597632D}"/>
    <dgm:cxn modelId="{D596367C-17DA-C941-AE48-9930DCE698B2}" type="presOf" srcId="{26B8C6C1-9D94-4D2A-8AF2-90A11C66EF07}" destId="{E20AABD0-9803-4842-A16F-DC97B1DBEE52}" srcOrd="0" destOrd="0" presId="urn:microsoft.com/office/officeart/2005/8/layout/vList2"/>
    <dgm:cxn modelId="{F9E73784-8ED0-49F3-8D65-12915A6A1742}" srcId="{6E037C45-D025-4E30-B14A-6051D15AB1D5}" destId="{26B8C6C1-9D94-4D2A-8AF2-90A11C66EF07}" srcOrd="7" destOrd="0" parTransId="{75658989-0740-4C59-9F11-FADF7FFEF84B}" sibTransId="{036565A5-2FE6-4E0D-B7E2-71FBA3CA309B}"/>
    <dgm:cxn modelId="{B73A5F95-B3DB-574A-AC68-026867FE3768}" type="presOf" srcId="{02E38D62-EC5B-44C5-9D00-2F502184B4D2}" destId="{381793E5-B7F9-504E-891B-636C682A13B7}" srcOrd="0" destOrd="0" presId="urn:microsoft.com/office/officeart/2005/8/layout/vList2"/>
    <dgm:cxn modelId="{80280296-E7AA-AE4F-AB2E-33D8940121DE}" type="presOf" srcId="{E531E23C-9406-405B-A555-BC98D6CF7024}" destId="{DEC0DC49-F124-2440-A951-C2C32DDDB54F}" srcOrd="0" destOrd="0" presId="urn:microsoft.com/office/officeart/2005/8/layout/vList2"/>
    <dgm:cxn modelId="{E78DE39D-13E3-8747-AC84-1C5F936AE54F}" type="presOf" srcId="{DA94071D-A3A1-45FA-B3B5-7A02C9BFA99C}" destId="{8764561D-63B6-DF45-9A2F-52148F8E8B90}" srcOrd="0" destOrd="0" presId="urn:microsoft.com/office/officeart/2005/8/layout/vList2"/>
    <dgm:cxn modelId="{CF9BF09D-EC51-6444-94CD-B00EB234845A}" type="presOf" srcId="{6A23D8C4-F7A7-43F9-A721-08924642923F}" destId="{8C112376-8B7A-E94E-9DD7-98C727DEAFF1}" srcOrd="0" destOrd="0" presId="urn:microsoft.com/office/officeart/2005/8/layout/vList2"/>
    <dgm:cxn modelId="{625C17A1-400E-4DC1-AA0B-DCA8684DDB2F}" srcId="{6E037C45-D025-4E30-B14A-6051D15AB1D5}" destId="{BE28F69E-A308-41D2-93DE-60B536C7AB09}" srcOrd="5" destOrd="0" parTransId="{57013681-A4CD-46E3-9EEE-C58310255147}" sibTransId="{9724553D-005A-48CC-8354-F69F4BD71F3F}"/>
    <dgm:cxn modelId="{95905ABF-F630-4483-A031-F54CBF4E0EAC}" srcId="{6E037C45-D025-4E30-B14A-6051D15AB1D5}" destId="{29CF333F-3C90-496B-AEF4-C93CB642BE4B}" srcOrd="0" destOrd="0" parTransId="{8DC5FCE9-518C-40AC-89EC-CAD7055FAFE6}" sibTransId="{8B4ACEAE-8396-40D6-8D80-82BCD04D0343}"/>
    <dgm:cxn modelId="{042CB5D5-1F4B-144E-BF96-EBF9A4E1A743}" type="presOf" srcId="{BE28F69E-A308-41D2-93DE-60B536C7AB09}" destId="{B0354E65-12F1-384F-8F84-32AD23386793}" srcOrd="0" destOrd="0" presId="urn:microsoft.com/office/officeart/2005/8/layout/vList2"/>
    <dgm:cxn modelId="{11A5EDDF-5749-1545-81F9-765E4229EB99}" srcId="{6E037C45-D025-4E30-B14A-6051D15AB1D5}" destId="{470AC142-23D0-8942-914B-1B4818D1AE31}" srcOrd="3" destOrd="0" parTransId="{20674A86-8B76-1D45-9D1F-66B23F3A4CF2}" sibTransId="{79B6347B-F65A-A945-8834-A780183A1D0F}"/>
    <dgm:cxn modelId="{F4D90BE5-5D4D-AF41-94F0-73EF017B7B51}" type="presOf" srcId="{14419274-1A45-430A-B743-45B01CC48C3C}" destId="{73829E52-ED6C-CF4C-8213-F765697FD719}" srcOrd="0" destOrd="0" presId="urn:microsoft.com/office/officeart/2005/8/layout/vList2"/>
    <dgm:cxn modelId="{551710F5-F61D-4B41-B284-C26FCD7FEC11}" srcId="{6E037C45-D025-4E30-B14A-6051D15AB1D5}" destId="{6A23D8C4-F7A7-43F9-A721-08924642923F}" srcOrd="9" destOrd="0" parTransId="{43B35156-057E-49BE-B87D-B47FB1564956}" sibTransId="{C2C62BB4-B623-4B3F-BE53-A0098CCBA6A2}"/>
    <dgm:cxn modelId="{24C614FB-D858-CF49-B6F8-45745D017136}" type="presOf" srcId="{470AC142-23D0-8942-914B-1B4818D1AE31}" destId="{7893B88E-BD5F-364E-A598-E88DECF3CB0B}" srcOrd="0" destOrd="0" presId="urn:microsoft.com/office/officeart/2005/8/layout/vList2"/>
    <dgm:cxn modelId="{D53F5AFB-88C3-194F-B8B2-6C6EFA77B322}" type="presParOf" srcId="{5886DCC9-2D21-394B-87C5-E7756C80C939}" destId="{C80487B6-8EC3-D945-831D-5EDAEE1F87ED}" srcOrd="0" destOrd="0" presId="urn:microsoft.com/office/officeart/2005/8/layout/vList2"/>
    <dgm:cxn modelId="{4174FBA0-CD4A-9745-9D48-24795727E211}" type="presParOf" srcId="{5886DCC9-2D21-394B-87C5-E7756C80C939}" destId="{86CDFC7F-39AD-7E47-AA01-5B685CE3D25D}" srcOrd="1" destOrd="0" presId="urn:microsoft.com/office/officeart/2005/8/layout/vList2"/>
    <dgm:cxn modelId="{31CB652A-74F6-BD49-A79A-0E3AC9D19CB3}" type="presParOf" srcId="{5886DCC9-2D21-394B-87C5-E7756C80C939}" destId="{DEC0DC49-F124-2440-A951-C2C32DDDB54F}" srcOrd="2" destOrd="0" presId="urn:microsoft.com/office/officeart/2005/8/layout/vList2"/>
    <dgm:cxn modelId="{D6A304EA-632F-0E44-95D7-6508027AF04C}" type="presParOf" srcId="{5886DCC9-2D21-394B-87C5-E7756C80C939}" destId="{AE3B6B55-EEE1-D341-A1CB-162D1BC32C6E}" srcOrd="3" destOrd="0" presId="urn:microsoft.com/office/officeart/2005/8/layout/vList2"/>
    <dgm:cxn modelId="{FE8E6A2F-AABC-3C4E-909D-D39AFAA95D1D}" type="presParOf" srcId="{5886DCC9-2D21-394B-87C5-E7756C80C939}" destId="{381793E5-B7F9-504E-891B-636C682A13B7}" srcOrd="4" destOrd="0" presId="urn:microsoft.com/office/officeart/2005/8/layout/vList2"/>
    <dgm:cxn modelId="{373E54C3-EF5D-FB49-8D7D-C161AF17FC9F}" type="presParOf" srcId="{5886DCC9-2D21-394B-87C5-E7756C80C939}" destId="{CC11B2BC-492C-FB4C-AD36-2B9FC76AB0CA}" srcOrd="5" destOrd="0" presId="urn:microsoft.com/office/officeart/2005/8/layout/vList2"/>
    <dgm:cxn modelId="{CA9FA223-F03E-8A4E-BE45-86EDF83C839F}" type="presParOf" srcId="{5886DCC9-2D21-394B-87C5-E7756C80C939}" destId="{7893B88E-BD5F-364E-A598-E88DECF3CB0B}" srcOrd="6" destOrd="0" presId="urn:microsoft.com/office/officeart/2005/8/layout/vList2"/>
    <dgm:cxn modelId="{28AD6BF7-9031-3D44-95B6-BD380DA4B06A}" type="presParOf" srcId="{5886DCC9-2D21-394B-87C5-E7756C80C939}" destId="{A295CFFE-2248-5044-9186-0304FCE8B746}" srcOrd="7" destOrd="0" presId="urn:microsoft.com/office/officeart/2005/8/layout/vList2"/>
    <dgm:cxn modelId="{C2A5949B-9FCE-6948-91CC-ADD0BDA6D025}" type="presParOf" srcId="{5886DCC9-2D21-394B-87C5-E7756C80C939}" destId="{73829E52-ED6C-CF4C-8213-F765697FD719}" srcOrd="8" destOrd="0" presId="urn:microsoft.com/office/officeart/2005/8/layout/vList2"/>
    <dgm:cxn modelId="{9288B560-A376-A348-A4CE-40A2F2BD7111}" type="presParOf" srcId="{5886DCC9-2D21-394B-87C5-E7756C80C939}" destId="{37DA713E-DCC8-F141-B2E0-75B92C272C43}" srcOrd="9" destOrd="0" presId="urn:microsoft.com/office/officeart/2005/8/layout/vList2"/>
    <dgm:cxn modelId="{E6BE07C5-2492-8342-9DFF-12F63175697F}" type="presParOf" srcId="{5886DCC9-2D21-394B-87C5-E7756C80C939}" destId="{B0354E65-12F1-384F-8F84-32AD23386793}" srcOrd="10" destOrd="0" presId="urn:microsoft.com/office/officeart/2005/8/layout/vList2"/>
    <dgm:cxn modelId="{743CDC9E-FA41-E146-B309-F14F04E05D71}" type="presParOf" srcId="{5886DCC9-2D21-394B-87C5-E7756C80C939}" destId="{B2A75F0C-6DA2-F245-8FF8-80F666006A60}" srcOrd="11" destOrd="0" presId="urn:microsoft.com/office/officeart/2005/8/layout/vList2"/>
    <dgm:cxn modelId="{2C106AF9-D0A7-9147-B554-4029858B0B29}" type="presParOf" srcId="{5886DCC9-2D21-394B-87C5-E7756C80C939}" destId="{72DED67D-0D66-8342-94F8-4BF59A5631D1}" srcOrd="12" destOrd="0" presId="urn:microsoft.com/office/officeart/2005/8/layout/vList2"/>
    <dgm:cxn modelId="{B4AA4ABB-133D-2745-BA2E-FA7ABD87EF93}" type="presParOf" srcId="{5886DCC9-2D21-394B-87C5-E7756C80C939}" destId="{EA69AD1B-FC43-174F-8138-08FDD0ED9E03}" srcOrd="13" destOrd="0" presId="urn:microsoft.com/office/officeart/2005/8/layout/vList2"/>
    <dgm:cxn modelId="{FE3B8989-FB5A-774B-9636-46ADFD78DB79}" type="presParOf" srcId="{5886DCC9-2D21-394B-87C5-E7756C80C939}" destId="{E20AABD0-9803-4842-A16F-DC97B1DBEE52}" srcOrd="14" destOrd="0" presId="urn:microsoft.com/office/officeart/2005/8/layout/vList2"/>
    <dgm:cxn modelId="{32AEB581-5677-3746-84FE-16ED564B02D2}" type="presParOf" srcId="{5886DCC9-2D21-394B-87C5-E7756C80C939}" destId="{831714FA-DFB6-294D-BCB3-EF2B4F30C07F}" srcOrd="15" destOrd="0" presId="urn:microsoft.com/office/officeart/2005/8/layout/vList2"/>
    <dgm:cxn modelId="{C07DF29C-C068-F641-80C9-314CEEC9E025}" type="presParOf" srcId="{5886DCC9-2D21-394B-87C5-E7756C80C939}" destId="{8764561D-63B6-DF45-9A2F-52148F8E8B90}" srcOrd="16" destOrd="0" presId="urn:microsoft.com/office/officeart/2005/8/layout/vList2"/>
    <dgm:cxn modelId="{52157C4B-8AE7-604D-8CC5-D17B864A140F}" type="presParOf" srcId="{5886DCC9-2D21-394B-87C5-E7756C80C939}" destId="{88252818-C18F-7941-B617-5621EF8A140B}" srcOrd="17" destOrd="0" presId="urn:microsoft.com/office/officeart/2005/8/layout/vList2"/>
    <dgm:cxn modelId="{B0E3C935-5603-C842-97B6-A6A957D3D155}" type="presParOf" srcId="{5886DCC9-2D21-394B-87C5-E7756C80C939}" destId="{8C112376-8B7A-E94E-9DD7-98C727DEAFF1}" srcOrd="18"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B23C8BC-4D9E-4034-B73D-7F6579A8DC25}"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65D7B430-05F1-47DF-BF72-22F797A69BB0}">
      <dgm:prSet/>
      <dgm:spPr/>
      <dgm:t>
        <a:bodyPr/>
        <a:lstStyle/>
        <a:p>
          <a:r>
            <a:rPr lang="en-AU"/>
            <a:t>”No” is comfortable, safe and secure.</a:t>
          </a:r>
          <a:endParaRPr lang="en-US"/>
        </a:p>
      </dgm:t>
    </dgm:pt>
    <dgm:pt modelId="{F936D35A-3E97-49BA-9812-1CFB268B55DD}" type="parTrans" cxnId="{D050FCD9-146E-4E23-968D-CB77D66829B5}">
      <dgm:prSet/>
      <dgm:spPr/>
      <dgm:t>
        <a:bodyPr/>
        <a:lstStyle/>
        <a:p>
          <a:endParaRPr lang="en-US"/>
        </a:p>
      </dgm:t>
    </dgm:pt>
    <dgm:pt modelId="{E3E400E8-5186-4C50-987D-079386C44511}" type="sibTrans" cxnId="{D050FCD9-146E-4E23-968D-CB77D66829B5}">
      <dgm:prSet/>
      <dgm:spPr/>
      <dgm:t>
        <a:bodyPr/>
        <a:lstStyle/>
        <a:p>
          <a:endParaRPr lang="en-US"/>
        </a:p>
      </dgm:t>
    </dgm:pt>
    <dgm:pt modelId="{505DFB96-A545-4581-8A11-B2D720048139}">
      <dgm:prSet/>
      <dgm:spPr/>
      <dgm:t>
        <a:bodyPr/>
        <a:lstStyle/>
        <a:p>
          <a:r>
            <a:rPr lang="en-AU" dirty="0"/>
            <a:t>People feel anxious when they sense you’re seeking a “Yes”.</a:t>
          </a:r>
          <a:endParaRPr lang="en-US" dirty="0"/>
        </a:p>
      </dgm:t>
    </dgm:pt>
    <dgm:pt modelId="{00508DB7-6B4D-4EA4-B84E-842B30C58BE9}" type="parTrans" cxnId="{C2DA7E0D-A5D9-46CD-9CA9-92DFB1238CAF}">
      <dgm:prSet/>
      <dgm:spPr/>
      <dgm:t>
        <a:bodyPr/>
        <a:lstStyle/>
        <a:p>
          <a:endParaRPr lang="en-US"/>
        </a:p>
      </dgm:t>
    </dgm:pt>
    <dgm:pt modelId="{33E4ABFC-B769-445A-8A87-E36FFD53B867}" type="sibTrans" cxnId="{C2DA7E0D-A5D9-46CD-9CA9-92DFB1238CAF}">
      <dgm:prSet/>
      <dgm:spPr/>
      <dgm:t>
        <a:bodyPr/>
        <a:lstStyle/>
        <a:p>
          <a:endParaRPr lang="en-US"/>
        </a:p>
      </dgm:t>
    </dgm:pt>
    <dgm:pt modelId="{0DF11DE2-75DB-4F9E-A925-ADC222918B42}">
      <dgm:prSet/>
      <dgm:spPr/>
      <dgm:t>
        <a:bodyPr/>
        <a:lstStyle/>
        <a:p>
          <a:r>
            <a:rPr lang="en-AU"/>
            <a:t>“Excuse me, do you like vacations”?</a:t>
          </a:r>
          <a:endParaRPr lang="en-US"/>
        </a:p>
      </dgm:t>
    </dgm:pt>
    <dgm:pt modelId="{C5DDD3F9-1448-4CE7-98B8-999BEC128584}" type="parTrans" cxnId="{8E4E26B4-210D-4496-A2D8-0E77D2005005}">
      <dgm:prSet/>
      <dgm:spPr/>
      <dgm:t>
        <a:bodyPr/>
        <a:lstStyle/>
        <a:p>
          <a:endParaRPr lang="en-US"/>
        </a:p>
      </dgm:t>
    </dgm:pt>
    <dgm:pt modelId="{5E51879E-D226-43C6-B9DC-6BC01A836A97}" type="sibTrans" cxnId="{8E4E26B4-210D-4496-A2D8-0E77D2005005}">
      <dgm:prSet/>
      <dgm:spPr/>
      <dgm:t>
        <a:bodyPr/>
        <a:lstStyle/>
        <a:p>
          <a:endParaRPr lang="en-US"/>
        </a:p>
      </dgm:t>
    </dgm:pt>
    <dgm:pt modelId="{C723A281-1DA5-49C5-A926-2FCCF21D0E9B}" type="pres">
      <dgm:prSet presAssocID="{1B23C8BC-4D9E-4034-B73D-7F6579A8DC25}" presName="root" presStyleCnt="0">
        <dgm:presLayoutVars>
          <dgm:dir/>
          <dgm:resizeHandles val="exact"/>
        </dgm:presLayoutVars>
      </dgm:prSet>
      <dgm:spPr/>
    </dgm:pt>
    <dgm:pt modelId="{C6C38FC8-14D0-4911-99DE-09C1894A58C5}" type="pres">
      <dgm:prSet presAssocID="{65D7B430-05F1-47DF-BF72-22F797A69BB0}" presName="compNode" presStyleCnt="0"/>
      <dgm:spPr/>
    </dgm:pt>
    <dgm:pt modelId="{D5917A87-6C73-49C8-BD6E-5133BAA46ECD}" type="pres">
      <dgm:prSet presAssocID="{65D7B430-05F1-47DF-BF72-22F797A69BB0}" presName="bgRect" presStyleLbl="bgShp" presStyleIdx="0" presStyleCnt="3"/>
      <dgm:spPr/>
    </dgm:pt>
    <dgm:pt modelId="{694812DF-76D0-42D8-8C2A-F572404254EA}" type="pres">
      <dgm:prSet presAssocID="{65D7B430-05F1-47DF-BF72-22F797A69BB0}" presName="iconRect" presStyleLbl="node1" presStyleIdx="0"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Lock"/>
        </a:ext>
      </dgm:extLst>
    </dgm:pt>
    <dgm:pt modelId="{36E4B53E-8CF5-40B3-BCBF-AD760C9920BE}" type="pres">
      <dgm:prSet presAssocID="{65D7B430-05F1-47DF-BF72-22F797A69BB0}" presName="spaceRect" presStyleCnt="0"/>
      <dgm:spPr/>
    </dgm:pt>
    <dgm:pt modelId="{CFE79701-6DDA-447C-B9F3-5337AD60385A}" type="pres">
      <dgm:prSet presAssocID="{65D7B430-05F1-47DF-BF72-22F797A69BB0}" presName="parTx" presStyleLbl="revTx" presStyleIdx="0" presStyleCnt="3">
        <dgm:presLayoutVars>
          <dgm:chMax val="0"/>
          <dgm:chPref val="0"/>
        </dgm:presLayoutVars>
      </dgm:prSet>
      <dgm:spPr/>
    </dgm:pt>
    <dgm:pt modelId="{2C35A9A3-6B81-4054-A2D5-ECD28AD89E42}" type="pres">
      <dgm:prSet presAssocID="{E3E400E8-5186-4C50-987D-079386C44511}" presName="sibTrans" presStyleCnt="0"/>
      <dgm:spPr/>
    </dgm:pt>
    <dgm:pt modelId="{A549E177-F83D-44FC-9985-60D23E8B2262}" type="pres">
      <dgm:prSet presAssocID="{505DFB96-A545-4581-8A11-B2D720048139}" presName="compNode" presStyleCnt="0"/>
      <dgm:spPr/>
    </dgm:pt>
    <dgm:pt modelId="{492E11A4-6E2B-48BA-9700-BF2184094E55}" type="pres">
      <dgm:prSet presAssocID="{505DFB96-A545-4581-8A11-B2D720048139}" presName="bgRect" presStyleLbl="bgShp" presStyleIdx="1" presStyleCnt="3"/>
      <dgm:spPr/>
    </dgm:pt>
    <dgm:pt modelId="{688EFA40-1E4D-4EA8-8425-811B136A92CA}" type="pres">
      <dgm:prSet presAssocID="{505DFB96-A545-4581-8A11-B2D720048139}" presName="iconRect" presStyleLbl="node1" presStyleIdx="1"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Questions"/>
        </a:ext>
      </dgm:extLst>
    </dgm:pt>
    <dgm:pt modelId="{CB7990AF-1C4C-4B4C-8AFA-7D4F0C8B72AB}" type="pres">
      <dgm:prSet presAssocID="{505DFB96-A545-4581-8A11-B2D720048139}" presName="spaceRect" presStyleCnt="0"/>
      <dgm:spPr/>
    </dgm:pt>
    <dgm:pt modelId="{031B406E-717B-4C5C-827B-62671788C700}" type="pres">
      <dgm:prSet presAssocID="{505DFB96-A545-4581-8A11-B2D720048139}" presName="parTx" presStyleLbl="revTx" presStyleIdx="1" presStyleCnt="3">
        <dgm:presLayoutVars>
          <dgm:chMax val="0"/>
          <dgm:chPref val="0"/>
        </dgm:presLayoutVars>
      </dgm:prSet>
      <dgm:spPr/>
    </dgm:pt>
    <dgm:pt modelId="{63197549-71CE-45C3-A5F6-687757B8635F}" type="pres">
      <dgm:prSet presAssocID="{33E4ABFC-B769-445A-8A87-E36FFD53B867}" presName="sibTrans" presStyleCnt="0"/>
      <dgm:spPr/>
    </dgm:pt>
    <dgm:pt modelId="{82259477-5BF7-4D05-9D9A-225517A42E0D}" type="pres">
      <dgm:prSet presAssocID="{0DF11DE2-75DB-4F9E-A925-ADC222918B42}" presName="compNode" presStyleCnt="0"/>
      <dgm:spPr/>
    </dgm:pt>
    <dgm:pt modelId="{B9E20BFF-B06B-4360-B09D-2AEE9372EF5D}" type="pres">
      <dgm:prSet presAssocID="{0DF11DE2-75DB-4F9E-A925-ADC222918B42}" presName="bgRect" presStyleLbl="bgShp" presStyleIdx="2" presStyleCnt="3"/>
      <dgm:spPr/>
    </dgm:pt>
    <dgm:pt modelId="{54CC05FF-06B7-48E8-B5A0-5C2A080A65F6}" type="pres">
      <dgm:prSet presAssocID="{0DF11DE2-75DB-4F9E-A925-ADC222918B42}" presName="iconRect" presStyleLbl="node1" presStyleIdx="2"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Tropical scene"/>
        </a:ext>
      </dgm:extLst>
    </dgm:pt>
    <dgm:pt modelId="{BF7A46B9-4458-4E47-A170-5D55A789150F}" type="pres">
      <dgm:prSet presAssocID="{0DF11DE2-75DB-4F9E-A925-ADC222918B42}" presName="spaceRect" presStyleCnt="0"/>
      <dgm:spPr/>
    </dgm:pt>
    <dgm:pt modelId="{E92AF9CC-EC14-4B86-A915-028F03BBEE53}" type="pres">
      <dgm:prSet presAssocID="{0DF11DE2-75DB-4F9E-A925-ADC222918B42}" presName="parTx" presStyleLbl="revTx" presStyleIdx="2" presStyleCnt="3">
        <dgm:presLayoutVars>
          <dgm:chMax val="0"/>
          <dgm:chPref val="0"/>
        </dgm:presLayoutVars>
      </dgm:prSet>
      <dgm:spPr/>
    </dgm:pt>
  </dgm:ptLst>
  <dgm:cxnLst>
    <dgm:cxn modelId="{C2DA7E0D-A5D9-46CD-9CA9-92DFB1238CAF}" srcId="{1B23C8BC-4D9E-4034-B73D-7F6579A8DC25}" destId="{505DFB96-A545-4581-8A11-B2D720048139}" srcOrd="1" destOrd="0" parTransId="{00508DB7-6B4D-4EA4-B84E-842B30C58BE9}" sibTransId="{33E4ABFC-B769-445A-8A87-E36FFD53B867}"/>
    <dgm:cxn modelId="{CEA40B23-E1CC-4EBC-BCCF-F2FDC86949D0}" type="presOf" srcId="{1B23C8BC-4D9E-4034-B73D-7F6579A8DC25}" destId="{C723A281-1DA5-49C5-A926-2FCCF21D0E9B}" srcOrd="0" destOrd="0" presId="urn:microsoft.com/office/officeart/2018/2/layout/IconVerticalSolidList"/>
    <dgm:cxn modelId="{206F793E-467A-4822-8843-8A2740CBA6FE}" type="presOf" srcId="{0DF11DE2-75DB-4F9E-A925-ADC222918B42}" destId="{E92AF9CC-EC14-4B86-A915-028F03BBEE53}" srcOrd="0" destOrd="0" presId="urn:microsoft.com/office/officeart/2018/2/layout/IconVerticalSolidList"/>
    <dgm:cxn modelId="{95E07EAA-5355-4CFD-A7B8-8254035B8360}" type="presOf" srcId="{505DFB96-A545-4581-8A11-B2D720048139}" destId="{031B406E-717B-4C5C-827B-62671788C700}" srcOrd="0" destOrd="0" presId="urn:microsoft.com/office/officeart/2018/2/layout/IconVerticalSolidList"/>
    <dgm:cxn modelId="{8E4E26B4-210D-4496-A2D8-0E77D2005005}" srcId="{1B23C8BC-4D9E-4034-B73D-7F6579A8DC25}" destId="{0DF11DE2-75DB-4F9E-A925-ADC222918B42}" srcOrd="2" destOrd="0" parTransId="{C5DDD3F9-1448-4CE7-98B8-999BEC128584}" sibTransId="{5E51879E-D226-43C6-B9DC-6BC01A836A97}"/>
    <dgm:cxn modelId="{D050FCD9-146E-4E23-968D-CB77D66829B5}" srcId="{1B23C8BC-4D9E-4034-B73D-7F6579A8DC25}" destId="{65D7B430-05F1-47DF-BF72-22F797A69BB0}" srcOrd="0" destOrd="0" parTransId="{F936D35A-3E97-49BA-9812-1CFB268B55DD}" sibTransId="{E3E400E8-5186-4C50-987D-079386C44511}"/>
    <dgm:cxn modelId="{A614ABDA-AFC6-4F22-A4CA-1409C715CFE6}" type="presOf" srcId="{65D7B430-05F1-47DF-BF72-22F797A69BB0}" destId="{CFE79701-6DDA-447C-B9F3-5337AD60385A}" srcOrd="0" destOrd="0" presId="urn:microsoft.com/office/officeart/2018/2/layout/IconVerticalSolidList"/>
    <dgm:cxn modelId="{4C76B5B3-DBA6-47FA-B895-CFEA02299F8E}" type="presParOf" srcId="{C723A281-1DA5-49C5-A926-2FCCF21D0E9B}" destId="{C6C38FC8-14D0-4911-99DE-09C1894A58C5}" srcOrd="0" destOrd="0" presId="urn:microsoft.com/office/officeart/2018/2/layout/IconVerticalSolidList"/>
    <dgm:cxn modelId="{E11FE832-7FEC-4938-977D-55AD5E04826C}" type="presParOf" srcId="{C6C38FC8-14D0-4911-99DE-09C1894A58C5}" destId="{D5917A87-6C73-49C8-BD6E-5133BAA46ECD}" srcOrd="0" destOrd="0" presId="urn:microsoft.com/office/officeart/2018/2/layout/IconVerticalSolidList"/>
    <dgm:cxn modelId="{19004DC3-3070-46C8-B0CD-E1D566F315A2}" type="presParOf" srcId="{C6C38FC8-14D0-4911-99DE-09C1894A58C5}" destId="{694812DF-76D0-42D8-8C2A-F572404254EA}" srcOrd="1" destOrd="0" presId="urn:microsoft.com/office/officeart/2018/2/layout/IconVerticalSolidList"/>
    <dgm:cxn modelId="{F09125A0-6A36-4161-9F9D-EA861E909671}" type="presParOf" srcId="{C6C38FC8-14D0-4911-99DE-09C1894A58C5}" destId="{36E4B53E-8CF5-40B3-BCBF-AD760C9920BE}" srcOrd="2" destOrd="0" presId="urn:microsoft.com/office/officeart/2018/2/layout/IconVerticalSolidList"/>
    <dgm:cxn modelId="{25DE45CF-601E-4C50-B5B2-628EE1930CA2}" type="presParOf" srcId="{C6C38FC8-14D0-4911-99DE-09C1894A58C5}" destId="{CFE79701-6DDA-447C-B9F3-5337AD60385A}" srcOrd="3" destOrd="0" presId="urn:microsoft.com/office/officeart/2018/2/layout/IconVerticalSolidList"/>
    <dgm:cxn modelId="{43144D71-D2E0-4C36-B696-25463437A31A}" type="presParOf" srcId="{C723A281-1DA5-49C5-A926-2FCCF21D0E9B}" destId="{2C35A9A3-6B81-4054-A2D5-ECD28AD89E42}" srcOrd="1" destOrd="0" presId="urn:microsoft.com/office/officeart/2018/2/layout/IconVerticalSolidList"/>
    <dgm:cxn modelId="{2446AC4E-23C5-44A5-8BA3-39E7832F1A42}" type="presParOf" srcId="{C723A281-1DA5-49C5-A926-2FCCF21D0E9B}" destId="{A549E177-F83D-44FC-9985-60D23E8B2262}" srcOrd="2" destOrd="0" presId="urn:microsoft.com/office/officeart/2018/2/layout/IconVerticalSolidList"/>
    <dgm:cxn modelId="{537FD55C-AE7D-43BC-94C8-2A1A1F5DAAB5}" type="presParOf" srcId="{A549E177-F83D-44FC-9985-60D23E8B2262}" destId="{492E11A4-6E2B-48BA-9700-BF2184094E55}" srcOrd="0" destOrd="0" presId="urn:microsoft.com/office/officeart/2018/2/layout/IconVerticalSolidList"/>
    <dgm:cxn modelId="{B83574A6-D5EF-436A-83DE-5EA6DDB6AD63}" type="presParOf" srcId="{A549E177-F83D-44FC-9985-60D23E8B2262}" destId="{688EFA40-1E4D-4EA8-8425-811B136A92CA}" srcOrd="1" destOrd="0" presId="urn:microsoft.com/office/officeart/2018/2/layout/IconVerticalSolidList"/>
    <dgm:cxn modelId="{96953C06-7FFF-4F3F-8B9B-CA10AE3FAB40}" type="presParOf" srcId="{A549E177-F83D-44FC-9985-60D23E8B2262}" destId="{CB7990AF-1C4C-4B4C-8AFA-7D4F0C8B72AB}" srcOrd="2" destOrd="0" presId="urn:microsoft.com/office/officeart/2018/2/layout/IconVerticalSolidList"/>
    <dgm:cxn modelId="{D69C3503-C911-48FD-93F8-B61498B1FAA9}" type="presParOf" srcId="{A549E177-F83D-44FC-9985-60D23E8B2262}" destId="{031B406E-717B-4C5C-827B-62671788C700}" srcOrd="3" destOrd="0" presId="urn:microsoft.com/office/officeart/2018/2/layout/IconVerticalSolidList"/>
    <dgm:cxn modelId="{52487B27-502A-4288-AA11-83DE65B989D1}" type="presParOf" srcId="{C723A281-1DA5-49C5-A926-2FCCF21D0E9B}" destId="{63197549-71CE-45C3-A5F6-687757B8635F}" srcOrd="3" destOrd="0" presId="urn:microsoft.com/office/officeart/2018/2/layout/IconVerticalSolidList"/>
    <dgm:cxn modelId="{3DB88288-9271-44BF-AB8F-E3FF93BE61E4}" type="presParOf" srcId="{C723A281-1DA5-49C5-A926-2FCCF21D0E9B}" destId="{82259477-5BF7-4D05-9D9A-225517A42E0D}" srcOrd="4" destOrd="0" presId="urn:microsoft.com/office/officeart/2018/2/layout/IconVerticalSolidList"/>
    <dgm:cxn modelId="{0DFFC01B-A23E-4650-BE46-8381A594A2A5}" type="presParOf" srcId="{82259477-5BF7-4D05-9D9A-225517A42E0D}" destId="{B9E20BFF-B06B-4360-B09D-2AEE9372EF5D}" srcOrd="0" destOrd="0" presId="urn:microsoft.com/office/officeart/2018/2/layout/IconVerticalSolidList"/>
    <dgm:cxn modelId="{6BB1E09C-67EA-4B11-AC05-777E61A577E1}" type="presParOf" srcId="{82259477-5BF7-4D05-9D9A-225517A42E0D}" destId="{54CC05FF-06B7-48E8-B5A0-5C2A080A65F6}" srcOrd="1" destOrd="0" presId="urn:microsoft.com/office/officeart/2018/2/layout/IconVerticalSolidList"/>
    <dgm:cxn modelId="{99F85783-B8AD-459A-A023-301B52CB5EEF}" type="presParOf" srcId="{82259477-5BF7-4D05-9D9A-225517A42E0D}" destId="{BF7A46B9-4458-4E47-A170-5D55A789150F}" srcOrd="2" destOrd="0" presId="urn:microsoft.com/office/officeart/2018/2/layout/IconVerticalSolidList"/>
    <dgm:cxn modelId="{98A32BC9-8704-4AF5-8EEC-EB828094FB85}" type="presParOf" srcId="{82259477-5BF7-4D05-9D9A-225517A42E0D}" destId="{E92AF9CC-EC14-4B86-A915-028F03BBEE53}"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44EDD080-E616-4AB2-9692-59F9F9D378A3}" type="doc">
      <dgm:prSet loTypeId="urn:microsoft.com/office/officeart/2008/layout/LinedList" loCatId="list" qsTypeId="urn:microsoft.com/office/officeart/2005/8/quickstyle/simple1" qsCatId="simple" csTypeId="urn:microsoft.com/office/officeart/2005/8/colors/colorful5" csCatId="colorful"/>
      <dgm:spPr/>
      <dgm:t>
        <a:bodyPr/>
        <a:lstStyle/>
        <a:p>
          <a:endParaRPr lang="en-US"/>
        </a:p>
      </dgm:t>
    </dgm:pt>
    <dgm:pt modelId="{E2F54AAC-D878-4EE8-99C1-E2553A933E71}">
      <dgm:prSet/>
      <dgm:spPr/>
      <dgm:t>
        <a:bodyPr/>
        <a:lstStyle/>
        <a:p>
          <a:r>
            <a:rPr lang="en-US"/>
            <a:t>65,85,95 rule</a:t>
          </a:r>
        </a:p>
      </dgm:t>
    </dgm:pt>
    <dgm:pt modelId="{1642D465-85C2-4AC1-95A5-EB2E91BD1ED4}" type="parTrans" cxnId="{8FB7148C-676B-4105-9111-6C79975D6E41}">
      <dgm:prSet/>
      <dgm:spPr/>
      <dgm:t>
        <a:bodyPr/>
        <a:lstStyle/>
        <a:p>
          <a:endParaRPr lang="en-US"/>
        </a:p>
      </dgm:t>
    </dgm:pt>
    <dgm:pt modelId="{A691EA90-636F-4E71-B35B-28BC96E21587}" type="sibTrans" cxnId="{8FB7148C-676B-4105-9111-6C79975D6E41}">
      <dgm:prSet/>
      <dgm:spPr/>
      <dgm:t>
        <a:bodyPr/>
        <a:lstStyle/>
        <a:p>
          <a:endParaRPr lang="en-US"/>
        </a:p>
      </dgm:t>
    </dgm:pt>
    <dgm:pt modelId="{44FE89FB-8847-47F5-A86C-D9D7A39D0204}">
      <dgm:prSet/>
      <dgm:spPr/>
      <dgm:t>
        <a:bodyPr/>
        <a:lstStyle/>
        <a:p>
          <a:r>
            <a:rPr lang="en-US"/>
            <a:t>Last offer is very precise with a 3 or a 7 at the end.</a:t>
          </a:r>
        </a:p>
      </dgm:t>
    </dgm:pt>
    <dgm:pt modelId="{D92AFE65-2492-46A9-8DFC-8F9DC6372D0D}" type="parTrans" cxnId="{75B052B9-0CAD-42C2-A61A-0F3F5FF4589E}">
      <dgm:prSet/>
      <dgm:spPr/>
      <dgm:t>
        <a:bodyPr/>
        <a:lstStyle/>
        <a:p>
          <a:endParaRPr lang="en-US"/>
        </a:p>
      </dgm:t>
    </dgm:pt>
    <dgm:pt modelId="{01158695-C4C5-4B1B-9A8E-E14A8BF1ED1C}" type="sibTrans" cxnId="{75B052B9-0CAD-42C2-A61A-0F3F5FF4589E}">
      <dgm:prSet/>
      <dgm:spPr/>
      <dgm:t>
        <a:bodyPr/>
        <a:lstStyle/>
        <a:p>
          <a:endParaRPr lang="en-US"/>
        </a:p>
      </dgm:t>
    </dgm:pt>
    <dgm:pt modelId="{15E2DE05-2889-4859-9F1D-F482D89AF663}">
      <dgm:prSet/>
      <dgm:spPr/>
      <dgm:t>
        <a:bodyPr/>
        <a:lstStyle/>
        <a:p>
          <a:r>
            <a:rPr lang="en-US"/>
            <a:t>And a funny or ridiculous extra</a:t>
          </a:r>
        </a:p>
      </dgm:t>
    </dgm:pt>
    <dgm:pt modelId="{4D44FF8B-CB2A-4F7C-9047-8353CD4EF703}" type="parTrans" cxnId="{3C7F30AD-993B-43BD-A022-9DF58A49BF44}">
      <dgm:prSet/>
      <dgm:spPr/>
      <dgm:t>
        <a:bodyPr/>
        <a:lstStyle/>
        <a:p>
          <a:endParaRPr lang="en-US"/>
        </a:p>
      </dgm:t>
    </dgm:pt>
    <dgm:pt modelId="{0C77CA5A-2701-410F-9ABD-E732156D6173}" type="sibTrans" cxnId="{3C7F30AD-993B-43BD-A022-9DF58A49BF44}">
      <dgm:prSet/>
      <dgm:spPr/>
      <dgm:t>
        <a:bodyPr/>
        <a:lstStyle/>
        <a:p>
          <a:endParaRPr lang="en-US"/>
        </a:p>
      </dgm:t>
    </dgm:pt>
    <dgm:pt modelId="{0FB1998A-99ED-3F4C-B28B-BBB61276E251}" type="pres">
      <dgm:prSet presAssocID="{44EDD080-E616-4AB2-9692-59F9F9D378A3}" presName="vert0" presStyleCnt="0">
        <dgm:presLayoutVars>
          <dgm:dir/>
          <dgm:animOne val="branch"/>
          <dgm:animLvl val="lvl"/>
        </dgm:presLayoutVars>
      </dgm:prSet>
      <dgm:spPr/>
    </dgm:pt>
    <dgm:pt modelId="{79CE1DE3-C3C8-9F49-AE28-84FB613DF896}" type="pres">
      <dgm:prSet presAssocID="{E2F54AAC-D878-4EE8-99C1-E2553A933E71}" presName="thickLine" presStyleLbl="alignNode1" presStyleIdx="0" presStyleCnt="3"/>
      <dgm:spPr/>
    </dgm:pt>
    <dgm:pt modelId="{70AC3D12-8763-4245-A4C0-1B155DB17CB2}" type="pres">
      <dgm:prSet presAssocID="{E2F54AAC-D878-4EE8-99C1-E2553A933E71}" presName="horz1" presStyleCnt="0"/>
      <dgm:spPr/>
    </dgm:pt>
    <dgm:pt modelId="{71F06A50-C49F-FE4B-8DDA-794CBB503C3D}" type="pres">
      <dgm:prSet presAssocID="{E2F54AAC-D878-4EE8-99C1-E2553A933E71}" presName="tx1" presStyleLbl="revTx" presStyleIdx="0" presStyleCnt="3"/>
      <dgm:spPr/>
    </dgm:pt>
    <dgm:pt modelId="{BF32ED38-A921-E644-841F-7E2698E69FF5}" type="pres">
      <dgm:prSet presAssocID="{E2F54AAC-D878-4EE8-99C1-E2553A933E71}" presName="vert1" presStyleCnt="0"/>
      <dgm:spPr/>
    </dgm:pt>
    <dgm:pt modelId="{762B8924-9E87-5A44-BF5F-2EC2908B3D8A}" type="pres">
      <dgm:prSet presAssocID="{44FE89FB-8847-47F5-A86C-D9D7A39D0204}" presName="thickLine" presStyleLbl="alignNode1" presStyleIdx="1" presStyleCnt="3"/>
      <dgm:spPr/>
    </dgm:pt>
    <dgm:pt modelId="{AA0ECFD2-4C87-AB4A-85FE-F52526CE2403}" type="pres">
      <dgm:prSet presAssocID="{44FE89FB-8847-47F5-A86C-D9D7A39D0204}" presName="horz1" presStyleCnt="0"/>
      <dgm:spPr/>
    </dgm:pt>
    <dgm:pt modelId="{D3C51F77-A5BE-D348-84C9-7C2D8AA1A9FE}" type="pres">
      <dgm:prSet presAssocID="{44FE89FB-8847-47F5-A86C-D9D7A39D0204}" presName="tx1" presStyleLbl="revTx" presStyleIdx="1" presStyleCnt="3"/>
      <dgm:spPr/>
    </dgm:pt>
    <dgm:pt modelId="{66619D23-4477-7A46-B507-852EDCBEAECD}" type="pres">
      <dgm:prSet presAssocID="{44FE89FB-8847-47F5-A86C-D9D7A39D0204}" presName="vert1" presStyleCnt="0"/>
      <dgm:spPr/>
    </dgm:pt>
    <dgm:pt modelId="{DBFE2BC4-322C-1E43-B948-B293C19F1B84}" type="pres">
      <dgm:prSet presAssocID="{15E2DE05-2889-4859-9F1D-F482D89AF663}" presName="thickLine" presStyleLbl="alignNode1" presStyleIdx="2" presStyleCnt="3"/>
      <dgm:spPr/>
    </dgm:pt>
    <dgm:pt modelId="{3C302BFB-3FA3-014B-9D06-2286F92F5FB1}" type="pres">
      <dgm:prSet presAssocID="{15E2DE05-2889-4859-9F1D-F482D89AF663}" presName="horz1" presStyleCnt="0"/>
      <dgm:spPr/>
    </dgm:pt>
    <dgm:pt modelId="{C06D4725-D1CC-6C4C-BCCA-54BFFC3803FE}" type="pres">
      <dgm:prSet presAssocID="{15E2DE05-2889-4859-9F1D-F482D89AF663}" presName="tx1" presStyleLbl="revTx" presStyleIdx="2" presStyleCnt="3"/>
      <dgm:spPr/>
    </dgm:pt>
    <dgm:pt modelId="{D961B968-AB35-8643-97C9-2CD0E6803D44}" type="pres">
      <dgm:prSet presAssocID="{15E2DE05-2889-4859-9F1D-F482D89AF663}" presName="vert1" presStyleCnt="0"/>
      <dgm:spPr/>
    </dgm:pt>
  </dgm:ptLst>
  <dgm:cxnLst>
    <dgm:cxn modelId="{CF745B1A-1309-BF41-9E7F-B978C5C1D38D}" type="presOf" srcId="{44FE89FB-8847-47F5-A86C-D9D7A39D0204}" destId="{D3C51F77-A5BE-D348-84C9-7C2D8AA1A9FE}" srcOrd="0" destOrd="0" presId="urn:microsoft.com/office/officeart/2008/layout/LinedList"/>
    <dgm:cxn modelId="{E2980D56-BC90-0047-9A87-52E2362D8569}" type="presOf" srcId="{E2F54AAC-D878-4EE8-99C1-E2553A933E71}" destId="{71F06A50-C49F-FE4B-8DDA-794CBB503C3D}" srcOrd="0" destOrd="0" presId="urn:microsoft.com/office/officeart/2008/layout/LinedList"/>
    <dgm:cxn modelId="{D846925C-7994-F54A-AD8D-9E3D83690B03}" type="presOf" srcId="{44EDD080-E616-4AB2-9692-59F9F9D378A3}" destId="{0FB1998A-99ED-3F4C-B28B-BBB61276E251}" srcOrd="0" destOrd="0" presId="urn:microsoft.com/office/officeart/2008/layout/LinedList"/>
    <dgm:cxn modelId="{8FB7148C-676B-4105-9111-6C79975D6E41}" srcId="{44EDD080-E616-4AB2-9692-59F9F9D378A3}" destId="{E2F54AAC-D878-4EE8-99C1-E2553A933E71}" srcOrd="0" destOrd="0" parTransId="{1642D465-85C2-4AC1-95A5-EB2E91BD1ED4}" sibTransId="{A691EA90-636F-4E71-B35B-28BC96E21587}"/>
    <dgm:cxn modelId="{3C7F30AD-993B-43BD-A022-9DF58A49BF44}" srcId="{44EDD080-E616-4AB2-9692-59F9F9D378A3}" destId="{15E2DE05-2889-4859-9F1D-F482D89AF663}" srcOrd="2" destOrd="0" parTransId="{4D44FF8B-CB2A-4F7C-9047-8353CD4EF703}" sibTransId="{0C77CA5A-2701-410F-9ABD-E732156D6173}"/>
    <dgm:cxn modelId="{75B052B9-0CAD-42C2-A61A-0F3F5FF4589E}" srcId="{44EDD080-E616-4AB2-9692-59F9F9D378A3}" destId="{44FE89FB-8847-47F5-A86C-D9D7A39D0204}" srcOrd="1" destOrd="0" parTransId="{D92AFE65-2492-46A9-8DFC-8F9DC6372D0D}" sibTransId="{01158695-C4C5-4B1B-9A8E-E14A8BF1ED1C}"/>
    <dgm:cxn modelId="{E16428D1-C915-F04D-AD3B-976D9E303468}" type="presOf" srcId="{15E2DE05-2889-4859-9F1D-F482D89AF663}" destId="{C06D4725-D1CC-6C4C-BCCA-54BFFC3803FE}" srcOrd="0" destOrd="0" presId="urn:microsoft.com/office/officeart/2008/layout/LinedList"/>
    <dgm:cxn modelId="{3969D994-FFF2-5549-B51B-CA7A91E7557B}" type="presParOf" srcId="{0FB1998A-99ED-3F4C-B28B-BBB61276E251}" destId="{79CE1DE3-C3C8-9F49-AE28-84FB613DF896}" srcOrd="0" destOrd="0" presId="urn:microsoft.com/office/officeart/2008/layout/LinedList"/>
    <dgm:cxn modelId="{BD806107-E8C2-DC46-A683-4BBD20EDFDE1}" type="presParOf" srcId="{0FB1998A-99ED-3F4C-B28B-BBB61276E251}" destId="{70AC3D12-8763-4245-A4C0-1B155DB17CB2}" srcOrd="1" destOrd="0" presId="urn:microsoft.com/office/officeart/2008/layout/LinedList"/>
    <dgm:cxn modelId="{35CC260E-706C-AB44-8298-4B4A4682734B}" type="presParOf" srcId="{70AC3D12-8763-4245-A4C0-1B155DB17CB2}" destId="{71F06A50-C49F-FE4B-8DDA-794CBB503C3D}" srcOrd="0" destOrd="0" presId="urn:microsoft.com/office/officeart/2008/layout/LinedList"/>
    <dgm:cxn modelId="{4CCE1E4E-82F4-8E48-A257-8206BBD8F233}" type="presParOf" srcId="{70AC3D12-8763-4245-A4C0-1B155DB17CB2}" destId="{BF32ED38-A921-E644-841F-7E2698E69FF5}" srcOrd="1" destOrd="0" presId="urn:microsoft.com/office/officeart/2008/layout/LinedList"/>
    <dgm:cxn modelId="{DB26C8F6-A85B-654E-8941-5CB39F873F44}" type="presParOf" srcId="{0FB1998A-99ED-3F4C-B28B-BBB61276E251}" destId="{762B8924-9E87-5A44-BF5F-2EC2908B3D8A}" srcOrd="2" destOrd="0" presId="urn:microsoft.com/office/officeart/2008/layout/LinedList"/>
    <dgm:cxn modelId="{52A09A85-2D95-744E-84A2-E92183A0F28D}" type="presParOf" srcId="{0FB1998A-99ED-3F4C-B28B-BBB61276E251}" destId="{AA0ECFD2-4C87-AB4A-85FE-F52526CE2403}" srcOrd="3" destOrd="0" presId="urn:microsoft.com/office/officeart/2008/layout/LinedList"/>
    <dgm:cxn modelId="{09552947-2B7F-7144-A925-0821D181724A}" type="presParOf" srcId="{AA0ECFD2-4C87-AB4A-85FE-F52526CE2403}" destId="{D3C51F77-A5BE-D348-84C9-7C2D8AA1A9FE}" srcOrd="0" destOrd="0" presId="urn:microsoft.com/office/officeart/2008/layout/LinedList"/>
    <dgm:cxn modelId="{25A2DD56-893F-8048-B155-2BD97F6E37B8}" type="presParOf" srcId="{AA0ECFD2-4C87-AB4A-85FE-F52526CE2403}" destId="{66619D23-4477-7A46-B507-852EDCBEAECD}" srcOrd="1" destOrd="0" presId="urn:microsoft.com/office/officeart/2008/layout/LinedList"/>
    <dgm:cxn modelId="{BC52EA80-5B94-954B-9892-A68DB5D0C8FE}" type="presParOf" srcId="{0FB1998A-99ED-3F4C-B28B-BBB61276E251}" destId="{DBFE2BC4-322C-1E43-B948-B293C19F1B84}" srcOrd="4" destOrd="0" presId="urn:microsoft.com/office/officeart/2008/layout/LinedList"/>
    <dgm:cxn modelId="{440F8736-10A0-8642-9526-A170B0411C37}" type="presParOf" srcId="{0FB1998A-99ED-3F4C-B28B-BBB61276E251}" destId="{3C302BFB-3FA3-014B-9D06-2286F92F5FB1}" srcOrd="5" destOrd="0" presId="urn:microsoft.com/office/officeart/2008/layout/LinedList"/>
    <dgm:cxn modelId="{6BCAB3BD-CB05-254A-BE4E-51D77F0C0B41}" type="presParOf" srcId="{3C302BFB-3FA3-014B-9D06-2286F92F5FB1}" destId="{C06D4725-D1CC-6C4C-BCCA-54BFFC3803FE}" srcOrd="0" destOrd="0" presId="urn:microsoft.com/office/officeart/2008/layout/LinedList"/>
    <dgm:cxn modelId="{C2C8DFFA-C941-5D47-A3C5-9A558E48E7DE}" type="presParOf" srcId="{3C302BFB-3FA3-014B-9D06-2286F92F5FB1}" destId="{D961B968-AB35-8643-97C9-2CD0E6803D44}"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80487B6-8EC3-D945-831D-5EDAEE1F87ED}">
      <dsp:nvSpPr>
        <dsp:cNvPr id="0" name=""/>
        <dsp:cNvSpPr/>
      </dsp:nvSpPr>
      <dsp:spPr>
        <a:xfrm>
          <a:off x="0" y="69259"/>
          <a:ext cx="6666833" cy="479700"/>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a:t>Tactical Empathy</a:t>
          </a:r>
        </a:p>
      </dsp:txBody>
      <dsp:txXfrm>
        <a:off x="23417" y="92676"/>
        <a:ext cx="6619999" cy="432866"/>
      </dsp:txXfrm>
    </dsp:sp>
    <dsp:sp modelId="{DEC0DC49-F124-2440-A951-C2C32DDDB54F}">
      <dsp:nvSpPr>
        <dsp:cNvPr id="0" name=""/>
        <dsp:cNvSpPr/>
      </dsp:nvSpPr>
      <dsp:spPr>
        <a:xfrm>
          <a:off x="0" y="606559"/>
          <a:ext cx="6666833" cy="479700"/>
        </a:xfrm>
        <a:prstGeom prst="round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a:t>Trust Base Influence</a:t>
          </a:r>
        </a:p>
      </dsp:txBody>
      <dsp:txXfrm>
        <a:off x="23417" y="629976"/>
        <a:ext cx="6619999" cy="432866"/>
      </dsp:txXfrm>
    </dsp:sp>
    <dsp:sp modelId="{381793E5-B7F9-504E-891B-636C682A13B7}">
      <dsp:nvSpPr>
        <dsp:cNvPr id="0" name=""/>
        <dsp:cNvSpPr/>
      </dsp:nvSpPr>
      <dsp:spPr>
        <a:xfrm>
          <a:off x="0" y="1143859"/>
          <a:ext cx="6666833" cy="479700"/>
        </a:xfrm>
        <a:prstGeom prst="roundRect">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a:t>Late Night DJ</a:t>
          </a:r>
        </a:p>
      </dsp:txBody>
      <dsp:txXfrm>
        <a:off x="23417" y="1167276"/>
        <a:ext cx="6619999" cy="432866"/>
      </dsp:txXfrm>
    </dsp:sp>
    <dsp:sp modelId="{7893B88E-BD5F-364E-A598-E88DECF3CB0B}">
      <dsp:nvSpPr>
        <dsp:cNvPr id="0" name=""/>
        <dsp:cNvSpPr/>
      </dsp:nvSpPr>
      <dsp:spPr>
        <a:xfrm>
          <a:off x="0" y="1681159"/>
          <a:ext cx="6666833" cy="479700"/>
        </a:xfrm>
        <a:prstGeom prst="roundRect">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GB" sz="2000" kern="1200" dirty="0"/>
            <a:t>Accusation Audit</a:t>
          </a:r>
        </a:p>
      </dsp:txBody>
      <dsp:txXfrm>
        <a:off x="23417" y="1704576"/>
        <a:ext cx="6619999" cy="432866"/>
      </dsp:txXfrm>
    </dsp:sp>
    <dsp:sp modelId="{73829E52-ED6C-CF4C-8213-F765697FD719}">
      <dsp:nvSpPr>
        <dsp:cNvPr id="0" name=""/>
        <dsp:cNvSpPr/>
      </dsp:nvSpPr>
      <dsp:spPr>
        <a:xfrm>
          <a:off x="0" y="2218460"/>
          <a:ext cx="6666833" cy="479700"/>
        </a:xfrm>
        <a:prstGeom prst="roundRect">
          <a:avLst/>
        </a:prstGeom>
        <a:gradFill rotWithShape="0">
          <a:gsLst>
            <a:gs pos="0">
              <a:schemeClr val="accent6">
                <a:hueOff val="0"/>
                <a:satOff val="0"/>
                <a:lumOff val="0"/>
                <a:alphaOff val="0"/>
                <a:satMod val="103000"/>
                <a:lumMod val="102000"/>
                <a:tint val="94000"/>
              </a:schemeClr>
            </a:gs>
            <a:gs pos="50000">
              <a:schemeClr val="accent6">
                <a:hueOff val="0"/>
                <a:satOff val="0"/>
                <a:lumOff val="0"/>
                <a:alphaOff val="0"/>
                <a:satMod val="110000"/>
                <a:lumMod val="100000"/>
                <a:shade val="100000"/>
              </a:schemeClr>
            </a:gs>
            <a:gs pos="100000">
              <a:schemeClr val="accent6">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a:t>Mirrors</a:t>
          </a:r>
        </a:p>
      </dsp:txBody>
      <dsp:txXfrm>
        <a:off x="23417" y="2241877"/>
        <a:ext cx="6619999" cy="432866"/>
      </dsp:txXfrm>
    </dsp:sp>
    <dsp:sp modelId="{B0354E65-12F1-384F-8F84-32AD23386793}">
      <dsp:nvSpPr>
        <dsp:cNvPr id="0" name=""/>
        <dsp:cNvSpPr/>
      </dsp:nvSpPr>
      <dsp:spPr>
        <a:xfrm>
          <a:off x="0" y="2755759"/>
          <a:ext cx="6666833" cy="479700"/>
        </a:xfrm>
        <a:prstGeom prst="roundRect">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dirty="0"/>
            <a:t>Labels</a:t>
          </a:r>
        </a:p>
      </dsp:txBody>
      <dsp:txXfrm>
        <a:off x="23417" y="2779176"/>
        <a:ext cx="6619999" cy="432866"/>
      </dsp:txXfrm>
    </dsp:sp>
    <dsp:sp modelId="{72DED67D-0D66-8342-94F8-4BF59A5631D1}">
      <dsp:nvSpPr>
        <dsp:cNvPr id="0" name=""/>
        <dsp:cNvSpPr/>
      </dsp:nvSpPr>
      <dsp:spPr>
        <a:xfrm>
          <a:off x="0" y="3293059"/>
          <a:ext cx="6666833" cy="479700"/>
        </a:xfrm>
        <a:prstGeom prst="roundRect">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a:t>Calibrated Questions</a:t>
          </a:r>
        </a:p>
      </dsp:txBody>
      <dsp:txXfrm>
        <a:off x="23417" y="3316476"/>
        <a:ext cx="6619999" cy="432866"/>
      </dsp:txXfrm>
    </dsp:sp>
    <dsp:sp modelId="{E20AABD0-9803-4842-A16F-DC97B1DBEE52}">
      <dsp:nvSpPr>
        <dsp:cNvPr id="0" name=""/>
        <dsp:cNvSpPr/>
      </dsp:nvSpPr>
      <dsp:spPr>
        <a:xfrm>
          <a:off x="0" y="3830359"/>
          <a:ext cx="6666833" cy="479700"/>
        </a:xfrm>
        <a:prstGeom prst="roundRect">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a:t>“No” Oriented Questions</a:t>
          </a:r>
        </a:p>
      </dsp:txBody>
      <dsp:txXfrm>
        <a:off x="23417" y="3853776"/>
        <a:ext cx="6619999" cy="432866"/>
      </dsp:txXfrm>
    </dsp:sp>
    <dsp:sp modelId="{8764561D-63B6-DF45-9A2F-52148F8E8B90}">
      <dsp:nvSpPr>
        <dsp:cNvPr id="0" name=""/>
        <dsp:cNvSpPr/>
      </dsp:nvSpPr>
      <dsp:spPr>
        <a:xfrm>
          <a:off x="0" y="4367659"/>
          <a:ext cx="6666833" cy="479700"/>
        </a:xfrm>
        <a:prstGeom prst="roundRect">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a:t>That’s Right</a:t>
          </a:r>
        </a:p>
      </dsp:txBody>
      <dsp:txXfrm>
        <a:off x="23417" y="4391076"/>
        <a:ext cx="6619999" cy="432866"/>
      </dsp:txXfrm>
    </dsp:sp>
    <dsp:sp modelId="{8C112376-8B7A-E94E-9DD7-98C727DEAFF1}">
      <dsp:nvSpPr>
        <dsp:cNvPr id="0" name=""/>
        <dsp:cNvSpPr/>
      </dsp:nvSpPr>
      <dsp:spPr>
        <a:xfrm>
          <a:off x="0" y="4904959"/>
          <a:ext cx="6666833" cy="479700"/>
        </a:xfrm>
        <a:prstGeom prst="roundRect">
          <a:avLst/>
        </a:prstGeom>
        <a:gradFill rotWithShape="0">
          <a:gsLst>
            <a:gs pos="0">
              <a:schemeClr val="accent6">
                <a:hueOff val="0"/>
                <a:satOff val="0"/>
                <a:lumOff val="0"/>
                <a:alphaOff val="0"/>
                <a:satMod val="103000"/>
                <a:lumMod val="102000"/>
                <a:tint val="94000"/>
              </a:schemeClr>
            </a:gs>
            <a:gs pos="50000">
              <a:schemeClr val="accent6">
                <a:hueOff val="0"/>
                <a:satOff val="0"/>
                <a:lumOff val="0"/>
                <a:alphaOff val="0"/>
                <a:satMod val="110000"/>
                <a:lumMod val="100000"/>
                <a:shade val="100000"/>
              </a:schemeClr>
            </a:gs>
            <a:gs pos="100000">
              <a:schemeClr val="accent6">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dirty="0"/>
            <a:t>Never Split the Difference</a:t>
          </a:r>
        </a:p>
      </dsp:txBody>
      <dsp:txXfrm>
        <a:off x="23417" y="4928376"/>
        <a:ext cx="6619999" cy="43286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5917A87-6C73-49C8-BD6E-5133BAA46ECD}">
      <dsp:nvSpPr>
        <dsp:cNvPr id="0" name=""/>
        <dsp:cNvSpPr/>
      </dsp:nvSpPr>
      <dsp:spPr>
        <a:xfrm>
          <a:off x="0" y="717"/>
          <a:ext cx="6301601" cy="1679249"/>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94812DF-76D0-42D8-8C2A-F572404254EA}">
      <dsp:nvSpPr>
        <dsp:cNvPr id="0" name=""/>
        <dsp:cNvSpPr/>
      </dsp:nvSpPr>
      <dsp:spPr>
        <a:xfrm>
          <a:off x="507973" y="378548"/>
          <a:ext cx="923587" cy="92358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FE79701-6DDA-447C-B9F3-5337AD60385A}">
      <dsp:nvSpPr>
        <dsp:cNvPr id="0" name=""/>
        <dsp:cNvSpPr/>
      </dsp:nvSpPr>
      <dsp:spPr>
        <a:xfrm>
          <a:off x="1939533" y="717"/>
          <a:ext cx="4362067" cy="16792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7721" tIns="177721" rIns="177721" bIns="177721" numCol="1" spcCol="1270" anchor="ctr" anchorCtr="0">
          <a:noAutofit/>
        </a:bodyPr>
        <a:lstStyle/>
        <a:p>
          <a:pPr marL="0" lvl="0" indent="0" algn="l" defTabSz="1111250">
            <a:lnSpc>
              <a:spcPct val="90000"/>
            </a:lnSpc>
            <a:spcBef>
              <a:spcPct val="0"/>
            </a:spcBef>
            <a:spcAft>
              <a:spcPct val="35000"/>
            </a:spcAft>
            <a:buNone/>
          </a:pPr>
          <a:r>
            <a:rPr lang="en-AU" sz="2500" kern="1200"/>
            <a:t>”No” is comfortable, safe and secure.</a:t>
          </a:r>
          <a:endParaRPr lang="en-US" sz="2500" kern="1200"/>
        </a:p>
      </dsp:txBody>
      <dsp:txXfrm>
        <a:off x="1939533" y="717"/>
        <a:ext cx="4362067" cy="1679249"/>
      </dsp:txXfrm>
    </dsp:sp>
    <dsp:sp modelId="{492E11A4-6E2B-48BA-9700-BF2184094E55}">
      <dsp:nvSpPr>
        <dsp:cNvPr id="0" name=""/>
        <dsp:cNvSpPr/>
      </dsp:nvSpPr>
      <dsp:spPr>
        <a:xfrm>
          <a:off x="0" y="2099779"/>
          <a:ext cx="6301601" cy="1679249"/>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88EFA40-1E4D-4EA8-8425-811B136A92CA}">
      <dsp:nvSpPr>
        <dsp:cNvPr id="0" name=""/>
        <dsp:cNvSpPr/>
      </dsp:nvSpPr>
      <dsp:spPr>
        <a:xfrm>
          <a:off x="507973" y="2477610"/>
          <a:ext cx="923587" cy="92358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31B406E-717B-4C5C-827B-62671788C700}">
      <dsp:nvSpPr>
        <dsp:cNvPr id="0" name=""/>
        <dsp:cNvSpPr/>
      </dsp:nvSpPr>
      <dsp:spPr>
        <a:xfrm>
          <a:off x="1939533" y="2099779"/>
          <a:ext cx="4362067" cy="16792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7721" tIns="177721" rIns="177721" bIns="177721" numCol="1" spcCol="1270" anchor="ctr" anchorCtr="0">
          <a:noAutofit/>
        </a:bodyPr>
        <a:lstStyle/>
        <a:p>
          <a:pPr marL="0" lvl="0" indent="0" algn="l" defTabSz="1111250">
            <a:lnSpc>
              <a:spcPct val="90000"/>
            </a:lnSpc>
            <a:spcBef>
              <a:spcPct val="0"/>
            </a:spcBef>
            <a:spcAft>
              <a:spcPct val="35000"/>
            </a:spcAft>
            <a:buNone/>
          </a:pPr>
          <a:r>
            <a:rPr lang="en-AU" sz="2500" kern="1200" dirty="0"/>
            <a:t>People feel anxious when they sense you’re seeking a “Yes”.</a:t>
          </a:r>
          <a:endParaRPr lang="en-US" sz="2500" kern="1200" dirty="0"/>
        </a:p>
      </dsp:txBody>
      <dsp:txXfrm>
        <a:off x="1939533" y="2099779"/>
        <a:ext cx="4362067" cy="1679249"/>
      </dsp:txXfrm>
    </dsp:sp>
    <dsp:sp modelId="{B9E20BFF-B06B-4360-B09D-2AEE9372EF5D}">
      <dsp:nvSpPr>
        <dsp:cNvPr id="0" name=""/>
        <dsp:cNvSpPr/>
      </dsp:nvSpPr>
      <dsp:spPr>
        <a:xfrm>
          <a:off x="0" y="4198841"/>
          <a:ext cx="6301601" cy="1679249"/>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4CC05FF-06B7-48E8-B5A0-5C2A080A65F6}">
      <dsp:nvSpPr>
        <dsp:cNvPr id="0" name=""/>
        <dsp:cNvSpPr/>
      </dsp:nvSpPr>
      <dsp:spPr>
        <a:xfrm>
          <a:off x="507973" y="4576672"/>
          <a:ext cx="923587" cy="92358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92AF9CC-EC14-4B86-A915-028F03BBEE53}">
      <dsp:nvSpPr>
        <dsp:cNvPr id="0" name=""/>
        <dsp:cNvSpPr/>
      </dsp:nvSpPr>
      <dsp:spPr>
        <a:xfrm>
          <a:off x="1939533" y="4198841"/>
          <a:ext cx="4362067" cy="16792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7721" tIns="177721" rIns="177721" bIns="177721" numCol="1" spcCol="1270" anchor="ctr" anchorCtr="0">
          <a:noAutofit/>
        </a:bodyPr>
        <a:lstStyle/>
        <a:p>
          <a:pPr marL="0" lvl="0" indent="0" algn="l" defTabSz="1111250">
            <a:lnSpc>
              <a:spcPct val="90000"/>
            </a:lnSpc>
            <a:spcBef>
              <a:spcPct val="0"/>
            </a:spcBef>
            <a:spcAft>
              <a:spcPct val="35000"/>
            </a:spcAft>
            <a:buNone/>
          </a:pPr>
          <a:r>
            <a:rPr lang="en-AU" sz="2500" kern="1200"/>
            <a:t>“Excuse me, do you like vacations”?</a:t>
          </a:r>
          <a:endParaRPr lang="en-US" sz="2500" kern="1200"/>
        </a:p>
      </dsp:txBody>
      <dsp:txXfrm>
        <a:off x="1939533" y="4198841"/>
        <a:ext cx="4362067" cy="1679249"/>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9CE1DE3-C3C8-9F49-AE28-84FB613DF896}">
      <dsp:nvSpPr>
        <dsp:cNvPr id="0" name=""/>
        <dsp:cNvSpPr/>
      </dsp:nvSpPr>
      <dsp:spPr>
        <a:xfrm>
          <a:off x="0" y="2700"/>
          <a:ext cx="6291714" cy="0"/>
        </a:xfrm>
        <a:prstGeom prst="line">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1F06A50-C49F-FE4B-8DDA-794CBB503C3D}">
      <dsp:nvSpPr>
        <dsp:cNvPr id="0" name=""/>
        <dsp:cNvSpPr/>
      </dsp:nvSpPr>
      <dsp:spPr>
        <a:xfrm>
          <a:off x="0" y="2700"/>
          <a:ext cx="6291714" cy="184177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7640" tIns="167640" rIns="167640" bIns="167640" numCol="1" spcCol="1270" anchor="t" anchorCtr="0">
          <a:noAutofit/>
        </a:bodyPr>
        <a:lstStyle/>
        <a:p>
          <a:pPr marL="0" lvl="0" indent="0" algn="l" defTabSz="1955800">
            <a:lnSpc>
              <a:spcPct val="90000"/>
            </a:lnSpc>
            <a:spcBef>
              <a:spcPct val="0"/>
            </a:spcBef>
            <a:spcAft>
              <a:spcPct val="35000"/>
            </a:spcAft>
            <a:buNone/>
          </a:pPr>
          <a:r>
            <a:rPr lang="en-US" sz="4400" kern="1200"/>
            <a:t>65,85,95 rule</a:t>
          </a:r>
        </a:p>
      </dsp:txBody>
      <dsp:txXfrm>
        <a:off x="0" y="2700"/>
        <a:ext cx="6291714" cy="1841777"/>
      </dsp:txXfrm>
    </dsp:sp>
    <dsp:sp modelId="{762B8924-9E87-5A44-BF5F-2EC2908B3D8A}">
      <dsp:nvSpPr>
        <dsp:cNvPr id="0" name=""/>
        <dsp:cNvSpPr/>
      </dsp:nvSpPr>
      <dsp:spPr>
        <a:xfrm>
          <a:off x="0" y="1844478"/>
          <a:ext cx="6291714" cy="0"/>
        </a:xfrm>
        <a:prstGeom prst="line">
          <a:avLst/>
        </a:prstGeom>
        <a:solidFill>
          <a:schemeClr val="accent5">
            <a:hueOff val="-3379271"/>
            <a:satOff val="-8710"/>
            <a:lumOff val="-5883"/>
            <a:alphaOff val="0"/>
          </a:schemeClr>
        </a:solidFill>
        <a:ln w="12700" cap="flat" cmpd="sng" algn="ctr">
          <a:solidFill>
            <a:schemeClr val="accent5">
              <a:hueOff val="-3379271"/>
              <a:satOff val="-8710"/>
              <a:lumOff val="-5883"/>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3C51F77-A5BE-D348-84C9-7C2D8AA1A9FE}">
      <dsp:nvSpPr>
        <dsp:cNvPr id="0" name=""/>
        <dsp:cNvSpPr/>
      </dsp:nvSpPr>
      <dsp:spPr>
        <a:xfrm>
          <a:off x="0" y="1844478"/>
          <a:ext cx="6291714" cy="184177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7640" tIns="167640" rIns="167640" bIns="167640" numCol="1" spcCol="1270" anchor="t" anchorCtr="0">
          <a:noAutofit/>
        </a:bodyPr>
        <a:lstStyle/>
        <a:p>
          <a:pPr marL="0" lvl="0" indent="0" algn="l" defTabSz="1955800">
            <a:lnSpc>
              <a:spcPct val="90000"/>
            </a:lnSpc>
            <a:spcBef>
              <a:spcPct val="0"/>
            </a:spcBef>
            <a:spcAft>
              <a:spcPct val="35000"/>
            </a:spcAft>
            <a:buNone/>
          </a:pPr>
          <a:r>
            <a:rPr lang="en-US" sz="4400" kern="1200"/>
            <a:t>Last offer is very precise with a 3 or a 7 at the end.</a:t>
          </a:r>
        </a:p>
      </dsp:txBody>
      <dsp:txXfrm>
        <a:off x="0" y="1844478"/>
        <a:ext cx="6291714" cy="1841777"/>
      </dsp:txXfrm>
    </dsp:sp>
    <dsp:sp modelId="{DBFE2BC4-322C-1E43-B948-B293C19F1B84}">
      <dsp:nvSpPr>
        <dsp:cNvPr id="0" name=""/>
        <dsp:cNvSpPr/>
      </dsp:nvSpPr>
      <dsp:spPr>
        <a:xfrm>
          <a:off x="0" y="3686256"/>
          <a:ext cx="6291714" cy="0"/>
        </a:xfrm>
        <a:prstGeom prst="line">
          <a:avLst/>
        </a:prstGeom>
        <a:solidFill>
          <a:schemeClr val="accent5">
            <a:hueOff val="-6758543"/>
            <a:satOff val="-17419"/>
            <a:lumOff val="-11765"/>
            <a:alphaOff val="0"/>
          </a:schemeClr>
        </a:solidFill>
        <a:ln w="12700" cap="flat" cmpd="sng" algn="ctr">
          <a:solidFill>
            <a:schemeClr val="accent5">
              <a:hueOff val="-6758543"/>
              <a:satOff val="-17419"/>
              <a:lumOff val="-11765"/>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06D4725-D1CC-6C4C-BCCA-54BFFC3803FE}">
      <dsp:nvSpPr>
        <dsp:cNvPr id="0" name=""/>
        <dsp:cNvSpPr/>
      </dsp:nvSpPr>
      <dsp:spPr>
        <a:xfrm>
          <a:off x="0" y="3686256"/>
          <a:ext cx="6291714" cy="184177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7640" tIns="167640" rIns="167640" bIns="167640" numCol="1" spcCol="1270" anchor="t" anchorCtr="0">
          <a:noAutofit/>
        </a:bodyPr>
        <a:lstStyle/>
        <a:p>
          <a:pPr marL="0" lvl="0" indent="0" algn="l" defTabSz="1955800">
            <a:lnSpc>
              <a:spcPct val="90000"/>
            </a:lnSpc>
            <a:spcBef>
              <a:spcPct val="0"/>
            </a:spcBef>
            <a:spcAft>
              <a:spcPct val="35000"/>
            </a:spcAft>
            <a:buNone/>
          </a:pPr>
          <a:r>
            <a:rPr lang="en-US" sz="4400" kern="1200"/>
            <a:t>And a funny or ridiculous extra</a:t>
          </a:r>
        </a:p>
      </dsp:txBody>
      <dsp:txXfrm>
        <a:off x="0" y="3686256"/>
        <a:ext cx="6291714" cy="1841777"/>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94DBE67-07FE-4DE8-903C-7047C23B4C7C}" type="datetimeFigureOut">
              <a:rPr lang="en-AU" smtClean="0"/>
              <a:t>26/6/2026</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406D5B0-4E27-45FC-BEC6-33A15FD7E0BB}" type="slidenum">
              <a:rPr lang="en-AU" smtClean="0"/>
              <a:t>‹#›</a:t>
            </a:fld>
            <a:endParaRPr lang="en-AU"/>
          </a:p>
        </p:txBody>
      </p:sp>
    </p:spTree>
    <p:extLst>
      <p:ext uri="{BB962C8B-B14F-4D97-AF65-F5344CB8AC3E}">
        <p14:creationId xmlns:p14="http://schemas.microsoft.com/office/powerpoint/2010/main" val="40555396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Post nominals -&gt; Technically proficient, but still struggled to influence.</a:t>
            </a:r>
          </a:p>
          <a:p>
            <a:endParaRPr lang="en-AU" dirty="0"/>
          </a:p>
          <a:p>
            <a:endParaRPr lang="en-AU" dirty="0"/>
          </a:p>
          <a:p>
            <a:endParaRPr lang="en-AU" dirty="0"/>
          </a:p>
        </p:txBody>
      </p:sp>
      <p:sp>
        <p:nvSpPr>
          <p:cNvPr id="4" name="Slide Number Placeholder 3"/>
          <p:cNvSpPr>
            <a:spLocks noGrp="1"/>
          </p:cNvSpPr>
          <p:nvPr>
            <p:ph type="sldNum" sz="quarter" idx="5"/>
          </p:nvPr>
        </p:nvSpPr>
        <p:spPr/>
        <p:txBody>
          <a:bodyPr/>
          <a:lstStyle/>
          <a:p>
            <a:fld id="{24A352F9-B9C9-5D44-ABCF-EB1A2FEC2E3A}" type="slidenum">
              <a:rPr lang="en-US" smtClean="0"/>
              <a:t>1</a:t>
            </a:fld>
            <a:endParaRPr lang="en-US"/>
          </a:p>
        </p:txBody>
      </p:sp>
    </p:spTree>
    <p:extLst>
      <p:ext uri="{BB962C8B-B14F-4D97-AF65-F5344CB8AC3E}">
        <p14:creationId xmlns:p14="http://schemas.microsoft.com/office/powerpoint/2010/main" val="132273867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we bring a technical mind set without the requisite Non-Technical Skills, it's like wielding the hammer of truth.</a:t>
            </a:r>
          </a:p>
          <a:p>
            <a:endParaRPr lang="en-US" dirty="0"/>
          </a:p>
          <a:p>
            <a:r>
              <a:rPr lang="en-US" dirty="0"/>
              <a:t>To the person you’re bringing the hammer down on, the hammer only ever looks like a weapon… they get defensive and outcomes, relationships and productivity suffer.</a:t>
            </a:r>
          </a:p>
          <a:p>
            <a:endParaRPr lang="en-US" dirty="0"/>
          </a:p>
          <a:p>
            <a:r>
              <a:rPr lang="en-AU" dirty="0"/>
              <a:t>Turned to Negotiation / Hostage / Conflict / Psychology</a:t>
            </a:r>
          </a:p>
          <a:p>
            <a:endParaRPr lang="en-AU" dirty="0"/>
          </a:p>
          <a:p>
            <a:r>
              <a:rPr lang="en-AU" dirty="0"/>
              <a:t>What does everyone do?</a:t>
            </a:r>
          </a:p>
          <a:p>
            <a:endParaRPr lang="en-AU" dirty="0"/>
          </a:p>
          <a:p>
            <a:r>
              <a:rPr lang="en-AU" dirty="0"/>
              <a:t>Sinclair Maths example.</a:t>
            </a:r>
          </a:p>
          <a:p>
            <a:endParaRPr lang="en-AU" dirty="0"/>
          </a:p>
          <a:p>
            <a:r>
              <a:rPr lang="en-AU" dirty="0"/>
              <a:t>What / Why for the girls and How for the boys</a:t>
            </a:r>
          </a:p>
          <a:p>
            <a:endParaRPr lang="en-US" dirty="0"/>
          </a:p>
        </p:txBody>
      </p:sp>
      <p:sp>
        <p:nvSpPr>
          <p:cNvPr id="4" name="Slide Number Placeholder 3"/>
          <p:cNvSpPr>
            <a:spLocks noGrp="1"/>
          </p:cNvSpPr>
          <p:nvPr>
            <p:ph type="sldNum" sz="quarter" idx="5"/>
          </p:nvPr>
        </p:nvSpPr>
        <p:spPr/>
        <p:txBody>
          <a:bodyPr/>
          <a:lstStyle/>
          <a:p>
            <a:fld id="{24A352F9-B9C9-5D44-ABCF-EB1A2FEC2E3A}" type="slidenum">
              <a:rPr lang="en-US" smtClean="0"/>
              <a:t>2</a:t>
            </a:fld>
            <a:endParaRPr lang="en-US"/>
          </a:p>
        </p:txBody>
      </p:sp>
    </p:spTree>
    <p:extLst>
      <p:ext uri="{BB962C8B-B14F-4D97-AF65-F5344CB8AC3E}">
        <p14:creationId xmlns:p14="http://schemas.microsoft.com/office/powerpoint/2010/main" val="348633660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9406D5B0-4E27-45FC-BEC6-33A15FD7E0BB}" type="slidenum">
              <a:rPr lang="en-AU" smtClean="0"/>
              <a:t>3</a:t>
            </a:fld>
            <a:endParaRPr lang="en-AU"/>
          </a:p>
        </p:txBody>
      </p:sp>
    </p:spTree>
    <p:extLst>
      <p:ext uri="{BB962C8B-B14F-4D97-AF65-F5344CB8AC3E}">
        <p14:creationId xmlns:p14="http://schemas.microsoft.com/office/powerpoint/2010/main" val="292557643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must cover the basics of Negotiation.</a:t>
            </a:r>
          </a:p>
          <a:p>
            <a:endParaRPr lang="en-US" dirty="0"/>
          </a:p>
          <a:p>
            <a:r>
              <a:rPr lang="en-US" dirty="0"/>
              <a:t>&lt;--</a:t>
            </a:r>
          </a:p>
          <a:p>
            <a:endParaRPr lang="en-US" dirty="0"/>
          </a:p>
          <a:p>
            <a:r>
              <a:rPr lang="en-US" dirty="0"/>
              <a:t>If you already now this then, sit back, relax and have a wine / beer</a:t>
            </a:r>
          </a:p>
          <a:p>
            <a:endParaRPr lang="en-US" dirty="0"/>
          </a:p>
          <a:p>
            <a:r>
              <a:rPr lang="en-US" dirty="0"/>
              <a:t>or if you don't already know this...</a:t>
            </a:r>
          </a:p>
        </p:txBody>
      </p:sp>
      <p:sp>
        <p:nvSpPr>
          <p:cNvPr id="4" name="Slide Number Placeholder 3"/>
          <p:cNvSpPr>
            <a:spLocks noGrp="1"/>
          </p:cNvSpPr>
          <p:nvPr>
            <p:ph type="sldNum" sz="quarter" idx="5"/>
          </p:nvPr>
        </p:nvSpPr>
        <p:spPr/>
        <p:txBody>
          <a:bodyPr/>
          <a:lstStyle/>
          <a:p>
            <a:fld id="{9406D5B0-4E27-45FC-BEC6-33A15FD7E0BB}" type="slidenum">
              <a:rPr lang="en-AU" smtClean="0"/>
              <a:t>4</a:t>
            </a:fld>
            <a:endParaRPr lang="en-AU"/>
          </a:p>
        </p:txBody>
      </p:sp>
    </p:spTree>
    <p:extLst>
      <p:ext uri="{BB962C8B-B14F-4D97-AF65-F5344CB8AC3E}">
        <p14:creationId xmlns:p14="http://schemas.microsoft.com/office/powerpoint/2010/main" val="395611550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&lt;-- </a:t>
            </a:r>
          </a:p>
          <a:p>
            <a:endParaRPr lang="en-US" dirty="0"/>
          </a:p>
          <a:p>
            <a:r>
              <a:rPr lang="en-US" dirty="0"/>
              <a:t>Area between worst cases.</a:t>
            </a:r>
          </a:p>
          <a:p>
            <a:endParaRPr lang="en-US" dirty="0"/>
          </a:p>
          <a:p>
            <a:r>
              <a:rPr lang="en-US" dirty="0"/>
              <a:t>Its dynamic and we will learn how to change it...</a:t>
            </a:r>
          </a:p>
        </p:txBody>
      </p:sp>
      <p:sp>
        <p:nvSpPr>
          <p:cNvPr id="4" name="Slide Number Placeholder 3"/>
          <p:cNvSpPr>
            <a:spLocks noGrp="1"/>
          </p:cNvSpPr>
          <p:nvPr>
            <p:ph type="sldNum" sz="quarter" idx="5"/>
          </p:nvPr>
        </p:nvSpPr>
        <p:spPr/>
        <p:txBody>
          <a:bodyPr/>
          <a:lstStyle/>
          <a:p>
            <a:fld id="{9406D5B0-4E27-45FC-BEC6-33A15FD7E0BB}" type="slidenum">
              <a:rPr lang="en-AU" smtClean="0"/>
              <a:t>5</a:t>
            </a:fld>
            <a:endParaRPr lang="en-AU"/>
          </a:p>
        </p:txBody>
      </p:sp>
    </p:spTree>
    <p:extLst>
      <p:ext uri="{BB962C8B-B14F-4D97-AF65-F5344CB8AC3E}">
        <p14:creationId xmlns:p14="http://schemas.microsoft.com/office/powerpoint/2010/main" val="35050350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&lt;--</a:t>
            </a:r>
          </a:p>
          <a:p>
            <a:endParaRPr lang="en-US" dirty="0"/>
          </a:p>
          <a:p>
            <a:r>
              <a:rPr lang="en-US" dirty="0"/>
              <a:t>What happens if we stalemate?</a:t>
            </a:r>
          </a:p>
          <a:p>
            <a:endParaRPr lang="en-US" dirty="0"/>
          </a:p>
          <a:p>
            <a:r>
              <a:rPr lang="en-US" dirty="0"/>
              <a:t>What will I do if we can’t make this deal?</a:t>
            </a:r>
          </a:p>
          <a:p>
            <a:endParaRPr lang="en-US" dirty="0"/>
          </a:p>
          <a:p>
            <a:r>
              <a:rPr lang="en-US" dirty="0"/>
              <a:t>Powerful thought experiment.</a:t>
            </a:r>
          </a:p>
          <a:p>
            <a:r>
              <a:rPr lang="en-US" dirty="0"/>
              <a:t>Can be quite revealing and empowering.</a:t>
            </a:r>
          </a:p>
          <a:p>
            <a:endParaRPr lang="en-US" dirty="0"/>
          </a:p>
        </p:txBody>
      </p:sp>
      <p:sp>
        <p:nvSpPr>
          <p:cNvPr id="4" name="Slide Number Placeholder 3"/>
          <p:cNvSpPr>
            <a:spLocks noGrp="1"/>
          </p:cNvSpPr>
          <p:nvPr>
            <p:ph type="sldNum" sz="quarter" idx="5"/>
          </p:nvPr>
        </p:nvSpPr>
        <p:spPr/>
        <p:txBody>
          <a:bodyPr/>
          <a:lstStyle/>
          <a:p>
            <a:fld id="{9406D5B0-4E27-45FC-BEC6-33A15FD7E0BB}" type="slidenum">
              <a:rPr lang="en-AU" smtClean="0"/>
              <a:t>6</a:t>
            </a:fld>
            <a:endParaRPr lang="en-AU"/>
          </a:p>
        </p:txBody>
      </p:sp>
    </p:spTree>
    <p:extLst>
      <p:ext uri="{BB962C8B-B14F-4D97-AF65-F5344CB8AC3E}">
        <p14:creationId xmlns:p14="http://schemas.microsoft.com/office/powerpoint/2010/main" val="57829133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Often negotiations are not limited to single issues.</a:t>
            </a:r>
          </a:p>
          <a:p>
            <a:endParaRPr lang="en-US" dirty="0"/>
          </a:p>
          <a:p>
            <a:r>
              <a:rPr lang="en-US" dirty="0"/>
              <a:t>All studies and game theory conclude that multi-issue negotiations are best negotiated with the issues combined / as a package.</a:t>
            </a:r>
          </a:p>
          <a:p>
            <a:endParaRPr lang="en-US" dirty="0"/>
          </a:p>
          <a:p>
            <a:r>
              <a:rPr lang="en-US" dirty="0"/>
              <a:t>Whole 10hr module on multi-issue / package deal value based negotiation preparation, but in short...</a:t>
            </a:r>
          </a:p>
          <a:p>
            <a:endParaRPr lang="en-US" dirty="0"/>
          </a:p>
          <a:p>
            <a:r>
              <a:rPr lang="en-US" dirty="0"/>
              <a:t>You value each issues options / circumstances against a base option for comparison.</a:t>
            </a:r>
          </a:p>
        </p:txBody>
      </p:sp>
      <p:sp>
        <p:nvSpPr>
          <p:cNvPr id="4" name="Slide Number Placeholder 3"/>
          <p:cNvSpPr>
            <a:spLocks noGrp="1"/>
          </p:cNvSpPr>
          <p:nvPr>
            <p:ph type="sldNum" sz="quarter" idx="5"/>
          </p:nvPr>
        </p:nvSpPr>
        <p:spPr/>
        <p:txBody>
          <a:bodyPr/>
          <a:lstStyle/>
          <a:p>
            <a:fld id="{9406D5B0-4E27-45FC-BEC6-33A15FD7E0BB}" type="slidenum">
              <a:rPr lang="en-AU" smtClean="0"/>
              <a:t>7</a:t>
            </a:fld>
            <a:endParaRPr lang="en-AU"/>
          </a:p>
        </p:txBody>
      </p:sp>
    </p:spTree>
    <p:extLst>
      <p:ext uri="{BB962C8B-B14F-4D97-AF65-F5344CB8AC3E}">
        <p14:creationId xmlns:p14="http://schemas.microsoft.com/office/powerpoint/2010/main" val="236489999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b="0" i="0" dirty="0">
                <a:solidFill>
                  <a:srgbClr val="213343"/>
                </a:solidFill>
                <a:effectLst/>
                <a:latin typeface="Lexend Deca"/>
              </a:rPr>
              <a:t>What is Anchoring Bias</a:t>
            </a:r>
          </a:p>
          <a:p>
            <a:endParaRPr lang="en-AU" b="0" i="0" dirty="0">
              <a:solidFill>
                <a:srgbClr val="213343"/>
              </a:solidFill>
              <a:effectLst/>
              <a:latin typeface="Lexend Deca"/>
            </a:endParaRPr>
          </a:p>
          <a:p>
            <a:r>
              <a:rPr lang="en-AU" b="0" i="0" dirty="0">
                <a:solidFill>
                  <a:srgbClr val="213343"/>
                </a:solidFill>
                <a:effectLst/>
                <a:latin typeface="Lexend Deca"/>
              </a:rPr>
              <a:t>The tendency to focus heavily on the first price in the context of a sale.</a:t>
            </a:r>
          </a:p>
          <a:p>
            <a:endParaRPr lang="en-AU" b="0" i="0" dirty="0">
              <a:solidFill>
                <a:srgbClr val="213343"/>
              </a:solidFill>
              <a:effectLst/>
              <a:latin typeface="Lexend Deca"/>
            </a:endParaRPr>
          </a:p>
          <a:p>
            <a:pPr algn="l"/>
            <a:r>
              <a:rPr lang="en-AU" b="0" i="0" dirty="0">
                <a:solidFill>
                  <a:srgbClr val="0A0A0A"/>
                </a:solidFill>
                <a:effectLst/>
                <a:latin typeface="ff-scala-sans-pro"/>
              </a:rPr>
              <a:t>Experiment involving a roulette where participants witnessed a spin. They were then asked whether they thought that the percentage of UN member countries from Africa was greater or smaller than the number spun on the wheel and to estimate the true percentage.</a:t>
            </a:r>
          </a:p>
          <a:p>
            <a:pPr algn="l"/>
            <a:endParaRPr lang="en-AU" b="0" i="0" dirty="0">
              <a:solidFill>
                <a:srgbClr val="0A0A0A"/>
              </a:solidFill>
              <a:effectLst/>
              <a:latin typeface="ff-scala-sans-pro"/>
            </a:endParaRPr>
          </a:p>
          <a:p>
            <a:pPr algn="l"/>
            <a:r>
              <a:rPr lang="en-AU" b="0" i="0" dirty="0">
                <a:solidFill>
                  <a:srgbClr val="0A0A0A"/>
                </a:solidFill>
                <a:effectLst/>
                <a:latin typeface="ff-scala-sans-pro"/>
              </a:rPr>
              <a:t>When the wheel stop on 10, on average, </a:t>
            </a:r>
            <a:r>
              <a:rPr lang="en-AU" b="0" i="0" dirty="0" err="1">
                <a:solidFill>
                  <a:srgbClr val="0A0A0A"/>
                </a:solidFill>
                <a:effectLst/>
                <a:latin typeface="ff-scala-sans-pro"/>
              </a:rPr>
              <a:t>px</a:t>
            </a:r>
            <a:r>
              <a:rPr lang="en-AU" b="0" i="0" dirty="0">
                <a:solidFill>
                  <a:srgbClr val="0A0A0A"/>
                </a:solidFill>
                <a:effectLst/>
                <a:latin typeface="ff-scala-sans-pro"/>
              </a:rPr>
              <a:t>. guessed 25%. </a:t>
            </a:r>
          </a:p>
          <a:p>
            <a:pPr algn="l"/>
            <a:r>
              <a:rPr lang="en-AU" b="0" i="0" dirty="0">
                <a:solidFill>
                  <a:srgbClr val="0A0A0A"/>
                </a:solidFill>
                <a:effectLst/>
                <a:latin typeface="ff-scala-sans-pro"/>
              </a:rPr>
              <a:t>Whereas, wheel stopped on 65, on average, guessed 45%. </a:t>
            </a:r>
          </a:p>
          <a:p>
            <a:pPr algn="l"/>
            <a:endParaRPr lang="en-AU" b="0" i="0" dirty="0">
              <a:solidFill>
                <a:srgbClr val="0A0A0A"/>
              </a:solidFill>
              <a:effectLst/>
              <a:latin typeface="ff-scala-sans-pro"/>
            </a:endParaRPr>
          </a:p>
          <a:p>
            <a:pPr algn="l"/>
            <a:r>
              <a:rPr lang="en-AU" b="0" i="0" dirty="0">
                <a:solidFill>
                  <a:srgbClr val="0A0A0A"/>
                </a:solidFill>
                <a:effectLst/>
                <a:latin typeface="ff-scala-sans-pro"/>
              </a:rPr>
              <a:t>A clearly random number... had a dramatic impact on people’s judgments.</a:t>
            </a:r>
          </a:p>
          <a:p>
            <a:pPr algn="l"/>
            <a:endParaRPr lang="en-AU" b="0" i="0" dirty="0">
              <a:solidFill>
                <a:srgbClr val="0A0A0A"/>
              </a:solidFill>
              <a:effectLst/>
              <a:latin typeface="ff-scala-sans-pro"/>
            </a:endParaRPr>
          </a:p>
          <a:p>
            <a:pPr algn="l"/>
            <a:r>
              <a:rPr lang="en-AU" b="0" i="0" dirty="0">
                <a:solidFill>
                  <a:srgbClr val="0A0A0A"/>
                </a:solidFill>
                <a:effectLst/>
                <a:latin typeface="ff-scala-sans-pro"/>
              </a:rPr>
              <a:t>What do we do with that information....?</a:t>
            </a:r>
          </a:p>
          <a:p>
            <a:endParaRPr lang="en-US" dirty="0"/>
          </a:p>
        </p:txBody>
      </p:sp>
      <p:sp>
        <p:nvSpPr>
          <p:cNvPr id="4" name="Slide Number Placeholder 3"/>
          <p:cNvSpPr>
            <a:spLocks noGrp="1"/>
          </p:cNvSpPr>
          <p:nvPr>
            <p:ph type="sldNum" sz="quarter" idx="5"/>
          </p:nvPr>
        </p:nvSpPr>
        <p:spPr/>
        <p:txBody>
          <a:bodyPr/>
          <a:lstStyle/>
          <a:p>
            <a:fld id="{9406D5B0-4E27-45FC-BEC6-33A15FD7E0BB}" type="slidenum">
              <a:rPr lang="en-AU" smtClean="0"/>
              <a:t>8</a:t>
            </a:fld>
            <a:endParaRPr lang="en-AU"/>
          </a:p>
        </p:txBody>
      </p:sp>
    </p:spTree>
    <p:extLst>
      <p:ext uri="{BB962C8B-B14F-4D97-AF65-F5344CB8AC3E}">
        <p14:creationId xmlns:p14="http://schemas.microsoft.com/office/powerpoint/2010/main" val="273782210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b="0" i="0" dirty="0">
                <a:solidFill>
                  <a:srgbClr val="0A0A0A"/>
                </a:solidFill>
                <a:effectLst/>
                <a:latin typeface="ff-scala-sans-pro"/>
              </a:rPr>
              <a:t>What's an Anchor?</a:t>
            </a:r>
          </a:p>
          <a:p>
            <a:pPr marL="0" marR="0" lvl="0" indent="0" algn="l" defTabSz="914400" rtl="0" eaLnBrk="1" fontAlgn="auto" latinLnBrk="0" hangingPunct="1">
              <a:lnSpc>
                <a:spcPct val="100000"/>
              </a:lnSpc>
              <a:spcBef>
                <a:spcPts val="0"/>
              </a:spcBef>
              <a:spcAft>
                <a:spcPts val="0"/>
              </a:spcAft>
              <a:buClrTx/>
              <a:buSzTx/>
              <a:buFontTx/>
              <a:buNone/>
              <a:tabLst/>
              <a:defRPr/>
            </a:pPr>
            <a:r>
              <a:rPr lang="en-AU" b="0" i="0" dirty="0">
                <a:solidFill>
                  <a:srgbClr val="0A0A0A"/>
                </a:solidFill>
                <a:effectLst/>
                <a:latin typeface="ff-scala-sans-pro"/>
              </a:rPr>
              <a:t>  </a:t>
            </a:r>
          </a:p>
          <a:p>
            <a:pPr marL="0" marR="0" lvl="0" indent="0" algn="l" defTabSz="914400" rtl="0" eaLnBrk="1" fontAlgn="auto" latinLnBrk="0" hangingPunct="1">
              <a:lnSpc>
                <a:spcPct val="100000"/>
              </a:lnSpc>
              <a:spcBef>
                <a:spcPts val="0"/>
              </a:spcBef>
              <a:spcAft>
                <a:spcPts val="0"/>
              </a:spcAft>
              <a:buClrTx/>
              <a:buSzTx/>
              <a:buFontTx/>
              <a:buNone/>
              <a:tabLst/>
              <a:defRPr/>
            </a:pPr>
            <a:r>
              <a:rPr lang="en-AU" b="0" i="0" dirty="0">
                <a:solidFill>
                  <a:srgbClr val="0A0A0A"/>
                </a:solidFill>
                <a:effectLst/>
                <a:latin typeface="ff-scala-sans-pro"/>
              </a:rPr>
              <a:t>Who goes first in a negotiation??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AU" b="0" i="0" dirty="0">
              <a:solidFill>
                <a:srgbClr val="0A0A0A"/>
              </a:solidFill>
              <a:effectLst/>
              <a:latin typeface="ff-scala-sans-pro"/>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AU" b="0" i="0" dirty="0">
                <a:solidFill>
                  <a:srgbClr val="0A0A0A"/>
                </a:solidFill>
                <a:effectLst/>
                <a:latin typeface="ff-scala-sans-pro"/>
              </a:rPr>
              <a:t>&lt;---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AU" b="0" i="0" dirty="0">
              <a:solidFill>
                <a:srgbClr val="0A0A0A"/>
              </a:solidFill>
              <a:effectLst/>
              <a:latin typeface="ff-scala-sans-pro"/>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AU" b="0" i="0" dirty="0">
                <a:solidFill>
                  <a:srgbClr val="0A0A0A"/>
                </a:solidFill>
                <a:effectLst/>
                <a:latin typeface="ff-scala-sans-pro"/>
              </a:rPr>
              <a:t>The decision of whether to make the first offer should be based on two factors: your knowledge of the </a:t>
            </a:r>
            <a:r>
              <a:rPr lang="en-AU" b="0" i="0" u="none" strike="noStrike" dirty="0">
                <a:solidFill>
                  <a:srgbClr val="15599D"/>
                </a:solidFill>
                <a:effectLst/>
                <a:latin typeface="ff-scala-sans-pro"/>
              </a:rPr>
              <a:t>ZOPA </a:t>
            </a:r>
            <a:r>
              <a:rPr lang="en-AU" b="0" i="0" dirty="0">
                <a:solidFill>
                  <a:srgbClr val="0A0A0A"/>
                </a:solidFill>
                <a:effectLst/>
                <a:latin typeface="ff-scala-sans-pro"/>
              </a:rPr>
              <a:t>— and your assessment of the other side’s knowledge of the ZOPA.</a:t>
            </a:r>
            <a:endParaRPr lang="en-AU" b="0" i="0" dirty="0">
              <a:solidFill>
                <a:srgbClr val="213343"/>
              </a:solidFill>
              <a:effectLst/>
              <a:latin typeface="Lexend Deca"/>
            </a:endParaRPr>
          </a:p>
          <a:p>
            <a:endParaRPr lang="en-US" dirty="0"/>
          </a:p>
          <a:p>
            <a:r>
              <a:rPr lang="en-US" dirty="0"/>
              <a:t>If all else fails, you should go first and go high / low relative your corresponding position.</a:t>
            </a:r>
          </a:p>
        </p:txBody>
      </p:sp>
      <p:sp>
        <p:nvSpPr>
          <p:cNvPr id="4" name="Slide Number Placeholder 3"/>
          <p:cNvSpPr>
            <a:spLocks noGrp="1"/>
          </p:cNvSpPr>
          <p:nvPr>
            <p:ph type="sldNum" sz="quarter" idx="5"/>
          </p:nvPr>
        </p:nvSpPr>
        <p:spPr/>
        <p:txBody>
          <a:bodyPr/>
          <a:lstStyle/>
          <a:p>
            <a:fld id="{9406D5B0-4E27-45FC-BEC6-33A15FD7E0BB}" type="slidenum">
              <a:rPr lang="en-AU" smtClean="0"/>
              <a:t>9</a:t>
            </a:fld>
            <a:endParaRPr lang="en-AU"/>
          </a:p>
        </p:txBody>
      </p:sp>
    </p:spTree>
    <p:extLst>
      <p:ext uri="{BB962C8B-B14F-4D97-AF65-F5344CB8AC3E}">
        <p14:creationId xmlns:p14="http://schemas.microsoft.com/office/powerpoint/2010/main" val="227143018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can take this one step further and actually do these thought experiments....</a:t>
            </a:r>
          </a:p>
          <a:p>
            <a:endParaRPr lang="en-US" dirty="0"/>
          </a:p>
          <a:p>
            <a:r>
              <a:rPr lang="en-US" dirty="0"/>
              <a:t>2,4,1,3</a:t>
            </a:r>
          </a:p>
        </p:txBody>
      </p:sp>
      <p:sp>
        <p:nvSpPr>
          <p:cNvPr id="4" name="Slide Number Placeholder 3"/>
          <p:cNvSpPr>
            <a:spLocks noGrp="1"/>
          </p:cNvSpPr>
          <p:nvPr>
            <p:ph type="sldNum" sz="quarter" idx="5"/>
          </p:nvPr>
        </p:nvSpPr>
        <p:spPr/>
        <p:txBody>
          <a:bodyPr/>
          <a:lstStyle/>
          <a:p>
            <a:fld id="{9406D5B0-4E27-45FC-BEC6-33A15FD7E0BB}" type="slidenum">
              <a:rPr lang="en-AU" smtClean="0"/>
              <a:t>10</a:t>
            </a:fld>
            <a:endParaRPr lang="en-AU"/>
          </a:p>
        </p:txBody>
      </p:sp>
    </p:spTree>
    <p:extLst>
      <p:ext uri="{BB962C8B-B14F-4D97-AF65-F5344CB8AC3E}">
        <p14:creationId xmlns:p14="http://schemas.microsoft.com/office/powerpoint/2010/main" val="242620204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Does anyone know this Dilemma?</a:t>
            </a:r>
          </a:p>
          <a:p>
            <a:endParaRPr lang="en-US" dirty="0"/>
          </a:p>
          <a:p>
            <a:r>
              <a:rPr lang="en-US" dirty="0"/>
              <a:t>The methods are diametrically opposed.</a:t>
            </a:r>
          </a:p>
        </p:txBody>
      </p:sp>
      <p:sp>
        <p:nvSpPr>
          <p:cNvPr id="4" name="Slide Number Placeholder 3"/>
          <p:cNvSpPr>
            <a:spLocks noGrp="1"/>
          </p:cNvSpPr>
          <p:nvPr>
            <p:ph type="sldNum" sz="quarter" idx="5"/>
          </p:nvPr>
        </p:nvSpPr>
        <p:spPr/>
        <p:txBody>
          <a:bodyPr/>
          <a:lstStyle/>
          <a:p>
            <a:fld id="{9406D5B0-4E27-45FC-BEC6-33A15FD7E0BB}" type="slidenum">
              <a:rPr lang="en-AU" smtClean="0"/>
              <a:t>11</a:t>
            </a:fld>
            <a:endParaRPr lang="en-AU"/>
          </a:p>
        </p:txBody>
      </p:sp>
    </p:spTree>
    <p:extLst>
      <p:ext uri="{BB962C8B-B14F-4D97-AF65-F5344CB8AC3E}">
        <p14:creationId xmlns:p14="http://schemas.microsoft.com/office/powerpoint/2010/main" val="8627173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Dinner and a movie analogy</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r>
              <a:rPr lang="en-AU" b="0" i="1" dirty="0">
                <a:effectLst/>
                <a:latin typeface="Rubik"/>
              </a:rPr>
              <a:t>your choices are at your spouse's expense - and compromise on both issues.</a:t>
            </a:r>
          </a:p>
          <a:p>
            <a:r>
              <a:rPr lang="en-AU" b="0" i="1" dirty="0">
                <a:effectLst/>
                <a:latin typeface="Rubik"/>
              </a:rPr>
              <a:t>But if you look beyond fixed-pie and consider how much you value each of your choices</a:t>
            </a:r>
            <a:endParaRPr lang="en-US" dirty="0"/>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Cake analogy</a:t>
            </a:r>
          </a:p>
          <a:p>
            <a:endParaRPr lang="en-US" dirty="0"/>
          </a:p>
          <a:p>
            <a:r>
              <a:rPr lang="en-US" dirty="0"/>
              <a:t>Apple analogy</a:t>
            </a:r>
          </a:p>
          <a:p>
            <a:endParaRPr lang="en-US" dirty="0"/>
          </a:p>
          <a:p>
            <a:r>
              <a:rPr lang="en-US" dirty="0"/>
              <a:t>Active Listening, respect, politeness, </a:t>
            </a:r>
            <a:r>
              <a:rPr lang="en-US" b="1" u="sng" dirty="0"/>
              <a:t>authenticity</a:t>
            </a:r>
            <a:r>
              <a:rPr lang="en-US" dirty="0"/>
              <a:t> -- Builds Trust</a:t>
            </a:r>
          </a:p>
          <a:p>
            <a:endParaRPr lang="en-US" dirty="0"/>
          </a:p>
          <a:p>
            <a:r>
              <a:rPr lang="en-US" dirty="0"/>
              <a:t>Shop analogy</a:t>
            </a:r>
          </a:p>
          <a:p>
            <a:r>
              <a:rPr lang="en-US" dirty="0"/>
              <a:t>- </a:t>
            </a:r>
            <a:r>
              <a:rPr lang="en-AU" b="0" i="0" dirty="0">
                <a:solidFill>
                  <a:srgbClr val="333333"/>
                </a:solidFill>
                <a:effectLst/>
                <a:latin typeface="Georgia" panose="02040502050405020303" pitchFamily="18" charset="0"/>
              </a:rPr>
              <a:t>What are you hoping to do after you sell the shop? … Wow, a sailing trip. </a:t>
            </a:r>
            <a:endParaRPr lang="en-US" dirty="0"/>
          </a:p>
          <a:p>
            <a:endParaRPr lang="en-US" dirty="0"/>
          </a:p>
          <a:p>
            <a:r>
              <a:rPr lang="en-US" dirty="0"/>
              <a:t>Gift Certificate analogy</a:t>
            </a:r>
          </a:p>
          <a:p>
            <a:endParaRPr lang="en-US" dirty="0"/>
          </a:p>
          <a:p>
            <a:r>
              <a:rPr lang="en-US" dirty="0"/>
              <a:t>&lt;&lt;&lt;------</a:t>
            </a:r>
          </a:p>
        </p:txBody>
      </p:sp>
      <p:sp>
        <p:nvSpPr>
          <p:cNvPr id="4" name="Slide Number Placeholder 3"/>
          <p:cNvSpPr>
            <a:spLocks noGrp="1"/>
          </p:cNvSpPr>
          <p:nvPr>
            <p:ph type="sldNum" sz="quarter" idx="5"/>
          </p:nvPr>
        </p:nvSpPr>
        <p:spPr/>
        <p:txBody>
          <a:bodyPr/>
          <a:lstStyle/>
          <a:p>
            <a:fld id="{9406D5B0-4E27-45FC-BEC6-33A15FD7E0BB}" type="slidenum">
              <a:rPr lang="en-AU" smtClean="0"/>
              <a:t>12</a:t>
            </a:fld>
            <a:endParaRPr lang="en-AU"/>
          </a:p>
        </p:txBody>
      </p:sp>
    </p:spTree>
    <p:extLst>
      <p:ext uri="{BB962C8B-B14F-4D97-AF65-F5344CB8AC3E}">
        <p14:creationId xmlns:p14="http://schemas.microsoft.com/office/powerpoint/2010/main" val="219797698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406D5B0-4E27-45FC-BEC6-33A15FD7E0BB}" type="slidenum">
              <a:rPr lang="en-AU" smtClean="0"/>
              <a:t>13</a:t>
            </a:fld>
            <a:endParaRPr lang="en-AU"/>
          </a:p>
        </p:txBody>
      </p:sp>
    </p:spTree>
    <p:extLst>
      <p:ext uri="{BB962C8B-B14F-4D97-AF65-F5344CB8AC3E}">
        <p14:creationId xmlns:p14="http://schemas.microsoft.com/office/powerpoint/2010/main" val="79525127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406D5B0-4E27-45FC-BEC6-33A15FD7E0BB}" type="slidenum">
              <a:rPr lang="en-AU" smtClean="0"/>
              <a:t>14</a:t>
            </a:fld>
            <a:endParaRPr lang="en-AU"/>
          </a:p>
        </p:txBody>
      </p:sp>
    </p:spTree>
    <p:extLst>
      <p:ext uri="{BB962C8B-B14F-4D97-AF65-F5344CB8AC3E}">
        <p14:creationId xmlns:p14="http://schemas.microsoft.com/office/powerpoint/2010/main" val="260555035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406D5B0-4E27-45FC-BEC6-33A15FD7E0BB}" type="slidenum">
              <a:rPr lang="en-AU" smtClean="0"/>
              <a:t>17</a:t>
            </a:fld>
            <a:endParaRPr lang="en-AU"/>
          </a:p>
        </p:txBody>
      </p:sp>
    </p:spTree>
    <p:extLst>
      <p:ext uri="{BB962C8B-B14F-4D97-AF65-F5344CB8AC3E}">
        <p14:creationId xmlns:p14="http://schemas.microsoft.com/office/powerpoint/2010/main" val="286321567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Take Homes:</a:t>
            </a:r>
          </a:p>
          <a:p>
            <a:endParaRPr lang="en-US" dirty="0"/>
          </a:p>
          <a:p>
            <a:r>
              <a:rPr lang="en-US" dirty="0"/>
              <a:t>BATNA helps dictate how you approach every negotiation and the Negotiators Dilemma.</a:t>
            </a:r>
          </a:p>
          <a:p>
            <a:endParaRPr lang="en-US" dirty="0"/>
          </a:p>
          <a:p>
            <a:r>
              <a:rPr lang="en-US" dirty="0"/>
              <a:t>Almost everything is a Negotiation:</a:t>
            </a:r>
          </a:p>
          <a:p>
            <a:endParaRPr lang="en-US" dirty="0"/>
          </a:p>
          <a:p>
            <a:r>
              <a:rPr lang="en-US" dirty="0"/>
              <a:t>If you could be harmed or not help by someone doing nothing, that is a Negotiation.</a:t>
            </a:r>
          </a:p>
          <a:p>
            <a:endParaRPr lang="en-US" dirty="0"/>
          </a:p>
          <a:p>
            <a:r>
              <a:rPr lang="en-US" dirty="0"/>
              <a:t>3-7-12 / day</a:t>
            </a:r>
          </a:p>
          <a:p>
            <a:endParaRPr lang="en-US" dirty="0"/>
          </a:p>
          <a:p>
            <a:r>
              <a:rPr lang="en-US" dirty="0"/>
              <a:t>Coffee, Airline / Hotel Check In, almost any customer service interaction.</a:t>
            </a:r>
          </a:p>
          <a:p>
            <a:endParaRPr lang="en-US" dirty="0"/>
          </a:p>
          <a:p>
            <a:r>
              <a:rPr lang="en-US" dirty="0"/>
              <a:t>At work… Clinical, staff, patients and admin (process changes, salary, personal aspects of work, career advancement, Quality Initiatives…)</a:t>
            </a:r>
          </a:p>
          <a:p>
            <a:endParaRPr lang="en-US" dirty="0"/>
          </a:p>
          <a:p>
            <a:r>
              <a:rPr lang="en-US" dirty="0"/>
              <a:t>At home… Spouse, Kids, Relative.</a:t>
            </a:r>
          </a:p>
          <a:p>
            <a:r>
              <a:rPr lang="en-US" dirty="0"/>
              <a:t>PAUSE.....</a:t>
            </a:r>
          </a:p>
          <a:p>
            <a:endParaRPr lang="en-US" dirty="0"/>
          </a:p>
          <a:p>
            <a:r>
              <a:rPr lang="en-US" dirty="0"/>
              <a:t>However it is now……….</a:t>
            </a:r>
            <a:r>
              <a:rPr lang="en-US" b="1" u="sng" dirty="0"/>
              <a:t>it could be better, you could do better.</a:t>
            </a:r>
          </a:p>
          <a:p>
            <a:endParaRPr lang="en-US" dirty="0"/>
          </a:p>
          <a:p>
            <a:r>
              <a:rPr lang="en-US" dirty="0"/>
              <a:t>Thursday!  I’m going to tell you How?</a:t>
            </a:r>
          </a:p>
          <a:p>
            <a:endParaRPr lang="en-US" dirty="0"/>
          </a:p>
        </p:txBody>
      </p:sp>
      <p:sp>
        <p:nvSpPr>
          <p:cNvPr id="4" name="Slide Number Placeholder 3"/>
          <p:cNvSpPr>
            <a:spLocks noGrp="1"/>
          </p:cNvSpPr>
          <p:nvPr>
            <p:ph type="sldNum" sz="quarter" idx="5"/>
          </p:nvPr>
        </p:nvSpPr>
        <p:spPr/>
        <p:txBody>
          <a:bodyPr/>
          <a:lstStyle/>
          <a:p>
            <a:fld id="{9406D5B0-4E27-45FC-BEC6-33A15FD7E0BB}" type="slidenum">
              <a:rPr lang="en-AU" smtClean="0"/>
              <a:t>18</a:t>
            </a:fld>
            <a:endParaRPr lang="en-AU"/>
          </a:p>
        </p:txBody>
      </p:sp>
    </p:spTree>
    <p:extLst>
      <p:ext uri="{BB962C8B-B14F-4D97-AF65-F5344CB8AC3E}">
        <p14:creationId xmlns:p14="http://schemas.microsoft.com/office/powerpoint/2010/main" val="218657192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Just a preface to the presentation -- We are going to use this stuff for good and not evil.</a:t>
            </a:r>
          </a:p>
          <a:p>
            <a:endParaRPr lang="en-US" dirty="0"/>
          </a:p>
          <a:p>
            <a:r>
              <a:rPr lang="en-US" dirty="0"/>
              <a:t>You certainly can use it selfishly, but karmas a bitch.</a:t>
            </a:r>
          </a:p>
          <a:p>
            <a:endParaRPr lang="en-US" dirty="0"/>
          </a:p>
          <a:p>
            <a:r>
              <a:rPr lang="en-US" dirty="0"/>
              <a:t>So for all intense and purposes, we are learning this to be used authentically and altruistically.</a:t>
            </a:r>
          </a:p>
        </p:txBody>
      </p:sp>
      <p:sp>
        <p:nvSpPr>
          <p:cNvPr id="4" name="Slide Number Placeholder 3"/>
          <p:cNvSpPr>
            <a:spLocks noGrp="1"/>
          </p:cNvSpPr>
          <p:nvPr>
            <p:ph type="sldNum" sz="quarter" idx="5"/>
          </p:nvPr>
        </p:nvSpPr>
        <p:spPr/>
        <p:txBody>
          <a:bodyPr/>
          <a:lstStyle/>
          <a:p>
            <a:fld id="{9406D5B0-4E27-45FC-BEC6-33A15FD7E0BB}" type="slidenum">
              <a:rPr lang="en-AU" smtClean="0"/>
              <a:t>19</a:t>
            </a:fld>
            <a:endParaRPr lang="en-AU"/>
          </a:p>
        </p:txBody>
      </p:sp>
    </p:spTree>
    <p:extLst>
      <p:ext uri="{BB962C8B-B14F-4D97-AF65-F5344CB8AC3E}">
        <p14:creationId xmlns:p14="http://schemas.microsoft.com/office/powerpoint/2010/main" val="422267192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4A352F9-B9C9-5D44-ABCF-EB1A2FEC2E3A}" type="slidenum">
              <a:rPr lang="en-US" smtClean="0"/>
              <a:t>20</a:t>
            </a:fld>
            <a:endParaRPr lang="en-US"/>
          </a:p>
        </p:txBody>
      </p:sp>
    </p:spTree>
    <p:extLst>
      <p:ext uri="{BB962C8B-B14F-4D97-AF65-F5344CB8AC3E}">
        <p14:creationId xmlns:p14="http://schemas.microsoft.com/office/powerpoint/2010/main" val="27559996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Wingdings" pitchFamily="2" charset="2"/>
              <a:buNone/>
            </a:pPr>
            <a:r>
              <a:rPr lang="en-US" dirty="0">
                <a:cs typeface="Calibri"/>
              </a:rPr>
              <a:t>&lt;---</a:t>
            </a:r>
          </a:p>
          <a:p>
            <a:pPr marL="0" indent="0">
              <a:buFont typeface="Wingdings" pitchFamily="2" charset="2"/>
              <a:buNone/>
            </a:pPr>
            <a:endParaRPr lang="en-US" dirty="0">
              <a:cs typeface="Calibri"/>
            </a:endParaRPr>
          </a:p>
          <a:p>
            <a:pPr marL="0" indent="0">
              <a:buFont typeface="Wingdings" pitchFamily="2" charset="2"/>
              <a:buNone/>
            </a:pPr>
            <a:r>
              <a:rPr lang="en-US" dirty="0">
                <a:cs typeface="Calibri"/>
              </a:rPr>
              <a:t>Some of these will feel awkward, difficult and even forced – the antidote is Practice.</a:t>
            </a:r>
          </a:p>
          <a:p>
            <a:pPr marL="0" indent="0">
              <a:buFont typeface="Wingdings" pitchFamily="2" charset="2"/>
              <a:buNone/>
            </a:pPr>
            <a:endParaRPr lang="en-US" dirty="0">
              <a:cs typeface="Calibri"/>
            </a:endParaRPr>
          </a:p>
          <a:p>
            <a:pPr marL="0" indent="0">
              <a:buFont typeface="Wingdings" pitchFamily="2" charset="2"/>
              <a:buNone/>
            </a:pPr>
            <a:r>
              <a:rPr lang="en-US" dirty="0">
                <a:cs typeface="Calibri"/>
              </a:rPr>
              <a:t>Ruthlessly Plagiarized Example of somethings difficult.</a:t>
            </a:r>
          </a:p>
          <a:p>
            <a:pPr marL="0" indent="0">
              <a:buFont typeface="Wingdings" pitchFamily="2" charset="2"/>
              <a:buNone/>
            </a:pPr>
            <a:endParaRPr lang="en-US" dirty="0">
              <a:cs typeface="Calibri"/>
            </a:endParaRPr>
          </a:p>
          <a:p>
            <a:r>
              <a:rPr lang="en-US" dirty="0"/>
              <a:t>What is felt as Difficulty is actually the creation of a new neural pathway.</a:t>
            </a:r>
          </a:p>
          <a:p>
            <a:endParaRPr lang="en-US" dirty="0"/>
          </a:p>
          <a:p>
            <a:r>
              <a:rPr lang="en-US" dirty="0"/>
              <a:t>Finger / Thumb</a:t>
            </a:r>
          </a:p>
          <a:p>
            <a:endParaRPr lang="en-US" dirty="0"/>
          </a:p>
          <a:p>
            <a:r>
              <a:rPr lang="en-US" dirty="0"/>
              <a:t>How many times do you need to try that before you can "get it"?</a:t>
            </a:r>
          </a:p>
          <a:p>
            <a:endParaRPr lang="en-US" dirty="0"/>
          </a:p>
          <a:p>
            <a:r>
              <a:rPr lang="en-US" dirty="0"/>
              <a:t>63</a:t>
            </a:r>
          </a:p>
          <a:p>
            <a:endParaRPr lang="en-US" dirty="0"/>
          </a:p>
          <a:p>
            <a:pPr marL="0" indent="0">
              <a:buFont typeface="Wingdings" pitchFamily="2" charset="2"/>
              <a:buNone/>
            </a:pPr>
            <a:r>
              <a:rPr lang="en-AU" b="0" i="0" dirty="0">
                <a:solidFill>
                  <a:srgbClr val="212529"/>
                </a:solidFill>
                <a:effectLst/>
                <a:latin typeface="system-ui"/>
              </a:rPr>
              <a:t>Practice makes perfect. Use these communication skills in low-stakes scenarios</a:t>
            </a:r>
            <a:r>
              <a:rPr lang="en-US" b="0" i="0" dirty="0">
                <a:solidFill>
                  <a:srgbClr val="212529"/>
                </a:solidFill>
                <a:effectLst/>
                <a:latin typeface="system-ui"/>
                <a:cs typeface="Calibri"/>
              </a:rPr>
              <a:t> to start.</a:t>
            </a:r>
          </a:p>
          <a:p>
            <a:endParaRPr lang="en-US" dirty="0"/>
          </a:p>
        </p:txBody>
      </p:sp>
      <p:sp>
        <p:nvSpPr>
          <p:cNvPr id="4" name="Slide Number Placeholder 3"/>
          <p:cNvSpPr>
            <a:spLocks noGrp="1"/>
          </p:cNvSpPr>
          <p:nvPr>
            <p:ph type="sldNum" sz="quarter" idx="5"/>
          </p:nvPr>
        </p:nvSpPr>
        <p:spPr/>
        <p:txBody>
          <a:bodyPr/>
          <a:lstStyle/>
          <a:p>
            <a:fld id="{9406D5B0-4E27-45FC-BEC6-33A15FD7E0BB}" type="slidenum">
              <a:rPr lang="en-AU" smtClean="0"/>
              <a:t>21</a:t>
            </a:fld>
            <a:endParaRPr lang="en-AU"/>
          </a:p>
        </p:txBody>
      </p:sp>
    </p:spTree>
    <p:extLst>
      <p:ext uri="{BB962C8B-B14F-4D97-AF65-F5344CB8AC3E}">
        <p14:creationId xmlns:p14="http://schemas.microsoft.com/office/powerpoint/2010/main" val="331623766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cs typeface="Calibri"/>
              </a:rPr>
              <a:t>This is Chris Voss, Head of FBI Hostage Negotiation for 20 years. Then Harvard Business School and now Black Swab Group.</a:t>
            </a:r>
          </a:p>
          <a:p>
            <a:endParaRPr lang="en-US" dirty="0">
              <a:cs typeface="Calibri"/>
            </a:endParaRPr>
          </a:p>
          <a:p>
            <a:r>
              <a:rPr lang="en-US" dirty="0">
                <a:cs typeface="Calibri"/>
              </a:rPr>
              <a:t>What is Tactical Empathy… It’s just empathy, with "tactical" added on because that sounds cool and got people to buy in / buy a book / buy the idea.</a:t>
            </a:r>
          </a:p>
          <a:p>
            <a:endParaRPr lang="en-US" dirty="0">
              <a:cs typeface="Calibri"/>
            </a:endParaRPr>
          </a:p>
          <a:p>
            <a:r>
              <a:rPr lang="en-US" dirty="0">
                <a:cs typeface="Calibri"/>
              </a:rPr>
              <a:t>But...Empathy builds Trust -- and with Trust we can influence in that authentic genuine way.</a:t>
            </a:r>
          </a:p>
          <a:p>
            <a:endParaRPr lang="en-US" dirty="0">
              <a:cs typeface="Calibri"/>
            </a:endParaRPr>
          </a:p>
          <a:p>
            <a:r>
              <a:rPr lang="en-US" dirty="0">
                <a:cs typeface="Calibri"/>
              </a:rPr>
              <a:t>We want the:</a:t>
            </a:r>
          </a:p>
          <a:p>
            <a:pPr marL="171450" indent="-171450">
              <a:buFont typeface="Wingdings" pitchFamily="2" charset="2"/>
              <a:buChar char="è"/>
            </a:pPr>
            <a:r>
              <a:rPr lang="en-US" dirty="0">
                <a:cs typeface="Calibri"/>
              </a:rPr>
              <a:t>Best Understanding between the groups.</a:t>
            </a:r>
          </a:p>
          <a:p>
            <a:pPr marL="171450" marR="0" lvl="0" indent="-171450" algn="l" defTabSz="914400" rtl="0" eaLnBrk="1" fontAlgn="auto" latinLnBrk="0" hangingPunct="1">
              <a:lnSpc>
                <a:spcPct val="100000"/>
              </a:lnSpc>
              <a:spcBef>
                <a:spcPts val="0"/>
              </a:spcBef>
              <a:spcAft>
                <a:spcPts val="0"/>
              </a:spcAft>
              <a:buClrTx/>
              <a:buSzTx/>
              <a:buFont typeface="Wingdings" pitchFamily="2" charset="2"/>
              <a:buChar char="è"/>
              <a:tabLst/>
              <a:defRPr/>
            </a:pPr>
            <a:r>
              <a:rPr lang="en-US" dirty="0">
                <a:cs typeface="Calibri"/>
              </a:rPr>
              <a:t>Best Deal, </a:t>
            </a:r>
            <a:r>
              <a:rPr lang="en-US" b="1" u="sng" dirty="0">
                <a:cs typeface="Calibri"/>
              </a:rPr>
              <a:t>but</a:t>
            </a:r>
            <a:r>
              <a:rPr lang="en-US" dirty="0">
                <a:cs typeface="Calibri"/>
              </a:rPr>
              <a:t> with the Best Relationship</a:t>
            </a:r>
          </a:p>
          <a:p>
            <a:pPr marL="628650" marR="0" lvl="1" indent="-171450" algn="l" defTabSz="914400" rtl="0" eaLnBrk="1" fontAlgn="auto" latinLnBrk="0" hangingPunct="1">
              <a:lnSpc>
                <a:spcPct val="100000"/>
              </a:lnSpc>
              <a:spcBef>
                <a:spcPts val="0"/>
              </a:spcBef>
              <a:spcAft>
                <a:spcPts val="0"/>
              </a:spcAft>
              <a:buClrTx/>
              <a:buSzTx/>
              <a:buFont typeface="Wingdings" pitchFamily="2" charset="2"/>
              <a:buChar char="è"/>
              <a:tabLst/>
              <a:defRPr/>
            </a:pPr>
            <a:r>
              <a:rPr lang="en-US" dirty="0">
                <a:cs typeface="Calibri"/>
              </a:rPr>
              <a:t> </a:t>
            </a:r>
            <a:r>
              <a:rPr lang="en-US" b="1" u="sng" dirty="0">
                <a:cs typeface="Calibri"/>
              </a:rPr>
              <a:t>Push</a:t>
            </a:r>
            <a:r>
              <a:rPr lang="en-US" dirty="0">
                <a:cs typeface="Calibri"/>
              </a:rPr>
              <a:t> them to their very very very best offer and still be able to collaborate after that.</a:t>
            </a:r>
          </a:p>
          <a:p>
            <a:pPr marL="628650" marR="0" lvl="1" indent="-171450" algn="l" defTabSz="914400" rtl="0" eaLnBrk="1" fontAlgn="auto" latinLnBrk="0" hangingPunct="1">
              <a:lnSpc>
                <a:spcPct val="100000"/>
              </a:lnSpc>
              <a:spcBef>
                <a:spcPts val="0"/>
              </a:spcBef>
              <a:spcAft>
                <a:spcPts val="0"/>
              </a:spcAft>
              <a:buClrTx/>
              <a:buSzTx/>
              <a:buFont typeface="Wingdings" pitchFamily="2" charset="2"/>
              <a:buChar char="è"/>
              <a:tabLst/>
              <a:defRPr/>
            </a:pPr>
            <a:r>
              <a:rPr lang="en-US" dirty="0">
                <a:cs typeface="Calibri"/>
              </a:rPr>
              <a:t> But...You </a:t>
            </a:r>
            <a:r>
              <a:rPr lang="en-US" b="1" u="sng" dirty="0">
                <a:cs typeface="Calibri"/>
              </a:rPr>
              <a:t>don’t</a:t>
            </a:r>
            <a:r>
              <a:rPr lang="en-US" dirty="0">
                <a:cs typeface="Calibri"/>
              </a:rPr>
              <a:t> want to make an offer where they say “Ok that sounds great”, WHY? What did you leave on the table?1!!</a:t>
            </a:r>
          </a:p>
          <a:p>
            <a:pPr marL="171450" indent="-171450">
              <a:buFont typeface="Wingdings" pitchFamily="2" charset="2"/>
              <a:buChar char="è"/>
            </a:pPr>
            <a:r>
              <a:rPr lang="en-US" dirty="0">
                <a:cs typeface="Calibri"/>
              </a:rPr>
              <a:t>Best Execution</a:t>
            </a:r>
          </a:p>
          <a:p>
            <a:pPr marL="171450" indent="-171450">
              <a:buFont typeface="Wingdings" pitchFamily="2" charset="2"/>
              <a:buChar char="è"/>
            </a:pPr>
            <a:endParaRPr lang="en-US" dirty="0">
              <a:cs typeface="Calibri"/>
            </a:endParaRPr>
          </a:p>
          <a:p>
            <a:pPr marL="0" indent="0">
              <a:buFont typeface="Wingdings" pitchFamily="2" charset="2"/>
              <a:buNone/>
            </a:pPr>
            <a:r>
              <a:rPr lang="en-US" dirty="0">
                <a:cs typeface="Calibri"/>
              </a:rPr>
              <a:t>We don’t want to use this stuff to make or expect people to do things they can’t or shouldn't do…</a:t>
            </a:r>
          </a:p>
          <a:p>
            <a:pPr marL="0" indent="0">
              <a:buFont typeface="Wingdings" pitchFamily="2" charset="2"/>
              <a:buNone/>
            </a:pPr>
            <a:endParaRPr lang="en-US" dirty="0">
              <a:cs typeface="Calibri"/>
            </a:endParaRPr>
          </a:p>
          <a:p>
            <a:pPr marL="0" indent="0">
              <a:buFont typeface="Wingdings" pitchFamily="2" charset="2"/>
              <a:buNone/>
            </a:pPr>
            <a:r>
              <a:rPr lang="en-US" dirty="0">
                <a:cs typeface="Calibri"/>
              </a:rPr>
              <a:t>We just want to ensure that we get every last drop out of them, that they can do / and are willing and able to do for us…</a:t>
            </a:r>
          </a:p>
          <a:p>
            <a:pPr marL="171450" indent="-171450">
              <a:buFont typeface="Wingdings" pitchFamily="2" charset="2"/>
              <a:buChar char="è"/>
            </a:pPr>
            <a:endParaRPr lang="en-US" dirty="0">
              <a:cs typeface="Calibri"/>
            </a:endParaRPr>
          </a:p>
          <a:p>
            <a:pPr marL="171450" indent="-171450">
              <a:buFont typeface="Wingdings" pitchFamily="2" charset="2"/>
              <a:buChar char="è"/>
            </a:pPr>
            <a:endParaRPr lang="en-US" dirty="0">
              <a:cs typeface="Calibri"/>
            </a:endParaRPr>
          </a:p>
          <a:p>
            <a:pPr marL="171450" indent="-171450">
              <a:buFont typeface="Wingdings" pitchFamily="2" charset="2"/>
              <a:buChar char="è"/>
            </a:pPr>
            <a:endParaRPr lang="en-US" dirty="0">
              <a:cs typeface="Calibri"/>
            </a:endParaRPr>
          </a:p>
        </p:txBody>
      </p:sp>
      <p:sp>
        <p:nvSpPr>
          <p:cNvPr id="4" name="Slide Number Placeholder 3"/>
          <p:cNvSpPr>
            <a:spLocks noGrp="1"/>
          </p:cNvSpPr>
          <p:nvPr>
            <p:ph type="sldNum" sz="quarter" idx="5"/>
          </p:nvPr>
        </p:nvSpPr>
        <p:spPr/>
        <p:txBody>
          <a:bodyPr/>
          <a:lstStyle/>
          <a:p>
            <a:fld id="{9406D5B0-4E27-45FC-BEC6-33A15FD7E0BB}" type="slidenum">
              <a:rPr lang="en-AU" smtClean="0"/>
              <a:t>22</a:t>
            </a:fld>
            <a:endParaRPr lang="en-AU"/>
          </a:p>
        </p:txBody>
      </p:sp>
    </p:spTree>
    <p:extLst>
      <p:ext uri="{BB962C8B-B14F-4D97-AF65-F5344CB8AC3E}">
        <p14:creationId xmlns:p14="http://schemas.microsoft.com/office/powerpoint/2010/main" val="126385089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600" dirty="0"/>
              <a:t>We will quickly touch on Tone.</a:t>
            </a:r>
          </a:p>
          <a:p>
            <a:endParaRPr lang="en-US" sz="1600" dirty="0"/>
          </a:p>
          <a:p>
            <a:r>
              <a:rPr lang="en-US" sz="1600" dirty="0"/>
              <a:t>The tone isn’t passive, passive aggressive, it isn't aggressive, it isn’t assertive, it isn’t anxious or pressured.</a:t>
            </a:r>
          </a:p>
          <a:p>
            <a:endParaRPr lang="en-US" sz="1600" dirty="0"/>
          </a:p>
          <a:p>
            <a:r>
              <a:rPr lang="en-US" sz="1600" dirty="0"/>
              <a:t>It is the ...late… night … DJ ... Voice.</a:t>
            </a:r>
          </a:p>
        </p:txBody>
      </p:sp>
      <p:sp>
        <p:nvSpPr>
          <p:cNvPr id="4" name="Slide Number Placeholder 3"/>
          <p:cNvSpPr>
            <a:spLocks noGrp="1"/>
          </p:cNvSpPr>
          <p:nvPr>
            <p:ph type="sldNum" sz="quarter" idx="5"/>
          </p:nvPr>
        </p:nvSpPr>
        <p:spPr/>
        <p:txBody>
          <a:bodyPr/>
          <a:lstStyle/>
          <a:p>
            <a:fld id="{9406D5B0-4E27-45FC-BEC6-33A15FD7E0BB}" type="slidenum">
              <a:rPr lang="en-AU" smtClean="0"/>
              <a:t>23</a:t>
            </a:fld>
            <a:endParaRPr lang="en-AU"/>
          </a:p>
        </p:txBody>
      </p:sp>
    </p:spTree>
    <p:extLst>
      <p:ext uri="{BB962C8B-B14F-4D97-AF65-F5344CB8AC3E}">
        <p14:creationId xmlns:p14="http://schemas.microsoft.com/office/powerpoint/2010/main" val="137664093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b="0" i="0" dirty="0">
                <a:solidFill>
                  <a:srgbClr val="151618"/>
                </a:solidFill>
                <a:effectLst/>
                <a:latin typeface="Inter"/>
              </a:rPr>
              <a:t>Now we'll get into techniques...</a:t>
            </a:r>
          </a:p>
          <a:p>
            <a:endParaRPr lang="en-AU" b="0" i="0" dirty="0">
              <a:solidFill>
                <a:srgbClr val="151618"/>
              </a:solidFill>
              <a:effectLst/>
              <a:latin typeface="Inter"/>
            </a:endParaRPr>
          </a:p>
          <a:p>
            <a:r>
              <a:rPr lang="en-AU" b="0" i="0" dirty="0">
                <a:solidFill>
                  <a:srgbClr val="151618"/>
                </a:solidFill>
                <a:effectLst/>
                <a:latin typeface="Inter"/>
              </a:rPr>
              <a:t>If you wanted a Jedi mind trick to plant Empathy and Trust into people's brains it's Mirroring, or </a:t>
            </a:r>
            <a:r>
              <a:rPr lang="en-AU" b="0" i="0" dirty="0" err="1">
                <a:solidFill>
                  <a:srgbClr val="151618"/>
                </a:solidFill>
                <a:effectLst/>
                <a:latin typeface="Inter"/>
              </a:rPr>
              <a:t>Isopraxism</a:t>
            </a:r>
            <a:r>
              <a:rPr lang="en-AU" b="0" i="0" dirty="0">
                <a:solidFill>
                  <a:srgbClr val="151618"/>
                </a:solidFill>
                <a:effectLst/>
                <a:latin typeface="Inter"/>
              </a:rPr>
              <a:t> for real keen beans, but we'll stick with mirroring.</a:t>
            </a:r>
          </a:p>
          <a:p>
            <a:endParaRPr lang="en-AU" b="0" i="0" dirty="0">
              <a:solidFill>
                <a:srgbClr val="151618"/>
              </a:solidFill>
              <a:effectLst/>
              <a:latin typeface="Inter"/>
            </a:endParaRPr>
          </a:p>
          <a:p>
            <a:r>
              <a:rPr lang="en-AU" b="0" i="0" dirty="0">
                <a:solidFill>
                  <a:srgbClr val="151618"/>
                </a:solidFill>
                <a:effectLst/>
                <a:latin typeface="Inter"/>
              </a:rPr>
              <a:t>Mirroring is when two individuals unconsciously match each other's body language and </a:t>
            </a:r>
            <a:r>
              <a:rPr lang="en-AU" b="0" i="0" u="none" dirty="0">
                <a:solidFill>
                  <a:srgbClr val="151618"/>
                </a:solidFill>
                <a:effectLst/>
                <a:latin typeface="Inter"/>
              </a:rPr>
              <a:t>movements. </a:t>
            </a:r>
          </a:p>
          <a:p>
            <a:endParaRPr lang="en-AU" b="0" i="0" u="none" dirty="0">
              <a:solidFill>
                <a:srgbClr val="151618"/>
              </a:solidFill>
              <a:effectLst/>
              <a:latin typeface="Inter"/>
            </a:endParaRPr>
          </a:p>
          <a:p>
            <a:r>
              <a:rPr lang="en-AU" b="0" i="0" u="none" dirty="0">
                <a:solidFill>
                  <a:srgbClr val="151618"/>
                </a:solidFill>
                <a:effectLst/>
                <a:latin typeface="Inter"/>
              </a:rPr>
              <a:t>When used consciously, it is</a:t>
            </a:r>
            <a:r>
              <a:rPr lang="en-AU" b="0" i="0" dirty="0">
                <a:solidFill>
                  <a:srgbClr val="151618"/>
                </a:solidFill>
                <a:effectLst/>
                <a:latin typeface="Inter"/>
              </a:rPr>
              <a:t> an incredibly effective way to build rapport and create a sense of trust and understanding between two people.</a:t>
            </a:r>
            <a:endParaRPr lang="en-US" b="0" i="0" dirty="0">
              <a:solidFill>
                <a:srgbClr val="151618"/>
              </a:solidFill>
              <a:effectLst/>
              <a:latin typeface="Inter"/>
            </a:endParaRPr>
          </a:p>
          <a:p>
            <a:endParaRPr lang="en-AU" b="0" i="0" dirty="0">
              <a:solidFill>
                <a:srgbClr val="151618"/>
              </a:solidFill>
              <a:effectLst/>
              <a:latin typeface="Inter"/>
            </a:endParaRPr>
          </a:p>
          <a:p>
            <a:r>
              <a:rPr lang="en-AU" b="0" i="0" dirty="0">
                <a:solidFill>
                  <a:srgbClr val="151618"/>
                </a:solidFill>
                <a:effectLst/>
                <a:latin typeface="Inter"/>
              </a:rPr>
              <a:t>This isn’t limited to just body movements – In negotiation we ‘mirror’ verbal conversational patterns. </a:t>
            </a:r>
            <a:endParaRPr lang="en-US" dirty="0"/>
          </a:p>
        </p:txBody>
      </p:sp>
      <p:sp>
        <p:nvSpPr>
          <p:cNvPr id="4" name="Slide Number Placeholder 3"/>
          <p:cNvSpPr>
            <a:spLocks noGrp="1"/>
          </p:cNvSpPr>
          <p:nvPr>
            <p:ph type="sldNum" sz="quarter" idx="5"/>
          </p:nvPr>
        </p:nvSpPr>
        <p:spPr/>
        <p:txBody>
          <a:bodyPr/>
          <a:lstStyle/>
          <a:p>
            <a:fld id="{9406D5B0-4E27-45FC-BEC6-33A15FD7E0BB}" type="slidenum">
              <a:rPr lang="en-AU" smtClean="0"/>
              <a:t>24</a:t>
            </a:fld>
            <a:endParaRPr lang="en-AU"/>
          </a:p>
        </p:txBody>
      </p:sp>
    </p:spTree>
    <p:extLst>
      <p:ext uri="{BB962C8B-B14F-4D97-AF65-F5344CB8AC3E}">
        <p14:creationId xmlns:p14="http://schemas.microsoft.com/office/powerpoint/2010/main" val="419538783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cs typeface="Calibri"/>
              </a:rPr>
              <a:t>&lt;--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cs typeface="Calibri"/>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cs typeface="Calibri"/>
              </a:rPr>
              <a:t>Mirroring is used to connect with others -- Insinuating similarity facilitates bonding</a:t>
            </a:r>
          </a:p>
          <a:p>
            <a:r>
              <a:rPr lang="en-AU" b="0" i="0" dirty="0">
                <a:solidFill>
                  <a:srgbClr val="4D5156"/>
                </a:solidFill>
                <a:effectLst/>
                <a:latin typeface="Google Sans"/>
              </a:rPr>
              <a:t>This immediately establishes a positive, subconscious commonality between two people.</a:t>
            </a:r>
          </a:p>
          <a:p>
            <a:endParaRPr lang="en-AU" b="0" i="0" dirty="0">
              <a:solidFill>
                <a:srgbClr val="4D5156"/>
              </a:solidFill>
              <a:effectLst/>
              <a:latin typeface="Google Sans"/>
              <a:cs typeface="Calibri"/>
            </a:endParaRPr>
          </a:p>
          <a:p>
            <a:r>
              <a:rPr lang="en-AU" b="0" i="0" dirty="0">
                <a:solidFill>
                  <a:srgbClr val="4D5156"/>
                </a:solidFill>
                <a:effectLst/>
                <a:latin typeface="Google Sans"/>
                <a:cs typeface="Calibri"/>
              </a:rPr>
              <a:t>People </a:t>
            </a:r>
            <a:r>
              <a:rPr lang="en-AU" b="1" i="0" u="sng" dirty="0">
                <a:solidFill>
                  <a:srgbClr val="4D5156"/>
                </a:solidFill>
                <a:effectLst/>
                <a:latin typeface="Google Sans"/>
                <a:cs typeface="Calibri"/>
              </a:rPr>
              <a:t>Love</a:t>
            </a:r>
            <a:r>
              <a:rPr lang="en-AU" b="0" i="0" dirty="0">
                <a:solidFill>
                  <a:srgbClr val="4D5156"/>
                </a:solidFill>
                <a:effectLst/>
                <a:latin typeface="Google Sans"/>
                <a:cs typeface="Calibri"/>
              </a:rPr>
              <a:t> to be encourage to “go on…”</a:t>
            </a:r>
          </a:p>
          <a:p>
            <a:r>
              <a:rPr lang="en-AU" b="0" i="0" dirty="0">
                <a:solidFill>
                  <a:srgbClr val="4D5156"/>
                </a:solidFill>
                <a:effectLst/>
                <a:latin typeface="Google Sans"/>
                <a:cs typeface="Calibri"/>
              </a:rPr>
              <a:t>It Builds rapport, allows you to understand interests and overcomes objections.</a:t>
            </a:r>
          </a:p>
          <a:p>
            <a:endParaRPr lang="en-AU" b="0" i="0" dirty="0">
              <a:solidFill>
                <a:srgbClr val="4D5156"/>
              </a:solidFill>
              <a:effectLst/>
              <a:latin typeface="Google Sans"/>
              <a:cs typeface="Calibri"/>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cs typeface="Calibri"/>
              </a:rPr>
              <a:t>It Can even reduce stress in others by the sense of familiarity and comfort.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AU" b="0" i="0" dirty="0">
              <a:solidFill>
                <a:srgbClr val="4D5156"/>
              </a:solidFill>
              <a:effectLst/>
              <a:latin typeface="Google Sans"/>
              <a:cs typeface="Calibri"/>
            </a:endParaRPr>
          </a:p>
          <a:p>
            <a:r>
              <a:rPr lang="en-AU" b="0" i="0" dirty="0">
                <a:solidFill>
                  <a:srgbClr val="4D5156"/>
                </a:solidFill>
                <a:effectLst/>
                <a:latin typeface="Google Sans"/>
                <a:cs typeface="Calibri"/>
              </a:rPr>
              <a:t>People feel Heard and understood -- You're on the same Wavelength with them. -- You’ve Expressed a genuine interest.</a:t>
            </a:r>
          </a:p>
          <a:p>
            <a:endParaRPr lang="en-AU" b="0" i="0" dirty="0">
              <a:solidFill>
                <a:srgbClr val="4D5156"/>
              </a:solidFill>
              <a:effectLst/>
              <a:latin typeface="Google Sans"/>
              <a:cs typeface="Calibri"/>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cs typeface="Calibri"/>
              </a:rPr>
              <a:t>This accelerated Bonding </a:t>
            </a:r>
            <a:r>
              <a:rPr lang="en-US" dirty="0">
                <a:cs typeface="Calibri"/>
                <a:sym typeface="Wingdings" pitchFamily="2" charset="2"/>
              </a:rPr>
              <a:t> Tactical Empathy</a:t>
            </a:r>
            <a:endParaRPr lang="en-US" dirty="0">
              <a:cs typeface="Calibri"/>
            </a:endParaRPr>
          </a:p>
          <a:p>
            <a:endParaRPr lang="en-AU" b="0" i="0" dirty="0">
              <a:solidFill>
                <a:srgbClr val="4D5156"/>
              </a:solidFill>
              <a:effectLst/>
              <a:latin typeface="Google Sans"/>
              <a:cs typeface="Calibri"/>
            </a:endParaRPr>
          </a:p>
          <a:p>
            <a:r>
              <a:rPr lang="en-AU" b="0" i="0" dirty="0">
                <a:solidFill>
                  <a:srgbClr val="4D5156"/>
                </a:solidFill>
                <a:effectLst/>
                <a:latin typeface="Google Sans"/>
                <a:cs typeface="Calibri"/>
              </a:rPr>
              <a:t>Listen attentively and encourage them to share about themselves -- </a:t>
            </a:r>
            <a:r>
              <a:rPr lang="en-AU" b="0" i="0" dirty="0" err="1">
                <a:solidFill>
                  <a:srgbClr val="4D5156"/>
                </a:solidFill>
                <a:effectLst/>
                <a:latin typeface="Google Sans"/>
                <a:cs typeface="Calibri"/>
              </a:rPr>
              <a:t>Dyanamic</a:t>
            </a:r>
            <a:r>
              <a:rPr lang="en-AU" b="0" i="0" dirty="0">
                <a:solidFill>
                  <a:srgbClr val="4D5156"/>
                </a:solidFill>
                <a:effectLst/>
                <a:latin typeface="Google Sans"/>
                <a:cs typeface="Calibri"/>
              </a:rPr>
              <a:t> Silence.</a:t>
            </a:r>
          </a:p>
          <a:p>
            <a:endParaRPr lang="en-US" dirty="0">
              <a:cs typeface="Calibri"/>
            </a:endParaRPr>
          </a:p>
          <a:p>
            <a:r>
              <a:rPr lang="en-US" dirty="0">
                <a:cs typeface="Calibri"/>
              </a:rPr>
              <a:t>Mirroring's benefits also extend to:</a:t>
            </a:r>
          </a:p>
          <a:p>
            <a:endParaRPr lang="en-US" dirty="0">
              <a:cs typeface="Calibri"/>
            </a:endParaRPr>
          </a:p>
          <a:p>
            <a:r>
              <a:rPr lang="en-US" dirty="0">
                <a:cs typeface="Calibri"/>
              </a:rPr>
              <a:t>Social bonding and cooperation in a team.</a:t>
            </a:r>
          </a:p>
          <a:p>
            <a:r>
              <a:rPr lang="en-US" dirty="0">
                <a:cs typeface="Calibri"/>
              </a:rPr>
              <a:t>Leadership and forming a productive team.</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cs typeface="Calibri"/>
              </a:rPr>
              <a:t>Improved communication and flow in teams.</a:t>
            </a:r>
          </a:p>
          <a:p>
            <a:endParaRPr lang="en-US" dirty="0">
              <a:cs typeface="Calibri"/>
            </a:endParaRPr>
          </a:p>
          <a:p>
            <a:r>
              <a:rPr lang="en-US" dirty="0">
                <a:cs typeface="Calibri"/>
              </a:rPr>
              <a:t> </a:t>
            </a:r>
          </a:p>
          <a:p>
            <a:endParaRPr lang="en-US" dirty="0">
              <a:cs typeface="Calibri"/>
            </a:endParaRPr>
          </a:p>
        </p:txBody>
      </p:sp>
      <p:sp>
        <p:nvSpPr>
          <p:cNvPr id="4" name="Slide Number Placeholder 3"/>
          <p:cNvSpPr>
            <a:spLocks noGrp="1"/>
          </p:cNvSpPr>
          <p:nvPr>
            <p:ph type="sldNum" sz="quarter" idx="5"/>
          </p:nvPr>
        </p:nvSpPr>
        <p:spPr/>
        <p:txBody>
          <a:bodyPr/>
          <a:lstStyle/>
          <a:p>
            <a:fld id="{9406D5B0-4E27-45FC-BEC6-33A15FD7E0BB}" type="slidenum">
              <a:rPr lang="en-AU" smtClean="0"/>
              <a:t>25</a:t>
            </a:fld>
            <a:endParaRPr lang="en-AU"/>
          </a:p>
        </p:txBody>
      </p:sp>
    </p:spTree>
    <p:extLst>
      <p:ext uri="{BB962C8B-B14F-4D97-AF65-F5344CB8AC3E}">
        <p14:creationId xmlns:p14="http://schemas.microsoft.com/office/powerpoint/2010/main" val="380536929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Calibrated Questions are How and What questions, because the other W’s make no sense.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r>
              <a:rPr lang="en-US" dirty="0"/>
              <a:t>Calibrated questions are easy to dismiss as everyday open-ended questions, but they’re more precise in how they get the discussion moving forward.  </a:t>
            </a:r>
          </a:p>
          <a:p>
            <a:endParaRPr lang="en-US" dirty="0"/>
          </a:p>
          <a:p>
            <a:r>
              <a:rPr lang="en-US" dirty="0"/>
              <a:t>They’re designed to acknowledge the other side's skill, knowledge and experience. -- Who wouldn't want that!!!</a:t>
            </a:r>
          </a:p>
          <a:p>
            <a:endParaRPr lang="en-US" dirty="0"/>
          </a:p>
          <a:p>
            <a:r>
              <a:rPr lang="en-US" dirty="0"/>
              <a:t>They Introduce ideas and requests that may otherwise feel “pushy”.  These ideas may then come from the other side and thus appear to be </a:t>
            </a:r>
            <a:r>
              <a:rPr lang="en-US" b="1" i="0" u="sng" dirty="0"/>
              <a:t>their</a:t>
            </a:r>
            <a:r>
              <a:rPr lang="en-US" dirty="0"/>
              <a:t> ideas.</a:t>
            </a:r>
          </a:p>
          <a:p>
            <a:endParaRPr lang="en-US" dirty="0"/>
          </a:p>
          <a:p>
            <a:endParaRPr lang="en-US" dirty="0"/>
          </a:p>
          <a:p>
            <a:r>
              <a:rPr lang="en-US" dirty="0"/>
              <a:t>&lt;--</a:t>
            </a:r>
          </a:p>
        </p:txBody>
      </p:sp>
      <p:sp>
        <p:nvSpPr>
          <p:cNvPr id="4" name="Slide Number Placeholder 3"/>
          <p:cNvSpPr>
            <a:spLocks noGrp="1"/>
          </p:cNvSpPr>
          <p:nvPr>
            <p:ph type="sldNum" sz="quarter" idx="5"/>
          </p:nvPr>
        </p:nvSpPr>
        <p:spPr/>
        <p:txBody>
          <a:bodyPr/>
          <a:lstStyle/>
          <a:p>
            <a:fld id="{9406D5B0-4E27-45FC-BEC6-33A15FD7E0BB}" type="slidenum">
              <a:rPr lang="en-AU" smtClean="0"/>
              <a:t>26</a:t>
            </a:fld>
            <a:endParaRPr lang="en-AU"/>
          </a:p>
        </p:txBody>
      </p:sp>
    </p:spTree>
    <p:extLst>
      <p:ext uri="{BB962C8B-B14F-4D97-AF65-F5344CB8AC3E}">
        <p14:creationId xmlns:p14="http://schemas.microsoft.com/office/powerpoint/2010/main" val="12999930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dirty="0"/>
              <a:t>Labels are a Verbally observed dynamic or feeling that is not on the surface.</a:t>
            </a:r>
          </a:p>
          <a:p>
            <a:endParaRPr lang="en-AU" dirty="0"/>
          </a:p>
          <a:p>
            <a:r>
              <a:rPr lang="en-AU" dirty="0">
                <a:sym typeface="Wingdings" pitchFamily="2" charset="2"/>
              </a:rPr>
              <a:t>A statement in the form of It seems / it sounds / it looks like... and then..</a:t>
            </a:r>
          </a:p>
          <a:p>
            <a:endParaRPr lang="en-AU" dirty="0"/>
          </a:p>
          <a:p>
            <a:r>
              <a:rPr lang="en-AU" dirty="0"/>
              <a:t>Respectfully repeat back the recognised emotion that you see or perceive.</a:t>
            </a:r>
          </a:p>
          <a:p>
            <a:endParaRPr lang="en-AU" dirty="0"/>
          </a:p>
          <a:p>
            <a:pPr marL="0" marR="0" lvl="0" indent="0" algn="l" defTabSz="914400" rtl="0" eaLnBrk="1" fontAlgn="auto" latinLnBrk="0" hangingPunct="1">
              <a:lnSpc>
                <a:spcPct val="100000"/>
              </a:lnSpc>
              <a:spcBef>
                <a:spcPts val="0"/>
              </a:spcBef>
              <a:spcAft>
                <a:spcPts val="0"/>
              </a:spcAft>
              <a:buClrTx/>
              <a:buSzTx/>
              <a:buFontTx/>
              <a:buNone/>
              <a:tabLst/>
              <a:defRPr/>
            </a:pPr>
            <a:r>
              <a:rPr lang="en-AU" dirty="0">
                <a:sym typeface="Wingdings" pitchFamily="2" charset="2"/>
              </a:rPr>
              <a:t>EXAMPLE (Can anyone think of a scenario where someone was angry, frustrated, stuck)</a:t>
            </a:r>
            <a:endParaRPr lang="en-AU" dirty="0"/>
          </a:p>
          <a:p>
            <a:endParaRPr lang="en-AU" dirty="0"/>
          </a:p>
          <a:p>
            <a:r>
              <a:rPr lang="en-AU" dirty="0"/>
              <a:t>People feel validated and understood.</a:t>
            </a:r>
          </a:p>
          <a:p>
            <a:endParaRPr lang="en-AU" dirty="0"/>
          </a:p>
          <a:p>
            <a:pPr marL="0" marR="0" lvl="0" indent="0" algn="l" defTabSz="914400" rtl="0" eaLnBrk="1" fontAlgn="auto" latinLnBrk="0" hangingPunct="1">
              <a:lnSpc>
                <a:spcPct val="100000"/>
              </a:lnSpc>
              <a:spcBef>
                <a:spcPts val="0"/>
              </a:spcBef>
              <a:spcAft>
                <a:spcPts val="0"/>
              </a:spcAft>
              <a:buClrTx/>
              <a:buSzTx/>
              <a:buFontTx/>
              <a:buNone/>
              <a:tabLst/>
              <a:defRPr/>
            </a:pPr>
            <a:r>
              <a:rPr lang="en-AU" dirty="0"/>
              <a:t>Rapid bonding moment.  Cut through the B.S. …</a:t>
            </a:r>
          </a:p>
          <a:p>
            <a:endParaRPr lang="en-AU" dirty="0"/>
          </a:p>
          <a:p>
            <a:r>
              <a:rPr lang="en-AU" dirty="0"/>
              <a:t>Obviously helps Building report and trust </a:t>
            </a:r>
            <a:r>
              <a:rPr lang="en-AU" dirty="0">
                <a:sym typeface="Wingdings" pitchFamily="2" charset="2"/>
              </a:rPr>
              <a:t> Tactical Empathy.</a:t>
            </a:r>
            <a:endParaRPr lang="en-AU" dirty="0"/>
          </a:p>
          <a:p>
            <a:endParaRPr lang="en-AU" dirty="0"/>
          </a:p>
          <a:p>
            <a:r>
              <a:rPr lang="en-AU" dirty="0"/>
              <a:t>You can even label it wrong… people will correct you with truth, opening a dialogue and ... getting the truth.</a:t>
            </a:r>
          </a:p>
          <a:p>
            <a:endParaRPr lang="en-AU" dirty="0"/>
          </a:p>
          <a:p>
            <a:endParaRPr lang="en-AU" dirty="0"/>
          </a:p>
          <a:p>
            <a:endParaRPr lang="en-AU" dirty="0"/>
          </a:p>
        </p:txBody>
      </p:sp>
      <p:sp>
        <p:nvSpPr>
          <p:cNvPr id="4" name="Slide Number Placeholder 3"/>
          <p:cNvSpPr>
            <a:spLocks noGrp="1"/>
          </p:cNvSpPr>
          <p:nvPr>
            <p:ph type="sldNum" sz="quarter" idx="5"/>
          </p:nvPr>
        </p:nvSpPr>
        <p:spPr/>
        <p:txBody>
          <a:bodyPr/>
          <a:lstStyle/>
          <a:p>
            <a:fld id="{9406D5B0-4E27-45FC-BEC6-33A15FD7E0BB}" type="slidenum">
              <a:rPr lang="en-AU" smtClean="0"/>
              <a:t>27</a:t>
            </a:fld>
            <a:endParaRPr lang="en-AU"/>
          </a:p>
        </p:txBody>
      </p:sp>
    </p:spTree>
    <p:extLst>
      <p:ext uri="{BB962C8B-B14F-4D97-AF65-F5344CB8AC3E}">
        <p14:creationId xmlns:p14="http://schemas.microsoft.com/office/powerpoint/2010/main" val="145038567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Has anyone heard of Yes momentum or a Yes 'able proposition?....</a:t>
            </a:r>
          </a:p>
          <a:p>
            <a:endParaRPr lang="en-US" dirty="0"/>
          </a:p>
          <a:p>
            <a:r>
              <a:rPr lang="en-US" dirty="0"/>
              <a:t>Getting someone to say Yes to a lot of little things, leading up to the big YES.</a:t>
            </a:r>
          </a:p>
          <a:p>
            <a:endParaRPr lang="en-US" dirty="0"/>
          </a:p>
          <a:p>
            <a:r>
              <a:rPr lang="en-US" dirty="0"/>
              <a:t>Yes is commitment, commitment creates anxiety, which interferes with peoples thought processes.</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We are already thinking "What’s the catch, what’s the hook."</a:t>
            </a:r>
          </a:p>
          <a:p>
            <a:endParaRPr lang="en-US" dirty="0"/>
          </a:p>
          <a:p>
            <a:r>
              <a:rPr lang="en-US" dirty="0"/>
              <a:t>Therefore, Yes lacks emotional intelligence because we know it brings anxiety!!! -- From Neuroscience we know that Anxiety slows brain.</a:t>
            </a:r>
          </a:p>
          <a:p>
            <a:endParaRPr lang="en-US" dirty="0"/>
          </a:p>
          <a:p>
            <a:r>
              <a:rPr lang="en-US" dirty="0"/>
              <a:t>No is safe and secure and helps people think.</a:t>
            </a:r>
          </a:p>
          <a:p>
            <a:r>
              <a:rPr lang="en-US" dirty="0"/>
              <a:t>- Hey Dad, can I get a new iPad???  </a:t>
            </a:r>
            <a:r>
              <a:rPr lang="en-US" dirty="0" err="1"/>
              <a:t>Ahhhh</a:t>
            </a:r>
            <a:r>
              <a:rPr lang="en-US" dirty="0"/>
              <a:t> NO.</a:t>
            </a:r>
          </a:p>
          <a:p>
            <a:endParaRPr lang="en-AU" b="0" i="0" dirty="0">
              <a:solidFill>
                <a:srgbClr val="212529"/>
              </a:solidFill>
              <a:effectLst/>
              <a:latin typeface="system-ui"/>
            </a:endParaRPr>
          </a:p>
          <a:p>
            <a:r>
              <a:rPr lang="en-AU" b="0" i="0" dirty="0">
                <a:solidFill>
                  <a:srgbClr val="212529"/>
                </a:solidFill>
                <a:effectLst/>
                <a:latin typeface="system-ui"/>
              </a:rPr>
              <a:t>People feel anxious when they sense you are seeking a yes. Don’t believe me? </a:t>
            </a:r>
          </a:p>
          <a:p>
            <a:endParaRPr lang="en-AU" b="0" i="0" dirty="0">
              <a:solidFill>
                <a:srgbClr val="212529"/>
              </a:solidFill>
              <a:effectLst/>
              <a:latin typeface="system-ui"/>
            </a:endParaRPr>
          </a:p>
          <a:p>
            <a:r>
              <a:rPr lang="en-AU" b="0" i="0" dirty="0">
                <a:solidFill>
                  <a:srgbClr val="212529"/>
                </a:solidFill>
                <a:effectLst/>
                <a:latin typeface="system-ui"/>
              </a:rPr>
              <a:t>Here’s an example for you. As you’re exiting your local supermarket, someone stops you as you exit and asks… “Excuse me, do you like ski holiday's in Japan?” Can you feel that? Even though the answer is very likely yes, you feel hesitant to answer right?</a:t>
            </a:r>
          </a:p>
        </p:txBody>
      </p:sp>
      <p:sp>
        <p:nvSpPr>
          <p:cNvPr id="4" name="Slide Number Placeholder 3"/>
          <p:cNvSpPr>
            <a:spLocks noGrp="1"/>
          </p:cNvSpPr>
          <p:nvPr>
            <p:ph type="sldNum" sz="quarter" idx="5"/>
          </p:nvPr>
        </p:nvSpPr>
        <p:spPr/>
        <p:txBody>
          <a:bodyPr/>
          <a:lstStyle/>
          <a:p>
            <a:fld id="{9406D5B0-4E27-45FC-BEC6-33A15FD7E0BB}" type="slidenum">
              <a:rPr lang="en-AU" smtClean="0"/>
              <a:t>28</a:t>
            </a:fld>
            <a:endParaRPr lang="en-AU"/>
          </a:p>
        </p:txBody>
      </p:sp>
    </p:spTree>
    <p:extLst>
      <p:ext uri="{BB962C8B-B14F-4D97-AF65-F5344CB8AC3E}">
        <p14:creationId xmlns:p14="http://schemas.microsoft.com/office/powerpoint/2010/main" val="329615111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Arial" panose="020B0604020202020204" pitchFamily="34" charset="0"/>
              <a:buNone/>
            </a:pPr>
            <a:r>
              <a:rPr lang="en-AU" b="0" i="0" dirty="0">
                <a:solidFill>
                  <a:srgbClr val="212529"/>
                </a:solidFill>
                <a:effectLst/>
                <a:latin typeface="system-ui"/>
              </a:rPr>
              <a:t>Just flip your yes-oriented questions into no-oriented questions. </a:t>
            </a:r>
          </a:p>
          <a:p>
            <a:pPr algn="l">
              <a:buFont typeface="Arial" panose="020B0604020202020204" pitchFamily="34" charset="0"/>
              <a:buNone/>
            </a:pPr>
            <a:endParaRPr lang="en-AU" b="0" i="0" dirty="0">
              <a:solidFill>
                <a:srgbClr val="212529"/>
              </a:solidFill>
              <a:effectLst/>
              <a:latin typeface="system-ui"/>
            </a:endParaRPr>
          </a:p>
          <a:p>
            <a:pPr algn="l">
              <a:buFont typeface="Arial" panose="020B0604020202020204" pitchFamily="34" charset="0"/>
              <a:buNone/>
            </a:pPr>
            <a:r>
              <a:rPr lang="en-AU" b="0" i="0" dirty="0">
                <a:solidFill>
                  <a:srgbClr val="212529"/>
                </a:solidFill>
                <a:effectLst/>
                <a:latin typeface="system-ui"/>
              </a:rPr>
              <a:t>Generating a no-oriented question relieves your counterpart from wondering what they are getting themselves into if they agree. Nearly every yes-oriented question you ask can be reoriented by adding phrases like these to your statement:</a:t>
            </a:r>
          </a:p>
          <a:p>
            <a:pPr algn="l">
              <a:buFont typeface="Arial" panose="020B0604020202020204" pitchFamily="34" charset="0"/>
              <a:buNone/>
            </a:pPr>
            <a:endParaRPr lang="en-AU" b="0" i="0" dirty="0">
              <a:solidFill>
                <a:srgbClr val="212529"/>
              </a:solidFill>
              <a:effectLst/>
              <a:latin typeface="system-ui"/>
              <a:sym typeface="Wingdings" pitchFamily="2" charset="2"/>
            </a:endParaRPr>
          </a:p>
          <a:p>
            <a:pPr algn="l">
              <a:buFont typeface="Arial" panose="020B0604020202020204" pitchFamily="34" charset="0"/>
              <a:buNone/>
            </a:pPr>
            <a:r>
              <a:rPr lang="en-AU" b="0" i="0" dirty="0">
                <a:solidFill>
                  <a:srgbClr val="212529"/>
                </a:solidFill>
                <a:effectLst/>
                <a:latin typeface="system-ui"/>
                <a:sym typeface="Wingdings" pitchFamily="2" charset="2"/>
              </a:rPr>
              <a:t>&lt;---</a:t>
            </a:r>
          </a:p>
          <a:p>
            <a:pPr algn="l">
              <a:buFont typeface="Arial" panose="020B0604020202020204" pitchFamily="34" charset="0"/>
              <a:buNone/>
            </a:pPr>
            <a:endParaRPr lang="en-AU" b="0" i="0" dirty="0">
              <a:solidFill>
                <a:srgbClr val="212529"/>
              </a:solidFill>
              <a:effectLst/>
              <a:latin typeface="system-ui"/>
              <a:sym typeface="Wingdings" pitchFamily="2" charset="2"/>
            </a:endParaRPr>
          </a:p>
          <a:p>
            <a:r>
              <a:rPr lang="en-AU" b="0" i="0" dirty="0">
                <a:solidFill>
                  <a:srgbClr val="212529"/>
                </a:solidFill>
                <a:effectLst/>
                <a:latin typeface="system-ui"/>
              </a:rPr>
              <a:t>Low stakes practice…like the next time you want to suggest a place to eat.  Instead of, “Can we have Korean barbecue tonight?” Replace it with, “Would it be horrible if we went to Korean barbecue tonight?” </a:t>
            </a:r>
          </a:p>
          <a:p>
            <a:endParaRPr lang="en-AU" b="0" i="0" dirty="0">
              <a:solidFill>
                <a:srgbClr val="212529"/>
              </a:solidFill>
              <a:effectLst/>
              <a:latin typeface="system-ui"/>
            </a:endParaRPr>
          </a:p>
          <a:p>
            <a:r>
              <a:rPr lang="en-AU" b="0" i="0" dirty="0">
                <a:solidFill>
                  <a:srgbClr val="212529"/>
                </a:solidFill>
                <a:effectLst/>
                <a:latin typeface="system-ui"/>
              </a:rPr>
              <a:t>Is it a ridiculous idea to leverage our human inclination to say </a:t>
            </a:r>
            <a:r>
              <a:rPr lang="en-AU" b="0" i="1" dirty="0">
                <a:solidFill>
                  <a:srgbClr val="212529"/>
                </a:solidFill>
                <a:effectLst/>
                <a:latin typeface="system-ui"/>
              </a:rPr>
              <a:t>no </a:t>
            </a:r>
            <a:r>
              <a:rPr lang="en-AU" b="0" i="0" dirty="0">
                <a:solidFill>
                  <a:srgbClr val="212529"/>
                </a:solidFill>
                <a:effectLst/>
                <a:latin typeface="system-ui"/>
              </a:rPr>
              <a:t>to get things done?</a:t>
            </a:r>
            <a:endParaRPr lang="en-US" dirty="0"/>
          </a:p>
          <a:p>
            <a:endParaRPr lang="en-US" dirty="0"/>
          </a:p>
          <a:p>
            <a:r>
              <a:rPr lang="en-US" dirty="0"/>
              <a:t>Next level….and take the gloves off.. only for good, not for evil...try..</a:t>
            </a:r>
          </a:p>
          <a:p>
            <a:endParaRPr lang="en-US" dirty="0"/>
          </a:p>
          <a:p>
            <a:r>
              <a:rPr lang="en-US" dirty="0"/>
              <a:t>Is sounds like you’re POWERLESS here...</a:t>
            </a:r>
          </a:p>
          <a:p>
            <a:r>
              <a:rPr lang="en-US" dirty="0"/>
              <a:t>It seems like there is nothing I can say…</a:t>
            </a:r>
          </a:p>
          <a:p>
            <a:endParaRPr lang="en-US" dirty="0"/>
          </a:p>
          <a:p>
            <a:r>
              <a:rPr lang="en-US" dirty="0"/>
              <a:t>Must watch the Tone so these land the way you want... read the room.</a:t>
            </a:r>
          </a:p>
          <a:p>
            <a:endParaRPr lang="en-US" dirty="0"/>
          </a:p>
        </p:txBody>
      </p:sp>
      <p:sp>
        <p:nvSpPr>
          <p:cNvPr id="4" name="Slide Number Placeholder 3"/>
          <p:cNvSpPr>
            <a:spLocks noGrp="1"/>
          </p:cNvSpPr>
          <p:nvPr>
            <p:ph type="sldNum" sz="quarter" idx="5"/>
          </p:nvPr>
        </p:nvSpPr>
        <p:spPr/>
        <p:txBody>
          <a:bodyPr/>
          <a:lstStyle/>
          <a:p>
            <a:fld id="{9406D5B0-4E27-45FC-BEC6-33A15FD7E0BB}" type="slidenum">
              <a:rPr lang="en-AU" smtClean="0"/>
              <a:t>29</a:t>
            </a:fld>
            <a:endParaRPr lang="en-AU"/>
          </a:p>
        </p:txBody>
      </p:sp>
    </p:spTree>
    <p:extLst>
      <p:ext uri="{BB962C8B-B14F-4D97-AF65-F5344CB8AC3E}">
        <p14:creationId xmlns:p14="http://schemas.microsoft.com/office/powerpoint/2010/main" val="427957747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sym typeface="Wingdings" pitchFamily="2" charset="2"/>
              </a:rPr>
              <a:t></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Forgot the milk analogy (irresponsible, selfish, never listen)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Worse case scenario (wrecked the car, lost the dog, gambled the savings…)</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Higher you raise the expectations of bad news, the further they fall when they hear your real issue.</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Shows Willingness and intention to identify the negative and to make them go away so you can move forward as collaborators.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Dissolves, reduces, diffuses the negatives. -- Takes away permission and authority to use it against us later.</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When will we use these: Beginning, before an Ask, before Bad New.</a:t>
            </a:r>
          </a:p>
          <a:p>
            <a:endParaRPr lang="en-US" dirty="0"/>
          </a:p>
          <a:p>
            <a:r>
              <a:rPr lang="en-US" dirty="0"/>
              <a:t>Let say the other side actually feels that way, </a:t>
            </a:r>
            <a:r>
              <a:rPr lang="en-US" b="1" u="sng" dirty="0"/>
              <a:t>nothing</a:t>
            </a:r>
            <a:r>
              <a:rPr lang="en-US" dirty="0"/>
              <a:t> builds trust faster than feeling understood or someone being self aware.-- You’re preemptive and dialed into them by addressing some of their concerns up front.</a:t>
            </a:r>
          </a:p>
          <a:p>
            <a:endParaRPr lang="en-US" dirty="0"/>
          </a:p>
          <a:p>
            <a:r>
              <a:rPr lang="en-US" dirty="0"/>
              <a:t>It Clears the mind when you tell them all the negatives, they can let go.</a:t>
            </a:r>
          </a:p>
          <a:p>
            <a:endParaRPr lang="en-US" dirty="0"/>
          </a:p>
          <a:p>
            <a:r>
              <a:rPr lang="en-US" dirty="0"/>
              <a:t>It Doesn’t plant the thought. "You probably think I’m a greedy, lying son of a bitch…"</a:t>
            </a:r>
          </a:p>
          <a:p>
            <a:endParaRPr lang="en-US" dirty="0"/>
          </a:p>
          <a:p>
            <a:r>
              <a:rPr lang="en-US" dirty="0"/>
              <a:t>As long as you don't say “I don’t want you to think, feel” – Don’t Deny, When you deny peoples Guard goes up because the Fear of negative reaction, you showed, is read by them with uncertainty and even weakness.</a:t>
            </a:r>
          </a:p>
        </p:txBody>
      </p:sp>
      <p:sp>
        <p:nvSpPr>
          <p:cNvPr id="4" name="Slide Number Placeholder 3"/>
          <p:cNvSpPr>
            <a:spLocks noGrp="1"/>
          </p:cNvSpPr>
          <p:nvPr>
            <p:ph type="sldNum" sz="quarter" idx="5"/>
          </p:nvPr>
        </p:nvSpPr>
        <p:spPr/>
        <p:txBody>
          <a:bodyPr/>
          <a:lstStyle/>
          <a:p>
            <a:fld id="{9406D5B0-4E27-45FC-BEC6-33A15FD7E0BB}" type="slidenum">
              <a:rPr lang="en-AU" smtClean="0"/>
              <a:t>30</a:t>
            </a:fld>
            <a:endParaRPr lang="en-AU"/>
          </a:p>
        </p:txBody>
      </p:sp>
    </p:spTree>
    <p:extLst>
      <p:ext uri="{BB962C8B-B14F-4D97-AF65-F5344CB8AC3E}">
        <p14:creationId xmlns:p14="http://schemas.microsoft.com/office/powerpoint/2010/main" val="398187566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That's Right is about demonstrating understanding, by paraphrasing / summarizing the other side's argument to the point where you get a “That’s Right” from them.</a:t>
            </a:r>
          </a:p>
          <a:p>
            <a:endParaRPr lang="en-US" dirty="0"/>
          </a:p>
          <a:p>
            <a:r>
              <a:rPr lang="en-US" dirty="0"/>
              <a:t>or a "That’s not it, this is it" </a:t>
            </a:r>
            <a:r>
              <a:rPr lang="en-US" dirty="0">
                <a:sym typeface="Wingdings" pitchFamily="2" charset="2"/>
              </a:rPr>
              <a:t> you've opened a Dialogue and you can continue to seek a That's Right</a:t>
            </a:r>
          </a:p>
          <a:p>
            <a:endParaRPr lang="en-US" dirty="0">
              <a:sym typeface="Wingdings" pitchFamily="2" charset="2"/>
            </a:endParaRPr>
          </a:p>
          <a:p>
            <a:r>
              <a:rPr lang="en-US" dirty="0"/>
              <a:t>You've heard the saying Seek first to understand and then to be understood.</a:t>
            </a:r>
          </a:p>
          <a:p>
            <a:endParaRPr lang="en-US" dirty="0"/>
          </a:p>
          <a:p>
            <a:r>
              <a:rPr lang="en-US" dirty="0"/>
              <a:t>You can’t just say “I understand, I understand you”</a:t>
            </a:r>
          </a:p>
          <a:p>
            <a:endParaRPr lang="en-US" dirty="0"/>
          </a:p>
          <a:p>
            <a:r>
              <a:rPr lang="en-US" dirty="0"/>
              <a:t>You must </a:t>
            </a:r>
            <a:r>
              <a:rPr lang="en-US" b="1" u="sng" dirty="0"/>
              <a:t>show</a:t>
            </a:r>
            <a:r>
              <a:rPr lang="en-US" dirty="0"/>
              <a:t> them you understand.</a:t>
            </a:r>
          </a:p>
          <a:p>
            <a:endParaRPr lang="en-US" dirty="0">
              <a:sym typeface="Wingdings" pitchFamily="2" charset="2"/>
            </a:endParaRPr>
          </a:p>
          <a:p>
            <a:r>
              <a:rPr lang="en-US" dirty="0">
                <a:sym typeface="Wingdings" pitchFamily="2" charset="2"/>
              </a:rPr>
              <a:t>Demonstrating your understanding  of their </a:t>
            </a:r>
            <a:r>
              <a:rPr lang="en-US" b="1" u="sng" dirty="0">
                <a:sym typeface="Wingdings" pitchFamily="2" charset="2"/>
              </a:rPr>
              <a:t>total complete truth </a:t>
            </a:r>
            <a:r>
              <a:rPr lang="en-US" dirty="0">
                <a:sym typeface="Wingdings" pitchFamily="2" charset="2"/>
              </a:rPr>
              <a:t>-- that will bring an </a:t>
            </a:r>
            <a:r>
              <a:rPr lang="en-US" b="1" u="sng" dirty="0">
                <a:sym typeface="Wingdings" pitchFamily="2" charset="2"/>
              </a:rPr>
              <a:t>epiphany</a:t>
            </a:r>
            <a:r>
              <a:rPr lang="en-US" dirty="0">
                <a:sym typeface="Wingdings" pitchFamily="2" charset="2"/>
              </a:rPr>
              <a:t> for them, it brings a chemical change that builds trust  Tactical Empathy</a:t>
            </a:r>
          </a:p>
          <a:p>
            <a:endParaRPr lang="en-US" dirty="0"/>
          </a:p>
          <a:p>
            <a:r>
              <a:rPr lang="en-US" dirty="0"/>
              <a:t>Yelling at TV analogy [not you’re right, That’s Right]</a:t>
            </a:r>
          </a:p>
          <a:p>
            <a:endParaRPr lang="en-US" dirty="0"/>
          </a:p>
        </p:txBody>
      </p:sp>
      <p:sp>
        <p:nvSpPr>
          <p:cNvPr id="4" name="Slide Number Placeholder 3"/>
          <p:cNvSpPr>
            <a:spLocks noGrp="1"/>
          </p:cNvSpPr>
          <p:nvPr>
            <p:ph type="sldNum" sz="quarter" idx="5"/>
          </p:nvPr>
        </p:nvSpPr>
        <p:spPr/>
        <p:txBody>
          <a:bodyPr/>
          <a:lstStyle/>
          <a:p>
            <a:fld id="{9406D5B0-4E27-45FC-BEC6-33A15FD7E0BB}" type="slidenum">
              <a:rPr lang="en-AU" smtClean="0"/>
              <a:t>31</a:t>
            </a:fld>
            <a:endParaRPr lang="en-AU"/>
          </a:p>
        </p:txBody>
      </p:sp>
    </p:spTree>
    <p:extLst>
      <p:ext uri="{BB962C8B-B14F-4D97-AF65-F5344CB8AC3E}">
        <p14:creationId xmlns:p14="http://schemas.microsoft.com/office/powerpoint/2010/main" val="287674594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Suckers move</a:t>
            </a:r>
          </a:p>
          <a:p>
            <a:r>
              <a:rPr lang="en-US" dirty="0"/>
              <a:t>- Everyone jacks up their prices so they land where they wanted to anyways</a:t>
            </a:r>
          </a:p>
          <a:p>
            <a:endParaRPr lang="en-US" dirty="0"/>
          </a:p>
          <a:p>
            <a:r>
              <a:rPr lang="en-US" dirty="0"/>
              <a:t>Fools move</a:t>
            </a:r>
          </a:p>
          <a:p>
            <a:r>
              <a:rPr lang="en-US" dirty="0"/>
              <a:t>- Bending too ideas together [black shoe, brown shoe. One of each]</a:t>
            </a:r>
          </a:p>
          <a:p>
            <a:endParaRPr lang="en-US" dirty="0"/>
          </a:p>
          <a:p>
            <a:r>
              <a:rPr lang="en-US" dirty="0"/>
              <a:t>Neither are good</a:t>
            </a:r>
          </a:p>
          <a:p>
            <a:endParaRPr lang="en-US" dirty="0"/>
          </a:p>
          <a:p>
            <a:r>
              <a:rPr lang="en-AU" sz="2200" dirty="0"/>
              <a:t>Instead: </a:t>
            </a:r>
            <a:r>
              <a:rPr lang="en-AU" dirty="0"/>
              <a:t>build rapport to ensure the other side will give you the best deal they can, be keen to execute the deal and be prepared to deal with you again.</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9406D5B0-4E27-45FC-BEC6-33A15FD7E0BB}" type="slidenum">
              <a:rPr lang="en-AU" smtClean="0"/>
              <a:t>32</a:t>
            </a:fld>
            <a:endParaRPr lang="en-AU"/>
          </a:p>
        </p:txBody>
      </p:sp>
    </p:spTree>
    <p:extLst>
      <p:ext uri="{BB962C8B-B14F-4D97-AF65-F5344CB8AC3E}">
        <p14:creationId xmlns:p14="http://schemas.microsoft.com/office/powerpoint/2010/main" val="190840680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406D5B0-4E27-45FC-BEC6-33A15FD7E0BB}" type="slidenum">
              <a:rPr lang="en-AU" smtClean="0"/>
              <a:t>34</a:t>
            </a:fld>
            <a:endParaRPr lang="en-AU"/>
          </a:p>
        </p:txBody>
      </p:sp>
    </p:spTree>
    <p:extLst>
      <p:ext uri="{BB962C8B-B14F-4D97-AF65-F5344CB8AC3E}">
        <p14:creationId xmlns:p14="http://schemas.microsoft.com/office/powerpoint/2010/main" val="246118783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3F153A-2A28-2647-2D27-E3A3BCDA490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AU"/>
          </a:p>
        </p:txBody>
      </p:sp>
      <p:sp>
        <p:nvSpPr>
          <p:cNvPr id="3" name="Subtitle 2">
            <a:extLst>
              <a:ext uri="{FF2B5EF4-FFF2-40B4-BE49-F238E27FC236}">
                <a16:creationId xmlns:a16="http://schemas.microsoft.com/office/drawing/2014/main" id="{951AECD7-CD79-0A90-CF47-33AF2A3A215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U"/>
          </a:p>
        </p:txBody>
      </p:sp>
      <p:sp>
        <p:nvSpPr>
          <p:cNvPr id="4" name="Date Placeholder 3">
            <a:extLst>
              <a:ext uri="{FF2B5EF4-FFF2-40B4-BE49-F238E27FC236}">
                <a16:creationId xmlns:a16="http://schemas.microsoft.com/office/drawing/2014/main" id="{A7670AB5-6717-78A2-EF2A-D55F0B1C768F}"/>
              </a:ext>
            </a:extLst>
          </p:cNvPr>
          <p:cNvSpPr>
            <a:spLocks noGrp="1"/>
          </p:cNvSpPr>
          <p:nvPr>
            <p:ph type="dt" sz="half" idx="10"/>
          </p:nvPr>
        </p:nvSpPr>
        <p:spPr/>
        <p:txBody>
          <a:bodyPr/>
          <a:lstStyle/>
          <a:p>
            <a:fld id="{7A66863F-F1B7-4DFF-9140-60A6FCD837C2}" type="datetimeFigureOut">
              <a:rPr lang="en-AU" smtClean="0"/>
              <a:t>26/6/2026</a:t>
            </a:fld>
            <a:endParaRPr lang="en-AU"/>
          </a:p>
        </p:txBody>
      </p:sp>
      <p:sp>
        <p:nvSpPr>
          <p:cNvPr id="5" name="Footer Placeholder 4">
            <a:extLst>
              <a:ext uri="{FF2B5EF4-FFF2-40B4-BE49-F238E27FC236}">
                <a16:creationId xmlns:a16="http://schemas.microsoft.com/office/drawing/2014/main" id="{B822F575-0356-1807-22C3-3F24A6915588}"/>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EA84EE1B-3D7F-F4A8-5D11-2382B3ACADD9}"/>
              </a:ext>
            </a:extLst>
          </p:cNvPr>
          <p:cNvSpPr>
            <a:spLocks noGrp="1"/>
          </p:cNvSpPr>
          <p:nvPr>
            <p:ph type="sldNum" sz="quarter" idx="12"/>
          </p:nvPr>
        </p:nvSpPr>
        <p:spPr/>
        <p:txBody>
          <a:bodyPr/>
          <a:lstStyle/>
          <a:p>
            <a:fld id="{0528445E-D994-45D7-83A9-CAB88487D688}" type="slidenum">
              <a:rPr lang="en-AU" smtClean="0"/>
              <a:t>‹#›</a:t>
            </a:fld>
            <a:endParaRPr lang="en-AU"/>
          </a:p>
        </p:txBody>
      </p:sp>
    </p:spTree>
    <p:extLst>
      <p:ext uri="{BB962C8B-B14F-4D97-AF65-F5344CB8AC3E}">
        <p14:creationId xmlns:p14="http://schemas.microsoft.com/office/powerpoint/2010/main" val="4284290342"/>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33AA65-C79D-7FF3-1C8F-5DFF0C5F5C59}"/>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9F511AD7-5863-84C7-DFD8-E76DB7A0C2C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8C15A8D2-6810-D77B-9297-DC5BD2493BCC}"/>
              </a:ext>
            </a:extLst>
          </p:cNvPr>
          <p:cNvSpPr>
            <a:spLocks noGrp="1"/>
          </p:cNvSpPr>
          <p:nvPr>
            <p:ph type="dt" sz="half" idx="10"/>
          </p:nvPr>
        </p:nvSpPr>
        <p:spPr/>
        <p:txBody>
          <a:bodyPr/>
          <a:lstStyle/>
          <a:p>
            <a:fld id="{7A66863F-F1B7-4DFF-9140-60A6FCD837C2}" type="datetimeFigureOut">
              <a:rPr lang="en-AU" smtClean="0"/>
              <a:t>26/6/2026</a:t>
            </a:fld>
            <a:endParaRPr lang="en-AU"/>
          </a:p>
        </p:txBody>
      </p:sp>
      <p:sp>
        <p:nvSpPr>
          <p:cNvPr id="5" name="Footer Placeholder 4">
            <a:extLst>
              <a:ext uri="{FF2B5EF4-FFF2-40B4-BE49-F238E27FC236}">
                <a16:creationId xmlns:a16="http://schemas.microsoft.com/office/drawing/2014/main" id="{4A3466F7-1888-F9E7-9C55-EE798FD4702F}"/>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EB9D8121-E262-E786-A081-2E9B0A553FED}"/>
              </a:ext>
            </a:extLst>
          </p:cNvPr>
          <p:cNvSpPr>
            <a:spLocks noGrp="1"/>
          </p:cNvSpPr>
          <p:nvPr>
            <p:ph type="sldNum" sz="quarter" idx="12"/>
          </p:nvPr>
        </p:nvSpPr>
        <p:spPr/>
        <p:txBody>
          <a:bodyPr/>
          <a:lstStyle/>
          <a:p>
            <a:fld id="{0528445E-D994-45D7-83A9-CAB88487D688}" type="slidenum">
              <a:rPr lang="en-AU" smtClean="0"/>
              <a:t>‹#›</a:t>
            </a:fld>
            <a:endParaRPr lang="en-AU"/>
          </a:p>
        </p:txBody>
      </p:sp>
    </p:spTree>
    <p:extLst>
      <p:ext uri="{BB962C8B-B14F-4D97-AF65-F5344CB8AC3E}">
        <p14:creationId xmlns:p14="http://schemas.microsoft.com/office/powerpoint/2010/main" val="3023444594"/>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59591B-E0C1-1404-E92E-3F12A949DAE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AU"/>
          </a:p>
        </p:txBody>
      </p:sp>
      <p:sp>
        <p:nvSpPr>
          <p:cNvPr id="3" name="Text Placeholder 2">
            <a:extLst>
              <a:ext uri="{FF2B5EF4-FFF2-40B4-BE49-F238E27FC236}">
                <a16:creationId xmlns:a16="http://schemas.microsoft.com/office/drawing/2014/main" id="{0A0241D1-13AD-5DB6-0765-5DA0CC6270F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ADA3C2E-F0E0-4B0F-4DBF-7AB9A4E23087}"/>
              </a:ext>
            </a:extLst>
          </p:cNvPr>
          <p:cNvSpPr>
            <a:spLocks noGrp="1"/>
          </p:cNvSpPr>
          <p:nvPr>
            <p:ph type="dt" sz="half" idx="10"/>
          </p:nvPr>
        </p:nvSpPr>
        <p:spPr/>
        <p:txBody>
          <a:bodyPr/>
          <a:lstStyle/>
          <a:p>
            <a:fld id="{7A66863F-F1B7-4DFF-9140-60A6FCD837C2}" type="datetimeFigureOut">
              <a:rPr lang="en-AU" smtClean="0"/>
              <a:t>26/6/2026</a:t>
            </a:fld>
            <a:endParaRPr lang="en-AU"/>
          </a:p>
        </p:txBody>
      </p:sp>
      <p:sp>
        <p:nvSpPr>
          <p:cNvPr id="5" name="Footer Placeholder 4">
            <a:extLst>
              <a:ext uri="{FF2B5EF4-FFF2-40B4-BE49-F238E27FC236}">
                <a16:creationId xmlns:a16="http://schemas.microsoft.com/office/drawing/2014/main" id="{BA36EED8-E15D-C8B0-D868-CB9654809CFE}"/>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D6C271A3-AB48-0A4D-0D30-66A6578BBDD3}"/>
              </a:ext>
            </a:extLst>
          </p:cNvPr>
          <p:cNvSpPr>
            <a:spLocks noGrp="1"/>
          </p:cNvSpPr>
          <p:nvPr>
            <p:ph type="sldNum" sz="quarter" idx="12"/>
          </p:nvPr>
        </p:nvSpPr>
        <p:spPr/>
        <p:txBody>
          <a:bodyPr/>
          <a:lstStyle/>
          <a:p>
            <a:fld id="{0528445E-D994-45D7-83A9-CAB88487D688}" type="slidenum">
              <a:rPr lang="en-AU" smtClean="0"/>
              <a:t>‹#›</a:t>
            </a:fld>
            <a:endParaRPr lang="en-AU"/>
          </a:p>
        </p:txBody>
      </p:sp>
    </p:spTree>
    <p:extLst>
      <p:ext uri="{BB962C8B-B14F-4D97-AF65-F5344CB8AC3E}">
        <p14:creationId xmlns:p14="http://schemas.microsoft.com/office/powerpoint/2010/main" val="297883196"/>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C58B92-CEC9-E4A4-90DD-525CD21D3AE2}"/>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1BFF080E-D009-853F-A8A3-32BB6976DDB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a:extLst>
              <a:ext uri="{FF2B5EF4-FFF2-40B4-BE49-F238E27FC236}">
                <a16:creationId xmlns:a16="http://schemas.microsoft.com/office/drawing/2014/main" id="{B42E46ED-3F68-8CC4-27D8-0EBDC475E41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a:extLst>
              <a:ext uri="{FF2B5EF4-FFF2-40B4-BE49-F238E27FC236}">
                <a16:creationId xmlns:a16="http://schemas.microsoft.com/office/drawing/2014/main" id="{A65551F9-BAAE-AEB6-4D45-3784A63511D1}"/>
              </a:ext>
            </a:extLst>
          </p:cNvPr>
          <p:cNvSpPr>
            <a:spLocks noGrp="1"/>
          </p:cNvSpPr>
          <p:nvPr>
            <p:ph type="dt" sz="half" idx="10"/>
          </p:nvPr>
        </p:nvSpPr>
        <p:spPr/>
        <p:txBody>
          <a:bodyPr/>
          <a:lstStyle/>
          <a:p>
            <a:fld id="{7A66863F-F1B7-4DFF-9140-60A6FCD837C2}" type="datetimeFigureOut">
              <a:rPr lang="en-AU" smtClean="0"/>
              <a:t>26/6/2026</a:t>
            </a:fld>
            <a:endParaRPr lang="en-AU"/>
          </a:p>
        </p:txBody>
      </p:sp>
      <p:sp>
        <p:nvSpPr>
          <p:cNvPr id="6" name="Footer Placeholder 5">
            <a:extLst>
              <a:ext uri="{FF2B5EF4-FFF2-40B4-BE49-F238E27FC236}">
                <a16:creationId xmlns:a16="http://schemas.microsoft.com/office/drawing/2014/main" id="{B53DD5DD-CF3A-5217-D135-0F403F41B81E}"/>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3120F28F-C6C8-5CEF-A5F2-4DB8F96970BC}"/>
              </a:ext>
            </a:extLst>
          </p:cNvPr>
          <p:cNvSpPr>
            <a:spLocks noGrp="1"/>
          </p:cNvSpPr>
          <p:nvPr>
            <p:ph type="sldNum" sz="quarter" idx="12"/>
          </p:nvPr>
        </p:nvSpPr>
        <p:spPr/>
        <p:txBody>
          <a:bodyPr/>
          <a:lstStyle/>
          <a:p>
            <a:fld id="{0528445E-D994-45D7-83A9-CAB88487D688}" type="slidenum">
              <a:rPr lang="en-AU" smtClean="0"/>
              <a:t>‹#›</a:t>
            </a:fld>
            <a:endParaRPr lang="en-AU"/>
          </a:p>
        </p:txBody>
      </p:sp>
    </p:spTree>
    <p:extLst>
      <p:ext uri="{BB962C8B-B14F-4D97-AF65-F5344CB8AC3E}">
        <p14:creationId xmlns:p14="http://schemas.microsoft.com/office/powerpoint/2010/main" val="2044968690"/>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B87EC7-2A60-F2E3-BB92-A91F657B0FD8}"/>
              </a:ext>
            </a:extLst>
          </p:cNvPr>
          <p:cNvSpPr>
            <a:spLocks noGrp="1"/>
          </p:cNvSpPr>
          <p:nvPr>
            <p:ph type="title"/>
          </p:nvPr>
        </p:nvSpPr>
        <p:spPr>
          <a:xfrm>
            <a:off x="839788" y="365125"/>
            <a:ext cx="10515600" cy="1325563"/>
          </a:xfrm>
        </p:spPr>
        <p:txBody>
          <a:bodyPr/>
          <a:lstStyle/>
          <a:p>
            <a:r>
              <a:rPr lang="en-US"/>
              <a:t>Click to edit Master title style</a:t>
            </a:r>
            <a:endParaRPr lang="en-AU"/>
          </a:p>
        </p:txBody>
      </p:sp>
      <p:sp>
        <p:nvSpPr>
          <p:cNvPr id="3" name="Text Placeholder 2">
            <a:extLst>
              <a:ext uri="{FF2B5EF4-FFF2-40B4-BE49-F238E27FC236}">
                <a16:creationId xmlns:a16="http://schemas.microsoft.com/office/drawing/2014/main" id="{BA8140E8-C382-777F-AD7F-15EABEF55F4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76A10D5-6706-0E7B-1D10-7CF0F5B4063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a:extLst>
              <a:ext uri="{FF2B5EF4-FFF2-40B4-BE49-F238E27FC236}">
                <a16:creationId xmlns:a16="http://schemas.microsoft.com/office/drawing/2014/main" id="{0EE3ECC6-D9B6-6598-EF6C-C49969CDB6A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E227FEA-5644-ACB8-2D94-C454D51908A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6">
            <a:extLst>
              <a:ext uri="{FF2B5EF4-FFF2-40B4-BE49-F238E27FC236}">
                <a16:creationId xmlns:a16="http://schemas.microsoft.com/office/drawing/2014/main" id="{93594563-F861-7393-872A-CAFD3DC9E43D}"/>
              </a:ext>
            </a:extLst>
          </p:cNvPr>
          <p:cNvSpPr>
            <a:spLocks noGrp="1"/>
          </p:cNvSpPr>
          <p:nvPr>
            <p:ph type="dt" sz="half" idx="10"/>
          </p:nvPr>
        </p:nvSpPr>
        <p:spPr/>
        <p:txBody>
          <a:bodyPr/>
          <a:lstStyle/>
          <a:p>
            <a:fld id="{7A66863F-F1B7-4DFF-9140-60A6FCD837C2}" type="datetimeFigureOut">
              <a:rPr lang="en-AU" smtClean="0"/>
              <a:t>26/6/2026</a:t>
            </a:fld>
            <a:endParaRPr lang="en-AU"/>
          </a:p>
        </p:txBody>
      </p:sp>
      <p:sp>
        <p:nvSpPr>
          <p:cNvPr id="8" name="Footer Placeholder 7">
            <a:extLst>
              <a:ext uri="{FF2B5EF4-FFF2-40B4-BE49-F238E27FC236}">
                <a16:creationId xmlns:a16="http://schemas.microsoft.com/office/drawing/2014/main" id="{3472352B-0A8F-B516-1388-7BEEF4CCDDC4}"/>
              </a:ext>
            </a:extLst>
          </p:cNvPr>
          <p:cNvSpPr>
            <a:spLocks noGrp="1"/>
          </p:cNvSpPr>
          <p:nvPr>
            <p:ph type="ftr" sz="quarter" idx="11"/>
          </p:nvPr>
        </p:nvSpPr>
        <p:spPr/>
        <p:txBody>
          <a:bodyPr/>
          <a:lstStyle/>
          <a:p>
            <a:endParaRPr lang="en-AU"/>
          </a:p>
        </p:txBody>
      </p:sp>
      <p:sp>
        <p:nvSpPr>
          <p:cNvPr id="9" name="Slide Number Placeholder 8">
            <a:extLst>
              <a:ext uri="{FF2B5EF4-FFF2-40B4-BE49-F238E27FC236}">
                <a16:creationId xmlns:a16="http://schemas.microsoft.com/office/drawing/2014/main" id="{4DEAA3CC-587B-342D-85B5-55B9B88870E2}"/>
              </a:ext>
            </a:extLst>
          </p:cNvPr>
          <p:cNvSpPr>
            <a:spLocks noGrp="1"/>
          </p:cNvSpPr>
          <p:nvPr>
            <p:ph type="sldNum" sz="quarter" idx="12"/>
          </p:nvPr>
        </p:nvSpPr>
        <p:spPr/>
        <p:txBody>
          <a:bodyPr/>
          <a:lstStyle/>
          <a:p>
            <a:fld id="{0528445E-D994-45D7-83A9-CAB88487D688}" type="slidenum">
              <a:rPr lang="en-AU" smtClean="0"/>
              <a:t>‹#›</a:t>
            </a:fld>
            <a:endParaRPr lang="en-AU"/>
          </a:p>
        </p:txBody>
      </p:sp>
    </p:spTree>
    <p:extLst>
      <p:ext uri="{BB962C8B-B14F-4D97-AF65-F5344CB8AC3E}">
        <p14:creationId xmlns:p14="http://schemas.microsoft.com/office/powerpoint/2010/main" val="3865942912"/>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3683B4-CE59-A4CD-5594-A79BB79B03ED}"/>
              </a:ext>
            </a:extLst>
          </p:cNvPr>
          <p:cNvSpPr>
            <a:spLocks noGrp="1"/>
          </p:cNvSpPr>
          <p:nvPr>
            <p:ph type="title"/>
          </p:nvPr>
        </p:nvSpPr>
        <p:spPr/>
        <p:txBody>
          <a:bodyPr/>
          <a:lstStyle/>
          <a:p>
            <a:r>
              <a:rPr lang="en-US"/>
              <a:t>Click to edit Master title style</a:t>
            </a:r>
            <a:endParaRPr lang="en-AU"/>
          </a:p>
        </p:txBody>
      </p:sp>
      <p:sp>
        <p:nvSpPr>
          <p:cNvPr id="3" name="Date Placeholder 2">
            <a:extLst>
              <a:ext uri="{FF2B5EF4-FFF2-40B4-BE49-F238E27FC236}">
                <a16:creationId xmlns:a16="http://schemas.microsoft.com/office/drawing/2014/main" id="{33634B48-7E4C-7B3A-52BE-165F56467910}"/>
              </a:ext>
            </a:extLst>
          </p:cNvPr>
          <p:cNvSpPr>
            <a:spLocks noGrp="1"/>
          </p:cNvSpPr>
          <p:nvPr>
            <p:ph type="dt" sz="half" idx="10"/>
          </p:nvPr>
        </p:nvSpPr>
        <p:spPr/>
        <p:txBody>
          <a:bodyPr/>
          <a:lstStyle/>
          <a:p>
            <a:fld id="{7A66863F-F1B7-4DFF-9140-60A6FCD837C2}" type="datetimeFigureOut">
              <a:rPr lang="en-AU" smtClean="0"/>
              <a:t>26/6/2026</a:t>
            </a:fld>
            <a:endParaRPr lang="en-AU"/>
          </a:p>
        </p:txBody>
      </p:sp>
      <p:sp>
        <p:nvSpPr>
          <p:cNvPr id="4" name="Footer Placeholder 3">
            <a:extLst>
              <a:ext uri="{FF2B5EF4-FFF2-40B4-BE49-F238E27FC236}">
                <a16:creationId xmlns:a16="http://schemas.microsoft.com/office/drawing/2014/main" id="{09FF32E3-FD2C-3AAB-C53C-6330B21C099D}"/>
              </a:ext>
            </a:extLst>
          </p:cNvPr>
          <p:cNvSpPr>
            <a:spLocks noGrp="1"/>
          </p:cNvSpPr>
          <p:nvPr>
            <p:ph type="ftr" sz="quarter" idx="11"/>
          </p:nvPr>
        </p:nvSpPr>
        <p:spPr/>
        <p:txBody>
          <a:bodyPr/>
          <a:lstStyle/>
          <a:p>
            <a:endParaRPr lang="en-AU"/>
          </a:p>
        </p:txBody>
      </p:sp>
      <p:sp>
        <p:nvSpPr>
          <p:cNvPr id="5" name="Slide Number Placeholder 4">
            <a:extLst>
              <a:ext uri="{FF2B5EF4-FFF2-40B4-BE49-F238E27FC236}">
                <a16:creationId xmlns:a16="http://schemas.microsoft.com/office/drawing/2014/main" id="{8CE31105-5A2E-D0C0-8C84-EDB9F6AF1D79}"/>
              </a:ext>
            </a:extLst>
          </p:cNvPr>
          <p:cNvSpPr>
            <a:spLocks noGrp="1"/>
          </p:cNvSpPr>
          <p:nvPr>
            <p:ph type="sldNum" sz="quarter" idx="12"/>
          </p:nvPr>
        </p:nvSpPr>
        <p:spPr/>
        <p:txBody>
          <a:bodyPr/>
          <a:lstStyle/>
          <a:p>
            <a:fld id="{0528445E-D994-45D7-83A9-CAB88487D688}" type="slidenum">
              <a:rPr lang="en-AU" smtClean="0"/>
              <a:t>‹#›</a:t>
            </a:fld>
            <a:endParaRPr lang="en-AU"/>
          </a:p>
        </p:txBody>
      </p:sp>
    </p:spTree>
    <p:extLst>
      <p:ext uri="{BB962C8B-B14F-4D97-AF65-F5344CB8AC3E}">
        <p14:creationId xmlns:p14="http://schemas.microsoft.com/office/powerpoint/2010/main" val="1772919985"/>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8BCECD2-8949-4A31-A8A7-075EF85D7AE5}"/>
              </a:ext>
            </a:extLst>
          </p:cNvPr>
          <p:cNvSpPr>
            <a:spLocks noGrp="1"/>
          </p:cNvSpPr>
          <p:nvPr>
            <p:ph type="dt" sz="half" idx="10"/>
          </p:nvPr>
        </p:nvSpPr>
        <p:spPr/>
        <p:txBody>
          <a:bodyPr/>
          <a:lstStyle/>
          <a:p>
            <a:fld id="{7A66863F-F1B7-4DFF-9140-60A6FCD837C2}" type="datetimeFigureOut">
              <a:rPr lang="en-AU" smtClean="0"/>
              <a:t>26/6/2026</a:t>
            </a:fld>
            <a:endParaRPr lang="en-AU"/>
          </a:p>
        </p:txBody>
      </p:sp>
      <p:sp>
        <p:nvSpPr>
          <p:cNvPr id="3" name="Footer Placeholder 2">
            <a:extLst>
              <a:ext uri="{FF2B5EF4-FFF2-40B4-BE49-F238E27FC236}">
                <a16:creationId xmlns:a16="http://schemas.microsoft.com/office/drawing/2014/main" id="{48A0AF1C-A8E6-A7C4-3740-8941F15AA193}"/>
              </a:ext>
            </a:extLst>
          </p:cNvPr>
          <p:cNvSpPr>
            <a:spLocks noGrp="1"/>
          </p:cNvSpPr>
          <p:nvPr>
            <p:ph type="ftr" sz="quarter" idx="11"/>
          </p:nvPr>
        </p:nvSpPr>
        <p:spPr/>
        <p:txBody>
          <a:bodyPr/>
          <a:lstStyle/>
          <a:p>
            <a:endParaRPr lang="en-AU"/>
          </a:p>
        </p:txBody>
      </p:sp>
      <p:sp>
        <p:nvSpPr>
          <p:cNvPr id="4" name="Slide Number Placeholder 3">
            <a:extLst>
              <a:ext uri="{FF2B5EF4-FFF2-40B4-BE49-F238E27FC236}">
                <a16:creationId xmlns:a16="http://schemas.microsoft.com/office/drawing/2014/main" id="{8B56FB56-6593-A8E9-33A4-0F82CFA84719}"/>
              </a:ext>
            </a:extLst>
          </p:cNvPr>
          <p:cNvSpPr>
            <a:spLocks noGrp="1"/>
          </p:cNvSpPr>
          <p:nvPr>
            <p:ph type="sldNum" sz="quarter" idx="12"/>
          </p:nvPr>
        </p:nvSpPr>
        <p:spPr/>
        <p:txBody>
          <a:bodyPr/>
          <a:lstStyle/>
          <a:p>
            <a:fld id="{0528445E-D994-45D7-83A9-CAB88487D688}" type="slidenum">
              <a:rPr lang="en-AU" smtClean="0"/>
              <a:t>‹#›</a:t>
            </a:fld>
            <a:endParaRPr lang="en-AU"/>
          </a:p>
        </p:txBody>
      </p:sp>
    </p:spTree>
    <p:extLst>
      <p:ext uri="{BB962C8B-B14F-4D97-AF65-F5344CB8AC3E}">
        <p14:creationId xmlns:p14="http://schemas.microsoft.com/office/powerpoint/2010/main" val="16597898"/>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93852E-0531-1D88-7FB9-94CA54AF14B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Content Placeholder 2">
            <a:extLst>
              <a:ext uri="{FF2B5EF4-FFF2-40B4-BE49-F238E27FC236}">
                <a16:creationId xmlns:a16="http://schemas.microsoft.com/office/drawing/2014/main" id="{F2322E58-CEF5-519C-86F4-7C6C5BB9C0B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a:extLst>
              <a:ext uri="{FF2B5EF4-FFF2-40B4-BE49-F238E27FC236}">
                <a16:creationId xmlns:a16="http://schemas.microsoft.com/office/drawing/2014/main" id="{5790F209-DA77-676D-9902-9164A540C62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1515A04-5C51-5CA7-FA3F-297FE5904002}"/>
              </a:ext>
            </a:extLst>
          </p:cNvPr>
          <p:cNvSpPr>
            <a:spLocks noGrp="1"/>
          </p:cNvSpPr>
          <p:nvPr>
            <p:ph type="dt" sz="half" idx="10"/>
          </p:nvPr>
        </p:nvSpPr>
        <p:spPr/>
        <p:txBody>
          <a:bodyPr/>
          <a:lstStyle/>
          <a:p>
            <a:fld id="{7A66863F-F1B7-4DFF-9140-60A6FCD837C2}" type="datetimeFigureOut">
              <a:rPr lang="en-AU" smtClean="0"/>
              <a:t>26/6/2026</a:t>
            </a:fld>
            <a:endParaRPr lang="en-AU"/>
          </a:p>
        </p:txBody>
      </p:sp>
      <p:sp>
        <p:nvSpPr>
          <p:cNvPr id="6" name="Footer Placeholder 5">
            <a:extLst>
              <a:ext uri="{FF2B5EF4-FFF2-40B4-BE49-F238E27FC236}">
                <a16:creationId xmlns:a16="http://schemas.microsoft.com/office/drawing/2014/main" id="{3990CEB2-A9AD-CE90-E297-588AD30746A9}"/>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4DE8F20A-1393-9D2C-0282-F8CE464B4341}"/>
              </a:ext>
            </a:extLst>
          </p:cNvPr>
          <p:cNvSpPr>
            <a:spLocks noGrp="1"/>
          </p:cNvSpPr>
          <p:nvPr>
            <p:ph type="sldNum" sz="quarter" idx="12"/>
          </p:nvPr>
        </p:nvSpPr>
        <p:spPr/>
        <p:txBody>
          <a:bodyPr/>
          <a:lstStyle/>
          <a:p>
            <a:fld id="{0528445E-D994-45D7-83A9-CAB88487D688}" type="slidenum">
              <a:rPr lang="en-AU" smtClean="0"/>
              <a:t>‹#›</a:t>
            </a:fld>
            <a:endParaRPr lang="en-AU"/>
          </a:p>
        </p:txBody>
      </p:sp>
    </p:spTree>
    <p:extLst>
      <p:ext uri="{BB962C8B-B14F-4D97-AF65-F5344CB8AC3E}">
        <p14:creationId xmlns:p14="http://schemas.microsoft.com/office/powerpoint/2010/main" val="2502225795"/>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B27B72-6E81-B96B-F1B4-80C67ECF871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Picture Placeholder 2">
            <a:extLst>
              <a:ext uri="{FF2B5EF4-FFF2-40B4-BE49-F238E27FC236}">
                <a16:creationId xmlns:a16="http://schemas.microsoft.com/office/drawing/2014/main" id="{A852F6FA-C4BA-7C1C-E322-5CB3268D49A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a:extLst>
              <a:ext uri="{FF2B5EF4-FFF2-40B4-BE49-F238E27FC236}">
                <a16:creationId xmlns:a16="http://schemas.microsoft.com/office/drawing/2014/main" id="{37CD7922-CAAC-0B28-27CB-500A6CC09B2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0CA14DA-EBF3-97E3-8A2D-DB570CF16DB8}"/>
              </a:ext>
            </a:extLst>
          </p:cNvPr>
          <p:cNvSpPr>
            <a:spLocks noGrp="1"/>
          </p:cNvSpPr>
          <p:nvPr>
            <p:ph type="dt" sz="half" idx="10"/>
          </p:nvPr>
        </p:nvSpPr>
        <p:spPr/>
        <p:txBody>
          <a:bodyPr/>
          <a:lstStyle/>
          <a:p>
            <a:fld id="{7A66863F-F1B7-4DFF-9140-60A6FCD837C2}" type="datetimeFigureOut">
              <a:rPr lang="en-AU" smtClean="0"/>
              <a:t>26/6/2026</a:t>
            </a:fld>
            <a:endParaRPr lang="en-AU"/>
          </a:p>
        </p:txBody>
      </p:sp>
      <p:sp>
        <p:nvSpPr>
          <p:cNvPr id="6" name="Footer Placeholder 5">
            <a:extLst>
              <a:ext uri="{FF2B5EF4-FFF2-40B4-BE49-F238E27FC236}">
                <a16:creationId xmlns:a16="http://schemas.microsoft.com/office/drawing/2014/main" id="{B101CA19-6F7C-78C2-656F-F1A88CAB96F9}"/>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47BFDFD5-CCB9-A490-8146-486524DE1EDA}"/>
              </a:ext>
            </a:extLst>
          </p:cNvPr>
          <p:cNvSpPr>
            <a:spLocks noGrp="1"/>
          </p:cNvSpPr>
          <p:nvPr>
            <p:ph type="sldNum" sz="quarter" idx="12"/>
          </p:nvPr>
        </p:nvSpPr>
        <p:spPr/>
        <p:txBody>
          <a:bodyPr/>
          <a:lstStyle/>
          <a:p>
            <a:fld id="{0528445E-D994-45D7-83A9-CAB88487D688}" type="slidenum">
              <a:rPr lang="en-AU" smtClean="0"/>
              <a:t>‹#›</a:t>
            </a:fld>
            <a:endParaRPr lang="en-AU"/>
          </a:p>
        </p:txBody>
      </p:sp>
    </p:spTree>
    <p:extLst>
      <p:ext uri="{BB962C8B-B14F-4D97-AF65-F5344CB8AC3E}">
        <p14:creationId xmlns:p14="http://schemas.microsoft.com/office/powerpoint/2010/main" val="783816081"/>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280A8F-A1E3-D4BA-02AE-C066491D98EE}"/>
              </a:ext>
            </a:extLst>
          </p:cNvPr>
          <p:cNvSpPr>
            <a:spLocks noGrp="1"/>
          </p:cNvSpPr>
          <p:nvPr>
            <p:ph type="title"/>
          </p:nvPr>
        </p:nvSpPr>
        <p:spPr/>
        <p:txBody>
          <a:bodyPr/>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D69FAC16-2134-58FE-0910-3901D58A111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9D5B07DD-225D-D764-04FB-FC5C8B0DA014}"/>
              </a:ext>
            </a:extLst>
          </p:cNvPr>
          <p:cNvSpPr>
            <a:spLocks noGrp="1"/>
          </p:cNvSpPr>
          <p:nvPr>
            <p:ph type="dt" sz="half" idx="10"/>
          </p:nvPr>
        </p:nvSpPr>
        <p:spPr/>
        <p:txBody>
          <a:bodyPr/>
          <a:lstStyle/>
          <a:p>
            <a:fld id="{7A66863F-F1B7-4DFF-9140-60A6FCD837C2}" type="datetimeFigureOut">
              <a:rPr lang="en-AU" smtClean="0"/>
              <a:t>26/6/2026</a:t>
            </a:fld>
            <a:endParaRPr lang="en-AU"/>
          </a:p>
        </p:txBody>
      </p:sp>
      <p:sp>
        <p:nvSpPr>
          <p:cNvPr id="5" name="Footer Placeholder 4">
            <a:extLst>
              <a:ext uri="{FF2B5EF4-FFF2-40B4-BE49-F238E27FC236}">
                <a16:creationId xmlns:a16="http://schemas.microsoft.com/office/drawing/2014/main" id="{5BF80F15-3053-38AB-C62E-C3E03B89E65C}"/>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18D4D0F5-AD33-60BA-4503-10C17672D8DD}"/>
              </a:ext>
            </a:extLst>
          </p:cNvPr>
          <p:cNvSpPr>
            <a:spLocks noGrp="1"/>
          </p:cNvSpPr>
          <p:nvPr>
            <p:ph type="sldNum" sz="quarter" idx="12"/>
          </p:nvPr>
        </p:nvSpPr>
        <p:spPr/>
        <p:txBody>
          <a:bodyPr/>
          <a:lstStyle/>
          <a:p>
            <a:fld id="{0528445E-D994-45D7-83A9-CAB88487D688}" type="slidenum">
              <a:rPr lang="en-AU" smtClean="0"/>
              <a:t>‹#›</a:t>
            </a:fld>
            <a:endParaRPr lang="en-AU"/>
          </a:p>
        </p:txBody>
      </p:sp>
    </p:spTree>
    <p:extLst>
      <p:ext uri="{BB962C8B-B14F-4D97-AF65-F5344CB8AC3E}">
        <p14:creationId xmlns:p14="http://schemas.microsoft.com/office/powerpoint/2010/main" val="102045596"/>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57E2ED2-5A09-F730-2CBA-1222C533655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DAB8DAEE-49FF-300C-443F-61139AE017E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483C4C85-2C2F-6E17-1C5F-9C2DB1519903}"/>
              </a:ext>
            </a:extLst>
          </p:cNvPr>
          <p:cNvSpPr>
            <a:spLocks noGrp="1"/>
          </p:cNvSpPr>
          <p:nvPr>
            <p:ph type="dt" sz="half" idx="10"/>
          </p:nvPr>
        </p:nvSpPr>
        <p:spPr/>
        <p:txBody>
          <a:bodyPr/>
          <a:lstStyle/>
          <a:p>
            <a:fld id="{7A66863F-F1B7-4DFF-9140-60A6FCD837C2}" type="datetimeFigureOut">
              <a:rPr lang="en-AU" smtClean="0"/>
              <a:t>26/6/2026</a:t>
            </a:fld>
            <a:endParaRPr lang="en-AU"/>
          </a:p>
        </p:txBody>
      </p:sp>
      <p:sp>
        <p:nvSpPr>
          <p:cNvPr id="5" name="Footer Placeholder 4">
            <a:extLst>
              <a:ext uri="{FF2B5EF4-FFF2-40B4-BE49-F238E27FC236}">
                <a16:creationId xmlns:a16="http://schemas.microsoft.com/office/drawing/2014/main" id="{FAABA17A-A814-D3F0-9922-469D5BCA4709}"/>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F7C9245F-DAB7-267B-AF3B-DEA94D149312}"/>
              </a:ext>
            </a:extLst>
          </p:cNvPr>
          <p:cNvSpPr>
            <a:spLocks noGrp="1"/>
          </p:cNvSpPr>
          <p:nvPr>
            <p:ph type="sldNum" sz="quarter" idx="12"/>
          </p:nvPr>
        </p:nvSpPr>
        <p:spPr/>
        <p:txBody>
          <a:bodyPr/>
          <a:lstStyle/>
          <a:p>
            <a:fld id="{0528445E-D994-45D7-83A9-CAB88487D688}" type="slidenum">
              <a:rPr lang="en-AU" smtClean="0"/>
              <a:t>‹#›</a:t>
            </a:fld>
            <a:endParaRPr lang="en-AU"/>
          </a:p>
        </p:txBody>
      </p:sp>
    </p:spTree>
    <p:extLst>
      <p:ext uri="{BB962C8B-B14F-4D97-AF65-F5344CB8AC3E}">
        <p14:creationId xmlns:p14="http://schemas.microsoft.com/office/powerpoint/2010/main" val="1550979350"/>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1A5EE4C-5E65-B045-9745-377675F3447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AU"/>
          </a:p>
        </p:txBody>
      </p:sp>
      <p:sp>
        <p:nvSpPr>
          <p:cNvPr id="3" name="Text Placeholder 2">
            <a:extLst>
              <a:ext uri="{FF2B5EF4-FFF2-40B4-BE49-F238E27FC236}">
                <a16:creationId xmlns:a16="http://schemas.microsoft.com/office/drawing/2014/main" id="{F2B0BB34-5CBE-0ED0-5CE0-FE889890C37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BBFB9D85-200F-1977-6607-00E26CFCC4E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A66863F-F1B7-4DFF-9140-60A6FCD837C2}" type="datetimeFigureOut">
              <a:rPr lang="en-AU" smtClean="0"/>
              <a:t>26/6/2026</a:t>
            </a:fld>
            <a:endParaRPr lang="en-AU"/>
          </a:p>
        </p:txBody>
      </p:sp>
      <p:sp>
        <p:nvSpPr>
          <p:cNvPr id="5" name="Footer Placeholder 4">
            <a:extLst>
              <a:ext uri="{FF2B5EF4-FFF2-40B4-BE49-F238E27FC236}">
                <a16:creationId xmlns:a16="http://schemas.microsoft.com/office/drawing/2014/main" id="{1915F7E7-4470-8379-CFEB-C890A2B547C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a:p>
        </p:txBody>
      </p:sp>
      <p:sp>
        <p:nvSpPr>
          <p:cNvPr id="6" name="Slide Number Placeholder 5">
            <a:extLst>
              <a:ext uri="{FF2B5EF4-FFF2-40B4-BE49-F238E27FC236}">
                <a16:creationId xmlns:a16="http://schemas.microsoft.com/office/drawing/2014/main" id="{118D7873-8637-8615-D861-9EB522C76A7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528445E-D994-45D7-83A9-CAB88487D688}" type="slidenum">
              <a:rPr lang="en-AU" smtClean="0"/>
              <a:t>‹#›</a:t>
            </a:fld>
            <a:endParaRPr lang="en-AU"/>
          </a:p>
        </p:txBody>
      </p:sp>
    </p:spTree>
    <p:extLst>
      <p:ext uri="{BB962C8B-B14F-4D97-AF65-F5344CB8AC3E}">
        <p14:creationId xmlns:p14="http://schemas.microsoft.com/office/powerpoint/2010/main" val="227640316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microsoft.com/office/2007/relationships/hdphoto" Target="../media/hdphoto1.wdp"/><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4.xml"/><Relationship Id="rId4" Type="http://schemas.microsoft.com/office/2007/relationships/hdphoto" Target="../media/hdphoto2.wdp"/></Relationships>
</file>

<file path=ppt/slides/_rels/slide7.xml.rels><?xml version="1.0" encoding="UTF-8" standalone="yes"?>
<Relationships xmlns="http://schemas.openxmlformats.org/package/2006/relationships"><Relationship Id="rId3" Type="http://schemas.openxmlformats.org/officeDocument/2006/relationships/image" Target="../media/image8.gif"/><Relationship Id="rId2" Type="http://schemas.openxmlformats.org/officeDocument/2006/relationships/notesSlide" Target="../notesSlides/notesSlide7.xml"/><Relationship Id="rId1" Type="http://schemas.openxmlformats.org/officeDocument/2006/relationships/slideLayout" Target="../slideLayouts/slideLayout9.xml"/><Relationship Id="rId5" Type="http://schemas.microsoft.com/office/2007/relationships/hdphoto" Target="../media/hdphoto3.wdp"/><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23.jpeg"/></Relationships>
</file>

<file path=ppt/slides/_rels/slide2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5.gif"/><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27.jpe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26.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34.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person tied to a chair with an object behind him&#10;&#10;Description automatically generated">
            <a:extLst>
              <a:ext uri="{FF2B5EF4-FFF2-40B4-BE49-F238E27FC236}">
                <a16:creationId xmlns:a16="http://schemas.microsoft.com/office/drawing/2014/main" id="{E2B2063A-81CE-4F39-77AE-036DBEBFE8D3}"/>
              </a:ext>
            </a:extLst>
          </p:cNvPr>
          <p:cNvPicPr>
            <a:picLocks noChangeAspect="1"/>
          </p:cNvPicPr>
          <p:nvPr/>
        </p:nvPicPr>
        <p:blipFill>
          <a:blip r:embed="rId3">
            <a:alphaModFix amt="50000"/>
          </a:blip>
          <a:srcRect t="1722" r="-1" b="-1"/>
          <a:stretch/>
        </p:blipFill>
        <p:spPr>
          <a:xfrm>
            <a:off x="3070" y="10"/>
            <a:ext cx="12188930" cy="6857990"/>
          </a:xfrm>
          <a:prstGeom prst="rect">
            <a:avLst/>
          </a:prstGeom>
        </p:spPr>
      </p:pic>
      <p:pic>
        <p:nvPicPr>
          <p:cNvPr id="5" name="Picture 4" descr="A person tied to a chair with an object behind him&#10;&#10;Description automatically generated">
            <a:extLst>
              <a:ext uri="{FF2B5EF4-FFF2-40B4-BE49-F238E27FC236}">
                <a16:creationId xmlns:a16="http://schemas.microsoft.com/office/drawing/2014/main" id="{F5913918-D3C1-4745-40D3-070F898C494F}"/>
              </a:ext>
            </a:extLst>
          </p:cNvPr>
          <p:cNvPicPr>
            <a:picLocks noChangeAspect="1"/>
          </p:cNvPicPr>
          <p:nvPr/>
        </p:nvPicPr>
        <p:blipFill>
          <a:blip r:embed="rId4">
            <a:alphaModFix/>
            <a:extLst>
              <a:ext uri="{BEBA8EAE-BF5A-486C-A8C5-ECC9F3942E4B}">
                <a14:imgProps xmlns:a14="http://schemas.microsoft.com/office/drawing/2010/main">
                  <a14:imgLayer r:embed="rId5">
                    <a14:imgEffect>
                      <a14:brightnessContrast bright="-94000" contrast="-53000"/>
                    </a14:imgEffect>
                  </a14:imgLayer>
                </a14:imgProps>
              </a:ext>
            </a:extLst>
          </a:blip>
          <a:srcRect t="1722" r="-1" b="-1"/>
          <a:stretch/>
        </p:blipFill>
        <p:spPr>
          <a:xfrm>
            <a:off x="3070" y="10"/>
            <a:ext cx="12188930" cy="6857990"/>
          </a:xfrm>
          <a:prstGeom prst="rect">
            <a:avLst/>
          </a:prstGeom>
        </p:spPr>
      </p:pic>
      <p:sp>
        <p:nvSpPr>
          <p:cNvPr id="2" name="Title 1">
            <a:extLst>
              <a:ext uri="{FF2B5EF4-FFF2-40B4-BE49-F238E27FC236}">
                <a16:creationId xmlns:a16="http://schemas.microsoft.com/office/drawing/2014/main" id="{5D53CBD4-DD5B-F4BE-2087-3A8877BA3391}"/>
              </a:ext>
            </a:extLst>
          </p:cNvPr>
          <p:cNvSpPr>
            <a:spLocks noGrp="1"/>
          </p:cNvSpPr>
          <p:nvPr>
            <p:ph type="ctrTitle"/>
          </p:nvPr>
        </p:nvSpPr>
        <p:spPr>
          <a:xfrm>
            <a:off x="873760" y="1562963"/>
            <a:ext cx="9966960" cy="2306637"/>
          </a:xfrm>
        </p:spPr>
        <p:txBody>
          <a:bodyPr>
            <a:normAutofit/>
          </a:bodyPr>
          <a:lstStyle/>
          <a:p>
            <a:r>
              <a:rPr lang="en-US" sz="4800" b="1">
                <a:solidFill>
                  <a:schemeClr val="bg1"/>
                </a:solidFill>
              </a:rPr>
              <a:t>Negotiation: </a:t>
            </a:r>
            <a:r>
              <a:rPr lang="en-US" sz="4800">
                <a:solidFill>
                  <a:schemeClr val="bg1"/>
                </a:solidFill>
              </a:rPr>
              <a:t>What, Why and How</a:t>
            </a:r>
            <a:br>
              <a:rPr lang="en-US" sz="4800">
                <a:solidFill>
                  <a:schemeClr val="bg1"/>
                </a:solidFill>
              </a:rPr>
            </a:br>
            <a:r>
              <a:rPr lang="en-US" sz="4800">
                <a:solidFill>
                  <a:schemeClr val="bg1"/>
                </a:solidFill>
              </a:rPr>
              <a:t>Hostage &amp; Crisis Tactics for </a:t>
            </a:r>
            <a:r>
              <a:rPr lang="en-US" sz="4800" i="1" u="sng">
                <a:solidFill>
                  <a:schemeClr val="bg1"/>
                </a:solidFill>
              </a:rPr>
              <a:t>Everywhere</a:t>
            </a:r>
            <a:endParaRPr lang="en-US" sz="4800" i="1" u="sng" dirty="0">
              <a:solidFill>
                <a:schemeClr val="bg1"/>
              </a:solidFill>
            </a:endParaRPr>
          </a:p>
        </p:txBody>
      </p:sp>
      <p:sp>
        <p:nvSpPr>
          <p:cNvPr id="4" name="Subtitle 3">
            <a:extLst>
              <a:ext uri="{FF2B5EF4-FFF2-40B4-BE49-F238E27FC236}">
                <a16:creationId xmlns:a16="http://schemas.microsoft.com/office/drawing/2014/main" id="{07B65A04-7322-BEF3-EAF9-BF986448F559}"/>
              </a:ext>
            </a:extLst>
          </p:cNvPr>
          <p:cNvSpPr>
            <a:spLocks noGrp="1"/>
          </p:cNvSpPr>
          <p:nvPr>
            <p:ph type="subTitle" idx="1"/>
          </p:nvPr>
        </p:nvSpPr>
        <p:spPr>
          <a:xfrm>
            <a:off x="1524000" y="5432552"/>
            <a:ext cx="9144000" cy="907288"/>
          </a:xfrm>
        </p:spPr>
        <p:txBody>
          <a:bodyPr>
            <a:normAutofit/>
          </a:bodyPr>
          <a:lstStyle/>
          <a:p>
            <a:r>
              <a:rPr kumimoji="0" lang="en-US" altLang="en-US" sz="1800" i="0" u="none" strike="noStrike" cap="none" normalizeH="0" baseline="0">
                <a:ln>
                  <a:noFill/>
                </a:ln>
                <a:solidFill>
                  <a:schemeClr val="bg1"/>
                </a:solidFill>
                <a:effectLst/>
                <a:latin typeface="Tahoma" panose="020B0604030504040204" pitchFamily="34" charset="0"/>
              </a:rPr>
              <a:t>Dr. Nicholas Spooner </a:t>
            </a:r>
          </a:p>
          <a:p>
            <a:r>
              <a:rPr kumimoji="0" lang="en-US" altLang="en-US" sz="1800" b="0" i="0" u="none" strike="noStrike" cap="none" normalizeH="0" baseline="0">
                <a:ln>
                  <a:noFill/>
                </a:ln>
                <a:solidFill>
                  <a:schemeClr val="bg1"/>
                </a:solidFill>
                <a:effectLst/>
                <a:latin typeface="Tahoma" panose="020B0604030504040204" pitchFamily="34" charset="0"/>
              </a:rPr>
              <a:t>B.Eng (Aerospace) M.A.Sc (Biomedical) MBBS (Hons) FACEM AICGG</a:t>
            </a:r>
            <a:endParaRPr lang="en-US" sz="1800" dirty="0">
              <a:solidFill>
                <a:schemeClr val="bg1"/>
              </a:solidFill>
            </a:endParaRPr>
          </a:p>
        </p:txBody>
      </p:sp>
    </p:spTree>
    <p:extLst>
      <p:ext uri="{BB962C8B-B14F-4D97-AF65-F5344CB8AC3E}">
        <p14:creationId xmlns:p14="http://schemas.microsoft.com/office/powerpoint/2010/main" val="1865243699"/>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Movie Review: &quot;Thor&quot;: Heavy Hangs the Hand that Holds the Hammer (or,  Blondes Don't Really Have More Fun) - The Tangential">
            <a:extLst>
              <a:ext uri="{FF2B5EF4-FFF2-40B4-BE49-F238E27FC236}">
                <a16:creationId xmlns:a16="http://schemas.microsoft.com/office/drawing/2014/main" id="{61F834B8-A90C-9977-043E-400430630480}"/>
              </a:ext>
            </a:extLst>
          </p:cNvPr>
          <p:cNvPicPr>
            <a:picLocks noGrp="1" noChangeAspect="1" noChangeArrowheads="1"/>
          </p:cNvPicPr>
          <p:nvPr>
            <p:ph idx="1"/>
          </p:nvPr>
        </p:nvPicPr>
        <p:blipFill>
          <a:blip r:embed="rId3">
            <a:extLst>
              <a:ext uri="{28A0092B-C50C-407E-A947-70E740481C1C}">
                <a14:useLocalDpi xmlns:a14="http://schemas.microsoft.com/office/drawing/2010/main"/>
              </a:ext>
            </a:extLst>
          </a:blip>
          <a:srcRect/>
          <a:stretch/>
        </p:blipFill>
        <p:spPr bwMode="auto">
          <a:xfrm>
            <a:off x="20" y="1282"/>
            <a:ext cx="12191980" cy="68567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02110991"/>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04812C46-200A-4DEB-A05E-3ED6C68C23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9"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4" descr="Negotiation: Definition, Stages, Skills, and Strategies">
            <a:extLst>
              <a:ext uri="{FF2B5EF4-FFF2-40B4-BE49-F238E27FC236}">
                <a16:creationId xmlns:a16="http://schemas.microsoft.com/office/drawing/2014/main" id="{6A825F7C-8903-9FD3-513C-93EA9C094EBB}"/>
              </a:ext>
            </a:extLst>
          </p:cNvPr>
          <p:cNvPicPr>
            <a:picLocks noGrp="1" noChangeAspect="1" noChangeArrowheads="1"/>
          </p:cNvPicPr>
          <p:nvPr>
            <p:ph idx="1"/>
          </p:nvPr>
        </p:nvPicPr>
        <p:blipFill rotWithShape="1">
          <a:blip r:embed="rId3">
            <a:extLst>
              <a:ext uri="{28A0092B-C50C-407E-A947-70E740481C1C}">
                <a14:useLocalDpi xmlns:a14="http://schemas.microsoft.com/office/drawing/2010/main" val="0"/>
              </a:ext>
            </a:extLst>
          </a:blip>
          <a:srcRect r="5882" b="7322"/>
          <a:stretch/>
        </p:blipFill>
        <p:spPr bwMode="auto">
          <a:xfrm>
            <a:off x="2473377" y="10"/>
            <a:ext cx="9718623" cy="6857990"/>
          </a:xfrm>
          <a:prstGeom prst="rect">
            <a:avLst/>
          </a:prstGeom>
          <a:noFill/>
          <a:extLst>
            <a:ext uri="{909E8E84-426E-40DD-AFC4-6F175D3DCCD1}">
              <a14:hiddenFill xmlns:a14="http://schemas.microsoft.com/office/drawing/2010/main">
                <a:solidFill>
                  <a:srgbClr val="FFFFFF"/>
                </a:solidFill>
              </a14:hiddenFill>
            </a:ext>
          </a:extLst>
        </p:spPr>
      </p:pic>
      <p:sp>
        <p:nvSpPr>
          <p:cNvPr id="15" name="Rectangle 14">
            <a:extLst>
              <a:ext uri="{FF2B5EF4-FFF2-40B4-BE49-F238E27FC236}">
                <a16:creationId xmlns:a16="http://schemas.microsoft.com/office/drawing/2014/main" id="{D1EA859B-E555-4109-94F3-6700E046E0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7390263" cy="6858000"/>
          </a:xfrm>
          <a:prstGeom prst="rect">
            <a:avLst/>
          </a:prstGeom>
          <a:gradFill>
            <a:gsLst>
              <a:gs pos="48000">
                <a:schemeClr val="bg1"/>
              </a:gs>
              <a:gs pos="35000">
                <a:schemeClr val="bg1">
                  <a:alpha val="77000"/>
                </a:schemeClr>
              </a:gs>
              <a:gs pos="19000">
                <a:schemeClr val="bg1">
                  <a:alpha val="38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BEDEDC1-9946-A0A6-9F89-0514ECEF173A}"/>
              </a:ext>
            </a:extLst>
          </p:cNvPr>
          <p:cNvSpPr>
            <a:spLocks noGrp="1"/>
          </p:cNvSpPr>
          <p:nvPr>
            <p:ph type="title"/>
          </p:nvPr>
        </p:nvSpPr>
        <p:spPr>
          <a:xfrm>
            <a:off x="838200" y="365125"/>
            <a:ext cx="3822189" cy="1899912"/>
          </a:xfrm>
        </p:spPr>
        <p:txBody>
          <a:bodyPr vert="horz" lIns="91440" tIns="45720" rIns="91440" bIns="45720" rtlCol="0" anchor="ctr">
            <a:normAutofit/>
          </a:bodyPr>
          <a:lstStyle/>
          <a:p>
            <a:r>
              <a:rPr lang="en-US" sz="4000" dirty="0"/>
              <a:t>Importance of Negotiation Skills</a:t>
            </a:r>
          </a:p>
        </p:txBody>
      </p:sp>
      <p:sp>
        <p:nvSpPr>
          <p:cNvPr id="7" name="Text Placeholder 6">
            <a:extLst>
              <a:ext uri="{FF2B5EF4-FFF2-40B4-BE49-F238E27FC236}">
                <a16:creationId xmlns:a16="http://schemas.microsoft.com/office/drawing/2014/main" id="{DF1B68FD-B4CC-2F9A-0B10-A7456434C7D2}"/>
              </a:ext>
            </a:extLst>
          </p:cNvPr>
          <p:cNvSpPr>
            <a:spLocks noGrp="1"/>
          </p:cNvSpPr>
          <p:nvPr>
            <p:ph type="body" sz="half" idx="2"/>
          </p:nvPr>
        </p:nvSpPr>
        <p:spPr>
          <a:xfrm>
            <a:off x="838200" y="2434201"/>
            <a:ext cx="3822189" cy="3742762"/>
          </a:xfrm>
        </p:spPr>
        <p:txBody>
          <a:bodyPr vert="horz" lIns="91440" tIns="45720" rIns="91440" bIns="45720" rtlCol="0">
            <a:normAutofit/>
          </a:bodyPr>
          <a:lstStyle/>
          <a:p>
            <a:pPr indent="-228600">
              <a:buFont typeface="Arial" panose="020B0604020202020204" pitchFamily="34" charset="0"/>
              <a:buChar char="•"/>
            </a:pPr>
            <a:r>
              <a:rPr lang="en-US" sz="2000" dirty="0"/>
              <a:t>Resolved Conflict</a:t>
            </a:r>
          </a:p>
          <a:p>
            <a:pPr indent="-228600">
              <a:buFont typeface="Arial" panose="020B0604020202020204" pitchFamily="34" charset="0"/>
              <a:buChar char="•"/>
            </a:pPr>
            <a:r>
              <a:rPr lang="en-US" sz="2000" dirty="0"/>
              <a:t>Creates Value</a:t>
            </a:r>
          </a:p>
          <a:p>
            <a:pPr indent="-228600">
              <a:buFont typeface="Arial" panose="020B0604020202020204" pitchFamily="34" charset="0"/>
              <a:buChar char="•"/>
            </a:pPr>
            <a:endParaRPr lang="en-US" sz="2000" dirty="0"/>
          </a:p>
          <a:p>
            <a:pPr indent="-228600">
              <a:buFont typeface="Arial" panose="020B0604020202020204" pitchFamily="34" charset="0"/>
              <a:buChar char="•"/>
            </a:pPr>
            <a:r>
              <a:rPr lang="en-US" sz="2000" dirty="0"/>
              <a:t>Builds Relationships</a:t>
            </a:r>
          </a:p>
          <a:p>
            <a:pPr indent="-228600">
              <a:buFont typeface="Arial" panose="020B0604020202020204" pitchFamily="34" charset="0"/>
              <a:buChar char="•"/>
            </a:pPr>
            <a:r>
              <a:rPr lang="en-US" sz="2000" dirty="0"/>
              <a:t>Increases Profits</a:t>
            </a:r>
          </a:p>
          <a:p>
            <a:pPr indent="-228600">
              <a:buFont typeface="Arial" panose="020B0604020202020204" pitchFamily="34" charset="0"/>
              <a:buChar char="•"/>
            </a:pPr>
            <a:r>
              <a:rPr lang="en-US" sz="2000" dirty="0"/>
              <a:t>Enhances Communication</a:t>
            </a:r>
          </a:p>
          <a:p>
            <a:pPr indent="-228600">
              <a:buFont typeface="Arial" panose="020B0604020202020204" pitchFamily="34" charset="0"/>
              <a:buChar char="•"/>
            </a:pPr>
            <a:r>
              <a:rPr lang="en-US" sz="2000" dirty="0"/>
              <a:t>Promotes Creativity</a:t>
            </a:r>
          </a:p>
          <a:p>
            <a:pPr indent="-228600">
              <a:buFont typeface="Arial" panose="020B0604020202020204" pitchFamily="34" charset="0"/>
              <a:buChar char="•"/>
            </a:pPr>
            <a:endParaRPr lang="en-US" sz="2000" dirty="0"/>
          </a:p>
          <a:p>
            <a:pPr indent="-228600">
              <a:buFont typeface="Arial" panose="020B0604020202020204" pitchFamily="34" charset="0"/>
              <a:buChar char="•"/>
            </a:pPr>
            <a:endParaRPr lang="en-US" sz="2000" dirty="0"/>
          </a:p>
          <a:p>
            <a:pPr indent="-228600">
              <a:buFont typeface="Arial" panose="020B0604020202020204" pitchFamily="34" charset="0"/>
              <a:buChar char="•"/>
            </a:pPr>
            <a:endParaRPr lang="en-US" sz="2000" dirty="0"/>
          </a:p>
          <a:p>
            <a:pPr indent="-228600">
              <a:buFont typeface="Arial" panose="020B0604020202020204" pitchFamily="34" charset="0"/>
              <a:buChar char="•"/>
            </a:pPr>
            <a:endParaRPr lang="en-US" sz="2000" dirty="0"/>
          </a:p>
        </p:txBody>
      </p:sp>
    </p:spTree>
    <p:extLst>
      <p:ext uri="{BB962C8B-B14F-4D97-AF65-F5344CB8AC3E}">
        <p14:creationId xmlns:p14="http://schemas.microsoft.com/office/powerpoint/2010/main" val="3332409352"/>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1" name="Rectangle 50">
            <a:extLst>
              <a:ext uri="{FF2B5EF4-FFF2-40B4-BE49-F238E27FC236}">
                <a16:creationId xmlns:a16="http://schemas.microsoft.com/office/drawing/2014/main" id="{F13C74B1-5B17-4795-BED0-7140497B44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BEDEDC1-9946-A0A6-9F89-0514ECEF173A}"/>
              </a:ext>
            </a:extLst>
          </p:cNvPr>
          <p:cNvSpPr>
            <a:spLocks noGrp="1"/>
          </p:cNvSpPr>
          <p:nvPr>
            <p:ph type="title"/>
          </p:nvPr>
        </p:nvSpPr>
        <p:spPr>
          <a:xfrm>
            <a:off x="640080" y="325369"/>
            <a:ext cx="4368602" cy="1956841"/>
          </a:xfrm>
        </p:spPr>
        <p:txBody>
          <a:bodyPr vert="horz" lIns="91440" tIns="45720" rIns="91440" bIns="45720" rtlCol="0" anchor="b">
            <a:normAutofit/>
          </a:bodyPr>
          <a:lstStyle/>
          <a:p>
            <a:r>
              <a:rPr lang="en-US" sz="5400"/>
              <a:t>Negotiation Fundamentals</a:t>
            </a:r>
          </a:p>
        </p:txBody>
      </p:sp>
      <p:sp>
        <p:nvSpPr>
          <p:cNvPr id="53" name="sketchy line">
            <a:extLst>
              <a:ext uri="{FF2B5EF4-FFF2-40B4-BE49-F238E27FC236}">
                <a16:creationId xmlns:a16="http://schemas.microsoft.com/office/drawing/2014/main" id="{D4974D33-8DC5-464E-8C6D-BE58F0669C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2586994"/>
            <a:ext cx="3474720" cy="18288"/>
          </a:xfrm>
          <a:custGeom>
            <a:avLst/>
            <a:gdLst>
              <a:gd name="csX0" fmla="*/ 0 w 3474720"/>
              <a:gd name="csY0" fmla="*/ 0 h 18288"/>
              <a:gd name="csX1" fmla="*/ 694944 w 3474720"/>
              <a:gd name="csY1" fmla="*/ 0 h 18288"/>
              <a:gd name="csX2" fmla="*/ 1355141 w 3474720"/>
              <a:gd name="csY2" fmla="*/ 0 h 18288"/>
              <a:gd name="csX3" fmla="*/ 2015338 w 3474720"/>
              <a:gd name="csY3" fmla="*/ 0 h 18288"/>
              <a:gd name="csX4" fmla="*/ 2779776 w 3474720"/>
              <a:gd name="csY4" fmla="*/ 0 h 18288"/>
              <a:gd name="csX5" fmla="*/ 3474720 w 3474720"/>
              <a:gd name="csY5" fmla="*/ 0 h 18288"/>
              <a:gd name="csX6" fmla="*/ 3474720 w 3474720"/>
              <a:gd name="csY6" fmla="*/ 18288 h 18288"/>
              <a:gd name="csX7" fmla="*/ 2779776 w 3474720"/>
              <a:gd name="csY7" fmla="*/ 18288 h 18288"/>
              <a:gd name="csX8" fmla="*/ 2189074 w 3474720"/>
              <a:gd name="csY8" fmla="*/ 18288 h 18288"/>
              <a:gd name="csX9" fmla="*/ 1528877 w 3474720"/>
              <a:gd name="csY9" fmla="*/ 18288 h 18288"/>
              <a:gd name="csX10" fmla="*/ 868680 w 3474720"/>
              <a:gd name="csY10" fmla="*/ 18288 h 18288"/>
              <a:gd name="csX11" fmla="*/ 0 w 3474720"/>
              <a:gd name="csY11" fmla="*/ 18288 h 18288"/>
              <a:gd name="csX12" fmla="*/ 0 w 3474720"/>
              <a:gd name="csY12"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stroke="0"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 Placeholder 6">
            <a:extLst>
              <a:ext uri="{FF2B5EF4-FFF2-40B4-BE49-F238E27FC236}">
                <a16:creationId xmlns:a16="http://schemas.microsoft.com/office/drawing/2014/main" id="{DF1B68FD-B4CC-2F9A-0B10-A7456434C7D2}"/>
              </a:ext>
            </a:extLst>
          </p:cNvPr>
          <p:cNvSpPr>
            <a:spLocks noGrp="1"/>
          </p:cNvSpPr>
          <p:nvPr>
            <p:ph idx="1"/>
          </p:nvPr>
        </p:nvSpPr>
        <p:spPr>
          <a:xfrm>
            <a:off x="640080" y="2872899"/>
            <a:ext cx="4243589" cy="3320668"/>
          </a:xfrm>
        </p:spPr>
        <p:txBody>
          <a:bodyPr vert="horz" lIns="91440" tIns="45720" rIns="91440" bIns="45720" rtlCol="0">
            <a:normAutofit/>
          </a:bodyPr>
          <a:lstStyle/>
          <a:p>
            <a:pPr indent="-228600">
              <a:buFont typeface="Arial" panose="020B0604020202020204" pitchFamily="34" charset="0"/>
              <a:buChar char="•"/>
            </a:pPr>
            <a:r>
              <a:rPr lang="en-US" sz="2200" dirty="0"/>
              <a:t>ZOPA</a:t>
            </a:r>
          </a:p>
          <a:p>
            <a:pPr indent="-228600">
              <a:buFont typeface="Arial" panose="020B0604020202020204" pitchFamily="34" charset="0"/>
              <a:buChar char="•"/>
            </a:pPr>
            <a:r>
              <a:rPr lang="en-US" sz="2200" dirty="0"/>
              <a:t>BATNA</a:t>
            </a:r>
          </a:p>
          <a:p>
            <a:pPr indent="-228600">
              <a:buFont typeface="Arial" panose="020B0604020202020204" pitchFamily="34" charset="0"/>
              <a:buChar char="•"/>
            </a:pPr>
            <a:r>
              <a:rPr lang="en-US" sz="2200" dirty="0"/>
              <a:t>Anchors</a:t>
            </a:r>
          </a:p>
          <a:p>
            <a:pPr indent="-228600">
              <a:buFont typeface="Arial" panose="020B0604020202020204" pitchFamily="34" charset="0"/>
              <a:buChar char="•"/>
            </a:pPr>
            <a:r>
              <a:rPr lang="en-US" sz="2200" dirty="0"/>
              <a:t>Negotiators Dilemma</a:t>
            </a:r>
          </a:p>
          <a:p>
            <a:pPr indent="-228600">
              <a:buFont typeface="Arial" panose="020B0604020202020204" pitchFamily="34" charset="0"/>
              <a:buChar char="•"/>
            </a:pPr>
            <a:r>
              <a:rPr lang="en-US" sz="2200" dirty="0"/>
              <a:t>Creating vs Claiming Value Paradigm</a:t>
            </a:r>
          </a:p>
          <a:p>
            <a:pPr indent="-228600">
              <a:buFont typeface="Arial" panose="020B0604020202020204" pitchFamily="34" charset="0"/>
              <a:buChar char="•"/>
            </a:pPr>
            <a:endParaRPr lang="en-US" sz="2200" dirty="0"/>
          </a:p>
          <a:p>
            <a:pPr indent="-228600">
              <a:buFont typeface="Arial" panose="020B0604020202020204" pitchFamily="34" charset="0"/>
              <a:buChar char="•"/>
            </a:pPr>
            <a:endParaRPr lang="en-US" sz="2200" dirty="0"/>
          </a:p>
        </p:txBody>
      </p:sp>
      <p:pic>
        <p:nvPicPr>
          <p:cNvPr id="25" name="Picture 24" descr="Hands-on top of each other">
            <a:extLst>
              <a:ext uri="{FF2B5EF4-FFF2-40B4-BE49-F238E27FC236}">
                <a16:creationId xmlns:a16="http://schemas.microsoft.com/office/drawing/2014/main" id="{A9018C24-40EC-C6C1-E924-78F7AB907ACF}"/>
              </a:ext>
            </a:extLst>
          </p:cNvPr>
          <p:cNvPicPr>
            <a:picLocks noChangeAspect="1"/>
          </p:cNvPicPr>
          <p:nvPr/>
        </p:nvPicPr>
        <p:blipFill rotWithShape="1">
          <a:blip r:embed="rId3"/>
          <a:srcRect l="49405" r="6713" b="1"/>
          <a:stretch>
            <a:fillRect/>
          </a:stretch>
        </p:blipFill>
        <p:spPr>
          <a:xfrm>
            <a:off x="5311702"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Tree>
    <p:extLst>
      <p:ext uri="{BB962C8B-B14F-4D97-AF65-F5344CB8AC3E}">
        <p14:creationId xmlns:p14="http://schemas.microsoft.com/office/powerpoint/2010/main" val="3112948893"/>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28" name="Rectangle 1027">
            <a:extLst>
              <a:ext uri="{FF2B5EF4-FFF2-40B4-BE49-F238E27FC236}">
                <a16:creationId xmlns:a16="http://schemas.microsoft.com/office/drawing/2014/main" id="{0E91F5CA-B392-444C-88E3-BF5BAAEBDE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3" name="Freeform: Shape 1032">
            <a:extLst>
              <a:ext uri="{FF2B5EF4-FFF2-40B4-BE49-F238E27FC236}">
                <a16:creationId xmlns:a16="http://schemas.microsoft.com/office/drawing/2014/main" id="{DFCA2118-59A2-4310-A4B2-F2CBA821E8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940492"/>
            <a:ext cx="12192000" cy="1924333"/>
          </a:xfrm>
          <a:custGeom>
            <a:avLst/>
            <a:gdLst>
              <a:gd name="connsiteX0" fmla="*/ 6189199 w 12192000"/>
              <a:gd name="connsiteY0" fmla="*/ 588 h 1924333"/>
              <a:gd name="connsiteX1" fmla="*/ 6207079 w 12192000"/>
              <a:gd name="connsiteY1" fmla="*/ 2850 h 1924333"/>
              <a:gd name="connsiteX2" fmla="*/ 6285610 w 12192000"/>
              <a:gd name="connsiteY2" fmla="*/ 18131 h 1924333"/>
              <a:gd name="connsiteX3" fmla="*/ 6378008 w 12192000"/>
              <a:gd name="connsiteY3" fmla="*/ 24625 h 1924333"/>
              <a:gd name="connsiteX4" fmla="*/ 6466340 w 12192000"/>
              <a:gd name="connsiteY4" fmla="*/ 21366 h 1924333"/>
              <a:gd name="connsiteX5" fmla="*/ 6553334 w 12192000"/>
              <a:gd name="connsiteY5" fmla="*/ 35307 h 1924333"/>
              <a:gd name="connsiteX6" fmla="*/ 6626068 w 12192000"/>
              <a:gd name="connsiteY6" fmla="*/ 58045 h 1924333"/>
              <a:gd name="connsiteX7" fmla="*/ 6692303 w 12192000"/>
              <a:gd name="connsiteY7" fmla="*/ 91487 h 1924333"/>
              <a:gd name="connsiteX8" fmla="*/ 6733670 w 12192000"/>
              <a:gd name="connsiteY8" fmla="*/ 118130 h 1924333"/>
              <a:gd name="connsiteX9" fmla="*/ 6798016 w 12192000"/>
              <a:gd name="connsiteY9" fmla="*/ 112271 h 1924333"/>
              <a:gd name="connsiteX10" fmla="*/ 6801081 w 12192000"/>
              <a:gd name="connsiteY10" fmla="*/ 114963 h 1924333"/>
              <a:gd name="connsiteX11" fmla="*/ 6819351 w 12192000"/>
              <a:gd name="connsiteY11" fmla="*/ 128825 h 1924333"/>
              <a:gd name="connsiteX12" fmla="*/ 6852732 w 12192000"/>
              <a:gd name="connsiteY12" fmla="*/ 123321 h 1924333"/>
              <a:gd name="connsiteX13" fmla="*/ 6865247 w 12192000"/>
              <a:gd name="connsiteY13" fmla="*/ 128836 h 1924333"/>
              <a:gd name="connsiteX14" fmla="*/ 6905517 w 12192000"/>
              <a:gd name="connsiteY14" fmla="*/ 129265 h 1924333"/>
              <a:gd name="connsiteX15" fmla="*/ 6950286 w 12192000"/>
              <a:gd name="connsiteY15" fmla="*/ 150104 h 1924333"/>
              <a:gd name="connsiteX16" fmla="*/ 7003442 w 12192000"/>
              <a:gd name="connsiteY16" fmla="*/ 136136 h 1924333"/>
              <a:gd name="connsiteX17" fmla="*/ 7160047 w 12192000"/>
              <a:gd name="connsiteY17" fmla="*/ 166721 h 1924333"/>
              <a:gd name="connsiteX18" fmla="*/ 7325604 w 12192000"/>
              <a:gd name="connsiteY18" fmla="*/ 215867 h 1924333"/>
              <a:gd name="connsiteX19" fmla="*/ 7540522 w 12192000"/>
              <a:gd name="connsiteY19" fmla="*/ 239374 h 1924333"/>
              <a:gd name="connsiteX20" fmla="*/ 7612071 w 12192000"/>
              <a:gd name="connsiteY20" fmla="*/ 229553 h 1924333"/>
              <a:gd name="connsiteX21" fmla="*/ 7651995 w 12192000"/>
              <a:gd name="connsiteY21" fmla="*/ 244567 h 1924333"/>
              <a:gd name="connsiteX22" fmla="*/ 7725761 w 12192000"/>
              <a:gd name="connsiteY22" fmla="*/ 258638 h 1924333"/>
              <a:gd name="connsiteX23" fmla="*/ 7823038 w 12192000"/>
              <a:gd name="connsiteY23" fmla="*/ 287078 h 1924333"/>
              <a:gd name="connsiteX24" fmla="*/ 7866405 w 12192000"/>
              <a:gd name="connsiteY24" fmla="*/ 287288 h 1924333"/>
              <a:gd name="connsiteX25" fmla="*/ 7875021 w 12192000"/>
              <a:gd name="connsiteY25" fmla="*/ 288224 h 1924333"/>
              <a:gd name="connsiteX26" fmla="*/ 7875146 w 12192000"/>
              <a:gd name="connsiteY26" fmla="*/ 288614 h 1924333"/>
              <a:gd name="connsiteX27" fmla="*/ 7907443 w 12192000"/>
              <a:gd name="connsiteY27" fmla="*/ 291752 h 1924333"/>
              <a:gd name="connsiteX28" fmla="*/ 7912892 w 12192000"/>
              <a:gd name="connsiteY28" fmla="*/ 294833 h 1924333"/>
              <a:gd name="connsiteX29" fmla="*/ 7946345 w 12192000"/>
              <a:gd name="connsiteY29" fmla="*/ 319359 h 1924333"/>
              <a:gd name="connsiteX30" fmla="*/ 8021238 w 12192000"/>
              <a:gd name="connsiteY30" fmla="*/ 315159 h 1924333"/>
              <a:gd name="connsiteX31" fmla="*/ 8094697 w 12192000"/>
              <a:gd name="connsiteY31" fmla="*/ 351819 h 1924333"/>
              <a:gd name="connsiteX32" fmla="*/ 8155208 w 12192000"/>
              <a:gd name="connsiteY32" fmla="*/ 371168 h 1924333"/>
              <a:gd name="connsiteX33" fmla="*/ 8248472 w 12192000"/>
              <a:gd name="connsiteY33" fmla="*/ 400489 h 1924333"/>
              <a:gd name="connsiteX34" fmla="*/ 8300068 w 12192000"/>
              <a:gd name="connsiteY34" fmla="*/ 405531 h 1924333"/>
              <a:gd name="connsiteX35" fmla="*/ 8356293 w 12192000"/>
              <a:gd name="connsiteY35" fmla="*/ 403328 h 1924333"/>
              <a:gd name="connsiteX36" fmla="*/ 8475838 w 12192000"/>
              <a:gd name="connsiteY36" fmla="*/ 435524 h 1924333"/>
              <a:gd name="connsiteX37" fmla="*/ 8575216 w 12192000"/>
              <a:gd name="connsiteY37" fmla="*/ 450198 h 1924333"/>
              <a:gd name="connsiteX38" fmla="*/ 8588650 w 12192000"/>
              <a:gd name="connsiteY38" fmla="*/ 447070 h 1924333"/>
              <a:gd name="connsiteX39" fmla="*/ 8612184 w 12192000"/>
              <a:gd name="connsiteY39" fmla="*/ 439577 h 1924333"/>
              <a:gd name="connsiteX40" fmla="*/ 8630713 w 12192000"/>
              <a:gd name="connsiteY40" fmla="*/ 433015 h 1924333"/>
              <a:gd name="connsiteX41" fmla="*/ 8704240 w 12192000"/>
              <a:gd name="connsiteY41" fmla="*/ 422865 h 1924333"/>
              <a:gd name="connsiteX42" fmla="*/ 8829513 w 12192000"/>
              <a:gd name="connsiteY42" fmla="*/ 429389 h 1924333"/>
              <a:gd name="connsiteX43" fmla="*/ 9083651 w 12192000"/>
              <a:gd name="connsiteY43" fmla="*/ 390744 h 1924333"/>
              <a:gd name="connsiteX44" fmla="*/ 9371402 w 12192000"/>
              <a:gd name="connsiteY44" fmla="*/ 371809 h 1924333"/>
              <a:gd name="connsiteX45" fmla="*/ 9429586 w 12192000"/>
              <a:gd name="connsiteY45" fmla="*/ 369213 h 1924333"/>
              <a:gd name="connsiteX46" fmla="*/ 9489757 w 12192000"/>
              <a:gd name="connsiteY46" fmla="*/ 377814 h 1924333"/>
              <a:gd name="connsiteX47" fmla="*/ 9516954 w 12192000"/>
              <a:gd name="connsiteY47" fmla="*/ 376991 h 1924333"/>
              <a:gd name="connsiteX48" fmla="*/ 9645588 w 12192000"/>
              <a:gd name="connsiteY48" fmla="*/ 363590 h 1924333"/>
              <a:gd name="connsiteX49" fmla="*/ 9722896 w 12192000"/>
              <a:gd name="connsiteY49" fmla="*/ 360983 h 1924333"/>
              <a:gd name="connsiteX50" fmla="*/ 9752803 w 12192000"/>
              <a:gd name="connsiteY50" fmla="*/ 368492 h 1924333"/>
              <a:gd name="connsiteX51" fmla="*/ 9890305 w 12192000"/>
              <a:gd name="connsiteY51" fmla="*/ 380736 h 1924333"/>
              <a:gd name="connsiteX52" fmla="*/ 9939767 w 12192000"/>
              <a:gd name="connsiteY52" fmla="*/ 377776 h 1924333"/>
              <a:gd name="connsiteX53" fmla="*/ 9944355 w 12192000"/>
              <a:gd name="connsiteY53" fmla="*/ 377352 h 1924333"/>
              <a:gd name="connsiteX54" fmla="*/ 9953719 w 12192000"/>
              <a:gd name="connsiteY54" fmla="*/ 375642 h 1924333"/>
              <a:gd name="connsiteX55" fmla="*/ 9955809 w 12192000"/>
              <a:gd name="connsiteY55" fmla="*/ 376294 h 1924333"/>
              <a:gd name="connsiteX56" fmla="*/ 10032710 w 12192000"/>
              <a:gd name="connsiteY56" fmla="*/ 394940 h 1924333"/>
              <a:gd name="connsiteX57" fmla="*/ 10049925 w 12192000"/>
              <a:gd name="connsiteY57" fmla="*/ 404971 h 1924333"/>
              <a:gd name="connsiteX58" fmla="*/ 10112671 w 12192000"/>
              <a:gd name="connsiteY58" fmla="*/ 414549 h 1924333"/>
              <a:gd name="connsiteX59" fmla="*/ 10170853 w 12192000"/>
              <a:gd name="connsiteY59" fmla="*/ 435168 h 1924333"/>
              <a:gd name="connsiteX60" fmla="*/ 10290184 w 12192000"/>
              <a:gd name="connsiteY60" fmla="*/ 448123 h 1924333"/>
              <a:gd name="connsiteX61" fmla="*/ 10320158 w 12192000"/>
              <a:gd name="connsiteY61" fmla="*/ 458352 h 1924333"/>
              <a:gd name="connsiteX62" fmla="*/ 10321815 w 12192000"/>
              <a:gd name="connsiteY62" fmla="*/ 463087 h 1924333"/>
              <a:gd name="connsiteX63" fmla="*/ 10373742 w 12192000"/>
              <a:gd name="connsiteY63" fmla="*/ 464538 h 1924333"/>
              <a:gd name="connsiteX64" fmla="*/ 10428532 w 12192000"/>
              <a:gd name="connsiteY64" fmla="*/ 492504 h 1924333"/>
              <a:gd name="connsiteX65" fmla="*/ 10466490 w 12192000"/>
              <a:gd name="connsiteY65" fmla="*/ 517759 h 1924333"/>
              <a:gd name="connsiteX66" fmla="*/ 10466675 w 12192000"/>
              <a:gd name="connsiteY66" fmla="*/ 522076 h 1924333"/>
              <a:gd name="connsiteX67" fmla="*/ 10470309 w 12192000"/>
              <a:gd name="connsiteY67" fmla="*/ 522792 h 1924333"/>
              <a:gd name="connsiteX68" fmla="*/ 10474138 w 12192000"/>
              <a:gd name="connsiteY68" fmla="*/ 519761 h 1924333"/>
              <a:gd name="connsiteX69" fmla="*/ 10501100 w 12192000"/>
              <a:gd name="connsiteY69" fmla="*/ 528263 h 1924333"/>
              <a:gd name="connsiteX70" fmla="*/ 10502395 w 12192000"/>
              <a:gd name="connsiteY70" fmla="*/ 536393 h 1924333"/>
              <a:gd name="connsiteX71" fmla="*/ 10689496 w 12192000"/>
              <a:gd name="connsiteY71" fmla="*/ 560233 h 1924333"/>
              <a:gd name="connsiteX72" fmla="*/ 10788736 w 12192000"/>
              <a:gd name="connsiteY72" fmla="*/ 613188 h 1924333"/>
              <a:gd name="connsiteX73" fmla="*/ 10819747 w 12192000"/>
              <a:gd name="connsiteY73" fmla="*/ 621351 h 1924333"/>
              <a:gd name="connsiteX74" fmla="*/ 10864632 w 12192000"/>
              <a:gd name="connsiteY74" fmla="*/ 644858 h 1924333"/>
              <a:gd name="connsiteX75" fmla="*/ 10929407 w 12192000"/>
              <a:gd name="connsiteY75" fmla="*/ 652945 h 1924333"/>
              <a:gd name="connsiteX76" fmla="*/ 10979412 w 12192000"/>
              <a:gd name="connsiteY76" fmla="*/ 654217 h 1924333"/>
              <a:gd name="connsiteX77" fmla="*/ 11006959 w 12192000"/>
              <a:gd name="connsiteY77" fmla="*/ 657017 h 1924333"/>
              <a:gd name="connsiteX78" fmla="*/ 11077038 w 12192000"/>
              <a:gd name="connsiteY78" fmla="*/ 668487 h 1924333"/>
              <a:gd name="connsiteX79" fmla="*/ 11157850 w 12192000"/>
              <a:gd name="connsiteY79" fmla="*/ 693164 h 1924333"/>
              <a:gd name="connsiteX80" fmla="*/ 11175276 w 12192000"/>
              <a:gd name="connsiteY80" fmla="*/ 697243 h 1924333"/>
              <a:gd name="connsiteX81" fmla="*/ 11191131 w 12192000"/>
              <a:gd name="connsiteY81" fmla="*/ 696085 h 1924333"/>
              <a:gd name="connsiteX82" fmla="*/ 11195573 w 12192000"/>
              <a:gd name="connsiteY82" fmla="*/ 691751 h 1924333"/>
              <a:gd name="connsiteX83" fmla="*/ 11205299 w 12192000"/>
              <a:gd name="connsiteY83" fmla="*/ 693247 h 1924333"/>
              <a:gd name="connsiteX84" fmla="*/ 11223770 w 12192000"/>
              <a:gd name="connsiteY84" fmla="*/ 690335 h 1924333"/>
              <a:gd name="connsiteX85" fmla="*/ 11292119 w 12192000"/>
              <a:gd name="connsiteY85" fmla="*/ 713311 h 1924333"/>
              <a:gd name="connsiteX86" fmla="*/ 11435379 w 12192000"/>
              <a:gd name="connsiteY86" fmla="*/ 758519 h 1924333"/>
              <a:gd name="connsiteX87" fmla="*/ 11604406 w 12192000"/>
              <a:gd name="connsiteY87" fmla="*/ 810476 h 1924333"/>
              <a:gd name="connsiteX88" fmla="*/ 11652155 w 12192000"/>
              <a:gd name="connsiteY88" fmla="*/ 825109 h 1924333"/>
              <a:gd name="connsiteX89" fmla="*/ 11654192 w 12192000"/>
              <a:gd name="connsiteY89" fmla="*/ 827301 h 1924333"/>
              <a:gd name="connsiteX90" fmla="*/ 11676599 w 12192000"/>
              <a:gd name="connsiteY90" fmla="*/ 846628 h 1924333"/>
              <a:gd name="connsiteX91" fmla="*/ 11775168 w 12192000"/>
              <a:gd name="connsiteY91" fmla="*/ 890664 h 1924333"/>
              <a:gd name="connsiteX92" fmla="*/ 11826341 w 12192000"/>
              <a:gd name="connsiteY92" fmla="*/ 877558 h 1924333"/>
              <a:gd name="connsiteX93" fmla="*/ 11879068 w 12192000"/>
              <a:gd name="connsiteY93" fmla="*/ 874038 h 1924333"/>
              <a:gd name="connsiteX94" fmla="*/ 11889563 w 12192000"/>
              <a:gd name="connsiteY94" fmla="*/ 878619 h 1924333"/>
              <a:gd name="connsiteX95" fmla="*/ 12016613 w 12192000"/>
              <a:gd name="connsiteY95" fmla="*/ 886111 h 1924333"/>
              <a:gd name="connsiteX96" fmla="*/ 12108292 w 12192000"/>
              <a:gd name="connsiteY96" fmla="*/ 868500 h 1924333"/>
              <a:gd name="connsiteX97" fmla="*/ 12182910 w 12192000"/>
              <a:gd name="connsiteY97" fmla="*/ 882003 h 1924333"/>
              <a:gd name="connsiteX98" fmla="*/ 12192000 w 12192000"/>
              <a:gd name="connsiteY98" fmla="*/ 884778 h 1924333"/>
              <a:gd name="connsiteX99" fmla="*/ 12192000 w 12192000"/>
              <a:gd name="connsiteY99" fmla="*/ 1610315 h 1924333"/>
              <a:gd name="connsiteX100" fmla="*/ 12191998 w 12192000"/>
              <a:gd name="connsiteY100" fmla="*/ 1610315 h 1924333"/>
              <a:gd name="connsiteX101" fmla="*/ 12191998 w 12192000"/>
              <a:gd name="connsiteY101" fmla="*/ 1924333 h 1924333"/>
              <a:gd name="connsiteX102" fmla="*/ 0 w 12192000"/>
              <a:gd name="connsiteY102" fmla="*/ 1924333 h 1924333"/>
              <a:gd name="connsiteX103" fmla="*/ 0 w 12192000"/>
              <a:gd name="connsiteY103" fmla="*/ 505159 h 1924333"/>
              <a:gd name="connsiteX104" fmla="*/ 5722 w 12192000"/>
              <a:gd name="connsiteY104" fmla="*/ 508889 h 1924333"/>
              <a:gd name="connsiteX105" fmla="*/ 38476 w 12192000"/>
              <a:gd name="connsiteY105" fmla="*/ 524137 h 1924333"/>
              <a:gd name="connsiteX106" fmla="*/ 192883 w 12192000"/>
              <a:gd name="connsiteY106" fmla="*/ 545272 h 1924333"/>
              <a:gd name="connsiteX107" fmla="*/ 343710 w 12192000"/>
              <a:gd name="connsiteY107" fmla="*/ 565029 h 1924333"/>
              <a:gd name="connsiteX108" fmla="*/ 471066 w 12192000"/>
              <a:gd name="connsiteY108" fmla="*/ 549837 h 1924333"/>
              <a:gd name="connsiteX109" fmla="*/ 617333 w 12192000"/>
              <a:gd name="connsiteY109" fmla="*/ 526428 h 1924333"/>
              <a:gd name="connsiteX110" fmla="*/ 725203 w 12192000"/>
              <a:gd name="connsiteY110" fmla="*/ 523793 h 1924333"/>
              <a:gd name="connsiteX111" fmla="*/ 788494 w 12192000"/>
              <a:gd name="connsiteY111" fmla="*/ 505799 h 1924333"/>
              <a:gd name="connsiteX112" fmla="*/ 885977 w 12192000"/>
              <a:gd name="connsiteY112" fmla="*/ 526585 h 1924333"/>
              <a:gd name="connsiteX113" fmla="*/ 932142 w 12192000"/>
              <a:gd name="connsiteY113" fmla="*/ 528005 h 1924333"/>
              <a:gd name="connsiteX114" fmla="*/ 1090404 w 12192000"/>
              <a:gd name="connsiteY114" fmla="*/ 498299 h 1924333"/>
              <a:gd name="connsiteX115" fmla="*/ 1188628 w 12192000"/>
              <a:gd name="connsiteY115" fmla="*/ 483151 h 1924333"/>
              <a:gd name="connsiteX116" fmla="*/ 1316247 w 12192000"/>
              <a:gd name="connsiteY116" fmla="*/ 425979 h 1924333"/>
              <a:gd name="connsiteX117" fmla="*/ 1357712 w 12192000"/>
              <a:gd name="connsiteY117" fmla="*/ 416549 h 1924333"/>
              <a:gd name="connsiteX118" fmla="*/ 1425921 w 12192000"/>
              <a:gd name="connsiteY118" fmla="*/ 413953 h 1924333"/>
              <a:gd name="connsiteX119" fmla="*/ 1503817 w 12192000"/>
              <a:gd name="connsiteY119" fmla="*/ 380457 h 1924333"/>
              <a:gd name="connsiteX120" fmla="*/ 1639196 w 12192000"/>
              <a:gd name="connsiteY120" fmla="*/ 372785 h 1924333"/>
              <a:gd name="connsiteX121" fmla="*/ 1705606 w 12192000"/>
              <a:gd name="connsiteY121" fmla="*/ 359023 h 1924333"/>
              <a:gd name="connsiteX122" fmla="*/ 1813011 w 12192000"/>
              <a:gd name="connsiteY122" fmla="*/ 331023 h 1924333"/>
              <a:gd name="connsiteX123" fmla="*/ 1831380 w 12192000"/>
              <a:gd name="connsiteY123" fmla="*/ 341307 h 1924333"/>
              <a:gd name="connsiteX124" fmla="*/ 1858612 w 12192000"/>
              <a:gd name="connsiteY124" fmla="*/ 326777 h 1924333"/>
              <a:gd name="connsiteX125" fmla="*/ 1880661 w 12192000"/>
              <a:gd name="connsiteY125" fmla="*/ 335987 h 1924333"/>
              <a:gd name="connsiteX126" fmla="*/ 1941495 w 12192000"/>
              <a:gd name="connsiteY126" fmla="*/ 310792 h 1924333"/>
              <a:gd name="connsiteX127" fmla="*/ 1995402 w 12192000"/>
              <a:gd name="connsiteY127" fmla="*/ 305480 h 1924333"/>
              <a:gd name="connsiteX128" fmla="*/ 2223864 w 12192000"/>
              <a:gd name="connsiteY128" fmla="*/ 266118 h 1924333"/>
              <a:gd name="connsiteX129" fmla="*/ 2418043 w 12192000"/>
              <a:gd name="connsiteY129" fmla="*/ 215314 h 1924333"/>
              <a:gd name="connsiteX130" fmla="*/ 2558461 w 12192000"/>
              <a:gd name="connsiteY130" fmla="*/ 168193 h 1924333"/>
              <a:gd name="connsiteX131" fmla="*/ 2595535 w 12192000"/>
              <a:gd name="connsiteY131" fmla="*/ 158548 h 1924333"/>
              <a:gd name="connsiteX132" fmla="*/ 2626942 w 12192000"/>
              <a:gd name="connsiteY132" fmla="*/ 130400 h 1924333"/>
              <a:gd name="connsiteX133" fmla="*/ 2632225 w 12192000"/>
              <a:gd name="connsiteY133" fmla="*/ 130446 h 1924333"/>
              <a:gd name="connsiteX134" fmla="*/ 2696856 w 12192000"/>
              <a:gd name="connsiteY134" fmla="*/ 128498 h 1924333"/>
              <a:gd name="connsiteX135" fmla="*/ 2759767 w 12192000"/>
              <a:gd name="connsiteY135" fmla="*/ 127784 h 1924333"/>
              <a:gd name="connsiteX136" fmla="*/ 2792685 w 12192000"/>
              <a:gd name="connsiteY136" fmla="*/ 115710 h 1924333"/>
              <a:gd name="connsiteX137" fmla="*/ 2799767 w 12192000"/>
              <a:gd name="connsiteY137" fmla="*/ 113754 h 1924333"/>
              <a:gd name="connsiteX138" fmla="*/ 2829799 w 12192000"/>
              <a:gd name="connsiteY138" fmla="*/ 120042 h 1924333"/>
              <a:gd name="connsiteX139" fmla="*/ 2890704 w 12192000"/>
              <a:gd name="connsiteY139" fmla="*/ 121493 h 1924333"/>
              <a:gd name="connsiteX140" fmla="*/ 3042646 w 12192000"/>
              <a:gd name="connsiteY140" fmla="*/ 112273 h 1924333"/>
              <a:gd name="connsiteX141" fmla="*/ 3146630 w 12192000"/>
              <a:gd name="connsiteY141" fmla="*/ 100898 h 1924333"/>
              <a:gd name="connsiteX142" fmla="*/ 3233163 w 12192000"/>
              <a:gd name="connsiteY142" fmla="*/ 120200 h 1924333"/>
              <a:gd name="connsiteX143" fmla="*/ 3372699 w 12192000"/>
              <a:gd name="connsiteY143" fmla="*/ 129394 h 1924333"/>
              <a:gd name="connsiteX144" fmla="*/ 3394352 w 12192000"/>
              <a:gd name="connsiteY144" fmla="*/ 131671 h 1924333"/>
              <a:gd name="connsiteX145" fmla="*/ 3448218 w 12192000"/>
              <a:gd name="connsiteY145" fmla="*/ 118229 h 1924333"/>
              <a:gd name="connsiteX146" fmla="*/ 3505047 w 12192000"/>
              <a:gd name="connsiteY146" fmla="*/ 115412 h 1924333"/>
              <a:gd name="connsiteX147" fmla="*/ 3521767 w 12192000"/>
              <a:gd name="connsiteY147" fmla="*/ 111071 h 1924333"/>
              <a:gd name="connsiteX148" fmla="*/ 3585137 w 12192000"/>
              <a:gd name="connsiteY148" fmla="*/ 114371 h 1924333"/>
              <a:gd name="connsiteX149" fmla="*/ 3690293 w 12192000"/>
              <a:gd name="connsiteY149" fmla="*/ 98301 h 1924333"/>
              <a:gd name="connsiteX150" fmla="*/ 3867818 w 12192000"/>
              <a:gd name="connsiteY150" fmla="*/ 88985 h 1924333"/>
              <a:gd name="connsiteX151" fmla="*/ 4091337 w 12192000"/>
              <a:gd name="connsiteY151" fmla="*/ 70813 h 1924333"/>
              <a:gd name="connsiteX152" fmla="*/ 4246332 w 12192000"/>
              <a:gd name="connsiteY152" fmla="*/ 41697 h 1924333"/>
              <a:gd name="connsiteX153" fmla="*/ 4266975 w 12192000"/>
              <a:gd name="connsiteY153" fmla="*/ 46592 h 1924333"/>
              <a:gd name="connsiteX154" fmla="*/ 4270566 w 12192000"/>
              <a:gd name="connsiteY154" fmla="*/ 47620 h 1924333"/>
              <a:gd name="connsiteX155" fmla="*/ 4288964 w 12192000"/>
              <a:gd name="connsiteY155" fmla="*/ 52766 h 1924333"/>
              <a:gd name="connsiteX156" fmla="*/ 4365137 w 12192000"/>
              <a:gd name="connsiteY156" fmla="*/ 51783 h 1924333"/>
              <a:gd name="connsiteX157" fmla="*/ 4430546 w 12192000"/>
              <a:gd name="connsiteY157" fmla="*/ 44555 h 1924333"/>
              <a:gd name="connsiteX158" fmla="*/ 4444136 w 12192000"/>
              <a:gd name="connsiteY158" fmla="*/ 39567 h 1924333"/>
              <a:gd name="connsiteX159" fmla="*/ 4534039 w 12192000"/>
              <a:gd name="connsiteY159" fmla="*/ 31604 h 1924333"/>
              <a:gd name="connsiteX160" fmla="*/ 4560448 w 12192000"/>
              <a:gd name="connsiteY160" fmla="*/ 25231 h 1924333"/>
              <a:gd name="connsiteX161" fmla="*/ 4568006 w 12192000"/>
              <a:gd name="connsiteY161" fmla="*/ 25970 h 1924333"/>
              <a:gd name="connsiteX162" fmla="*/ 4595497 w 12192000"/>
              <a:gd name="connsiteY162" fmla="*/ 22958 h 1924333"/>
              <a:gd name="connsiteX163" fmla="*/ 4608623 w 12192000"/>
              <a:gd name="connsiteY163" fmla="*/ 18108 h 1924333"/>
              <a:gd name="connsiteX164" fmla="*/ 4623942 w 12192000"/>
              <a:gd name="connsiteY164" fmla="*/ 22251 h 1924333"/>
              <a:gd name="connsiteX165" fmla="*/ 4664336 w 12192000"/>
              <a:gd name="connsiteY165" fmla="*/ 23306 h 1924333"/>
              <a:gd name="connsiteX166" fmla="*/ 4677385 w 12192000"/>
              <a:gd name="connsiteY166" fmla="*/ 18246 h 1924333"/>
              <a:gd name="connsiteX167" fmla="*/ 4698143 w 12192000"/>
              <a:gd name="connsiteY167" fmla="*/ 18036 h 1924333"/>
              <a:gd name="connsiteX168" fmla="*/ 4750609 w 12192000"/>
              <a:gd name="connsiteY168" fmla="*/ 23611 h 1924333"/>
              <a:gd name="connsiteX169" fmla="*/ 4784658 w 12192000"/>
              <a:gd name="connsiteY169" fmla="*/ 25057 h 1924333"/>
              <a:gd name="connsiteX170" fmla="*/ 4847558 w 12192000"/>
              <a:gd name="connsiteY170" fmla="*/ 38726 h 1924333"/>
              <a:gd name="connsiteX171" fmla="*/ 4909134 w 12192000"/>
              <a:gd name="connsiteY171" fmla="*/ 50659 h 1924333"/>
              <a:gd name="connsiteX172" fmla="*/ 5099219 w 12192000"/>
              <a:gd name="connsiteY172" fmla="*/ 55050 h 1924333"/>
              <a:gd name="connsiteX173" fmla="*/ 5184992 w 12192000"/>
              <a:gd name="connsiteY173" fmla="*/ 67596 h 1924333"/>
              <a:gd name="connsiteX174" fmla="*/ 5229637 w 12192000"/>
              <a:gd name="connsiteY174" fmla="*/ 67789 h 1924333"/>
              <a:gd name="connsiteX175" fmla="*/ 5389346 w 12192000"/>
              <a:gd name="connsiteY175" fmla="*/ 80211 h 1924333"/>
              <a:gd name="connsiteX176" fmla="*/ 5494414 w 12192000"/>
              <a:gd name="connsiteY176" fmla="*/ 75926 h 1924333"/>
              <a:gd name="connsiteX177" fmla="*/ 5528443 w 12192000"/>
              <a:gd name="connsiteY177" fmla="*/ 77206 h 1924333"/>
              <a:gd name="connsiteX178" fmla="*/ 5684939 w 12192000"/>
              <a:gd name="connsiteY178" fmla="*/ 50269 h 1924333"/>
              <a:gd name="connsiteX179" fmla="*/ 5765146 w 12192000"/>
              <a:gd name="connsiteY179" fmla="*/ 50414 h 1924333"/>
              <a:gd name="connsiteX180" fmla="*/ 5848655 w 12192000"/>
              <a:gd name="connsiteY180" fmla="*/ 35257 h 1924333"/>
              <a:gd name="connsiteX181" fmla="*/ 5930656 w 12192000"/>
              <a:gd name="connsiteY181" fmla="*/ 30131 h 1924333"/>
              <a:gd name="connsiteX182" fmla="*/ 6124150 w 12192000"/>
              <a:gd name="connsiteY182" fmla="*/ 31679 h 1924333"/>
              <a:gd name="connsiteX183" fmla="*/ 6189199 w 12192000"/>
              <a:gd name="connsiteY183" fmla="*/ 588 h 1924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Lst>
            <a:rect l="l" t="t" r="r" b="b"/>
            <a:pathLst>
              <a:path w="12192000" h="1924333">
                <a:moveTo>
                  <a:pt x="6189199" y="588"/>
                </a:moveTo>
                <a:cubicBezTo>
                  <a:pt x="6196356" y="-574"/>
                  <a:pt x="6202609" y="-108"/>
                  <a:pt x="6207079" y="2850"/>
                </a:cubicBezTo>
                <a:cubicBezTo>
                  <a:pt x="6222026" y="2749"/>
                  <a:pt x="6273489" y="3767"/>
                  <a:pt x="6285610" y="18131"/>
                </a:cubicBezTo>
                <a:cubicBezTo>
                  <a:pt x="6307255" y="18685"/>
                  <a:pt x="6357141" y="23793"/>
                  <a:pt x="6378008" y="24625"/>
                </a:cubicBezTo>
                <a:cubicBezTo>
                  <a:pt x="6409946" y="30645"/>
                  <a:pt x="6438307" y="10375"/>
                  <a:pt x="6466340" y="21366"/>
                </a:cubicBezTo>
                <a:cubicBezTo>
                  <a:pt x="6488276" y="31229"/>
                  <a:pt x="6529854" y="28110"/>
                  <a:pt x="6553334" y="35307"/>
                </a:cubicBezTo>
                <a:cubicBezTo>
                  <a:pt x="6561737" y="48059"/>
                  <a:pt x="6609188" y="62087"/>
                  <a:pt x="6626068" y="58045"/>
                </a:cubicBezTo>
                <a:cubicBezTo>
                  <a:pt x="6660952" y="66570"/>
                  <a:pt x="6666277" y="84716"/>
                  <a:pt x="6692303" y="91487"/>
                </a:cubicBezTo>
                <a:lnTo>
                  <a:pt x="6733670" y="118130"/>
                </a:lnTo>
                <a:lnTo>
                  <a:pt x="6798016" y="112271"/>
                </a:lnTo>
                <a:lnTo>
                  <a:pt x="6801081" y="114963"/>
                </a:lnTo>
                <a:cubicBezTo>
                  <a:pt x="6806919" y="120140"/>
                  <a:pt x="6812832" y="125016"/>
                  <a:pt x="6819351" y="128825"/>
                </a:cubicBezTo>
                <a:cubicBezTo>
                  <a:pt x="6825742" y="109997"/>
                  <a:pt x="6840132" y="116541"/>
                  <a:pt x="6852732" y="123321"/>
                </a:cubicBezTo>
                <a:lnTo>
                  <a:pt x="6865247" y="128836"/>
                </a:lnTo>
                <a:lnTo>
                  <a:pt x="6905517" y="129265"/>
                </a:lnTo>
                <a:cubicBezTo>
                  <a:pt x="6934052" y="140042"/>
                  <a:pt x="6939773" y="141556"/>
                  <a:pt x="6950286" y="150104"/>
                </a:cubicBezTo>
                <a:lnTo>
                  <a:pt x="7003442" y="136136"/>
                </a:lnTo>
                <a:lnTo>
                  <a:pt x="7160047" y="166721"/>
                </a:lnTo>
                <a:cubicBezTo>
                  <a:pt x="7207281" y="179911"/>
                  <a:pt x="7280644" y="210197"/>
                  <a:pt x="7325604" y="215867"/>
                </a:cubicBezTo>
                <a:cubicBezTo>
                  <a:pt x="7460113" y="233904"/>
                  <a:pt x="7393081" y="242880"/>
                  <a:pt x="7540522" y="239374"/>
                </a:cubicBezTo>
                <a:cubicBezTo>
                  <a:pt x="7545714" y="234872"/>
                  <a:pt x="7605972" y="231727"/>
                  <a:pt x="7612071" y="229553"/>
                </a:cubicBezTo>
                <a:lnTo>
                  <a:pt x="7651995" y="244567"/>
                </a:lnTo>
                <a:lnTo>
                  <a:pt x="7725761" y="258638"/>
                </a:lnTo>
                <a:lnTo>
                  <a:pt x="7823038" y="287078"/>
                </a:lnTo>
                <a:cubicBezTo>
                  <a:pt x="7837080" y="286482"/>
                  <a:pt x="7851647" y="286498"/>
                  <a:pt x="7866405" y="287288"/>
                </a:cubicBezTo>
                <a:lnTo>
                  <a:pt x="7875021" y="288224"/>
                </a:lnTo>
                <a:cubicBezTo>
                  <a:pt x="7875062" y="288354"/>
                  <a:pt x="7875105" y="288483"/>
                  <a:pt x="7875146" y="288614"/>
                </a:cubicBezTo>
                <a:cubicBezTo>
                  <a:pt x="7880550" y="289202"/>
                  <a:pt x="7901153" y="290716"/>
                  <a:pt x="7907443" y="291752"/>
                </a:cubicBezTo>
                <a:lnTo>
                  <a:pt x="7912892" y="294833"/>
                </a:lnTo>
                <a:lnTo>
                  <a:pt x="7946345" y="319359"/>
                </a:lnTo>
                <a:cubicBezTo>
                  <a:pt x="7958657" y="312776"/>
                  <a:pt x="7996513" y="309749"/>
                  <a:pt x="8021238" y="315159"/>
                </a:cubicBezTo>
                <a:cubicBezTo>
                  <a:pt x="8045964" y="320570"/>
                  <a:pt x="8058169" y="340462"/>
                  <a:pt x="8094697" y="351819"/>
                </a:cubicBezTo>
                <a:cubicBezTo>
                  <a:pt x="8129587" y="361154"/>
                  <a:pt x="8116181" y="360544"/>
                  <a:pt x="8155208" y="371168"/>
                </a:cubicBezTo>
                <a:cubicBezTo>
                  <a:pt x="8196217" y="383300"/>
                  <a:pt x="8205468" y="391801"/>
                  <a:pt x="8248472" y="400489"/>
                </a:cubicBezTo>
                <a:cubicBezTo>
                  <a:pt x="8283932" y="419791"/>
                  <a:pt x="8278617" y="392031"/>
                  <a:pt x="8300068" y="405531"/>
                </a:cubicBezTo>
                <a:lnTo>
                  <a:pt x="8356293" y="403328"/>
                </a:lnTo>
                <a:cubicBezTo>
                  <a:pt x="8377247" y="404463"/>
                  <a:pt x="8438442" y="433194"/>
                  <a:pt x="8475838" y="435524"/>
                </a:cubicBezTo>
                <a:cubicBezTo>
                  <a:pt x="8510241" y="438037"/>
                  <a:pt x="8545511" y="449840"/>
                  <a:pt x="8575216" y="450198"/>
                </a:cubicBezTo>
                <a:lnTo>
                  <a:pt x="8588650" y="447070"/>
                </a:lnTo>
                <a:lnTo>
                  <a:pt x="8612184" y="439577"/>
                </a:lnTo>
                <a:lnTo>
                  <a:pt x="8630713" y="433015"/>
                </a:lnTo>
                <a:cubicBezTo>
                  <a:pt x="8635870" y="429519"/>
                  <a:pt x="8700685" y="428411"/>
                  <a:pt x="8704240" y="422865"/>
                </a:cubicBezTo>
                <a:cubicBezTo>
                  <a:pt x="8761777" y="429549"/>
                  <a:pt x="8768302" y="427178"/>
                  <a:pt x="8829513" y="429389"/>
                </a:cubicBezTo>
                <a:cubicBezTo>
                  <a:pt x="8922895" y="444672"/>
                  <a:pt x="8924579" y="401507"/>
                  <a:pt x="9083651" y="390744"/>
                </a:cubicBezTo>
                <a:cubicBezTo>
                  <a:pt x="9138403" y="388032"/>
                  <a:pt x="9315003" y="378647"/>
                  <a:pt x="9371402" y="371809"/>
                </a:cubicBezTo>
                <a:cubicBezTo>
                  <a:pt x="9358632" y="337502"/>
                  <a:pt x="9402842" y="379364"/>
                  <a:pt x="9429586" y="369213"/>
                </a:cubicBezTo>
                <a:cubicBezTo>
                  <a:pt x="9449312" y="370213"/>
                  <a:pt x="9473938" y="373270"/>
                  <a:pt x="9489757" y="377814"/>
                </a:cubicBezTo>
                <a:cubicBezTo>
                  <a:pt x="9498164" y="379256"/>
                  <a:pt x="9507139" y="379272"/>
                  <a:pt x="9516954" y="376991"/>
                </a:cubicBezTo>
                <a:cubicBezTo>
                  <a:pt x="9548430" y="354766"/>
                  <a:pt x="9591874" y="370315"/>
                  <a:pt x="9645588" y="363590"/>
                </a:cubicBezTo>
                <a:cubicBezTo>
                  <a:pt x="9660487" y="368814"/>
                  <a:pt x="9710817" y="350550"/>
                  <a:pt x="9722896" y="360983"/>
                </a:cubicBezTo>
                <a:cubicBezTo>
                  <a:pt x="9733918" y="362239"/>
                  <a:pt x="9745201" y="356679"/>
                  <a:pt x="9752803" y="368492"/>
                </a:cubicBezTo>
                <a:cubicBezTo>
                  <a:pt x="9793268" y="374490"/>
                  <a:pt x="9843313" y="380978"/>
                  <a:pt x="9890305" y="380736"/>
                </a:cubicBezTo>
                <a:cubicBezTo>
                  <a:pt x="9912701" y="380083"/>
                  <a:pt x="9926523" y="379037"/>
                  <a:pt x="9939767" y="377776"/>
                </a:cubicBezTo>
                <a:lnTo>
                  <a:pt x="9944355" y="377352"/>
                </a:lnTo>
                <a:lnTo>
                  <a:pt x="9953719" y="375642"/>
                </a:lnTo>
                <a:lnTo>
                  <a:pt x="9955809" y="376294"/>
                </a:lnTo>
                <a:lnTo>
                  <a:pt x="10032710" y="394940"/>
                </a:lnTo>
                <a:lnTo>
                  <a:pt x="10049925" y="404971"/>
                </a:lnTo>
                <a:lnTo>
                  <a:pt x="10112671" y="414549"/>
                </a:lnTo>
                <a:cubicBezTo>
                  <a:pt x="10169643" y="412125"/>
                  <a:pt x="10132220" y="425358"/>
                  <a:pt x="10170853" y="435168"/>
                </a:cubicBezTo>
                <a:cubicBezTo>
                  <a:pt x="10206088" y="442020"/>
                  <a:pt x="10240809" y="454081"/>
                  <a:pt x="10290184" y="448123"/>
                </a:cubicBezTo>
                <a:cubicBezTo>
                  <a:pt x="10301813" y="444919"/>
                  <a:pt x="10315233" y="449499"/>
                  <a:pt x="10320158" y="458352"/>
                </a:cubicBezTo>
                <a:cubicBezTo>
                  <a:pt x="10321006" y="459876"/>
                  <a:pt x="10321565" y="461470"/>
                  <a:pt x="10321815" y="463087"/>
                </a:cubicBezTo>
                <a:cubicBezTo>
                  <a:pt x="10354058" y="457158"/>
                  <a:pt x="10355176" y="470634"/>
                  <a:pt x="10373742" y="464538"/>
                </a:cubicBezTo>
                <a:cubicBezTo>
                  <a:pt x="10403060" y="475292"/>
                  <a:pt x="10411841" y="497597"/>
                  <a:pt x="10428532" y="492504"/>
                </a:cubicBezTo>
                <a:cubicBezTo>
                  <a:pt x="10440561" y="500742"/>
                  <a:pt x="10446267" y="521930"/>
                  <a:pt x="10466490" y="517759"/>
                </a:cubicBezTo>
                <a:cubicBezTo>
                  <a:pt x="10464622" y="519986"/>
                  <a:pt x="10465013" y="521261"/>
                  <a:pt x="10466675" y="522076"/>
                </a:cubicBezTo>
                <a:lnTo>
                  <a:pt x="10470309" y="522792"/>
                </a:lnTo>
                <a:lnTo>
                  <a:pt x="10474138" y="519761"/>
                </a:lnTo>
                <a:cubicBezTo>
                  <a:pt x="10488888" y="509612"/>
                  <a:pt x="10484914" y="524734"/>
                  <a:pt x="10501100" y="528263"/>
                </a:cubicBezTo>
                <a:cubicBezTo>
                  <a:pt x="10508412" y="530705"/>
                  <a:pt x="10505426" y="533743"/>
                  <a:pt x="10502395" y="536393"/>
                </a:cubicBezTo>
                <a:lnTo>
                  <a:pt x="10689496" y="560233"/>
                </a:lnTo>
                <a:cubicBezTo>
                  <a:pt x="10721441" y="573640"/>
                  <a:pt x="10757547" y="582937"/>
                  <a:pt x="10788736" y="613188"/>
                </a:cubicBezTo>
                <a:cubicBezTo>
                  <a:pt x="10794510" y="621641"/>
                  <a:pt x="10807098" y="616073"/>
                  <a:pt x="10819747" y="621351"/>
                </a:cubicBezTo>
                <a:cubicBezTo>
                  <a:pt x="10832398" y="626630"/>
                  <a:pt x="10846356" y="639592"/>
                  <a:pt x="10864632" y="644858"/>
                </a:cubicBezTo>
                <a:cubicBezTo>
                  <a:pt x="10895617" y="652290"/>
                  <a:pt x="10921550" y="640451"/>
                  <a:pt x="10929407" y="652945"/>
                </a:cubicBezTo>
                <a:cubicBezTo>
                  <a:pt x="10945460" y="653176"/>
                  <a:pt x="10968148" y="640553"/>
                  <a:pt x="10979412" y="654217"/>
                </a:cubicBezTo>
                <a:cubicBezTo>
                  <a:pt x="10981679" y="643737"/>
                  <a:pt x="10997287" y="663414"/>
                  <a:pt x="11006959" y="657017"/>
                </a:cubicBezTo>
                <a:cubicBezTo>
                  <a:pt x="11023230" y="659396"/>
                  <a:pt x="11051890" y="662462"/>
                  <a:pt x="11077038" y="668487"/>
                </a:cubicBezTo>
                <a:cubicBezTo>
                  <a:pt x="11097000" y="690299"/>
                  <a:pt x="11141286" y="676399"/>
                  <a:pt x="11157850" y="693164"/>
                </a:cubicBezTo>
                <a:cubicBezTo>
                  <a:pt x="11163800" y="695757"/>
                  <a:pt x="11169599" y="696942"/>
                  <a:pt x="11175276" y="697243"/>
                </a:cubicBezTo>
                <a:lnTo>
                  <a:pt x="11191131" y="696085"/>
                </a:lnTo>
                <a:lnTo>
                  <a:pt x="11195573" y="691751"/>
                </a:lnTo>
                <a:lnTo>
                  <a:pt x="11205299" y="693247"/>
                </a:lnTo>
                <a:lnTo>
                  <a:pt x="11223770" y="690335"/>
                </a:lnTo>
                <a:cubicBezTo>
                  <a:pt x="11237778" y="693777"/>
                  <a:pt x="11256852" y="701947"/>
                  <a:pt x="11292119" y="713311"/>
                </a:cubicBezTo>
                <a:cubicBezTo>
                  <a:pt x="11334878" y="733451"/>
                  <a:pt x="11401662" y="729175"/>
                  <a:pt x="11435379" y="758519"/>
                </a:cubicBezTo>
                <a:lnTo>
                  <a:pt x="11604406" y="810476"/>
                </a:lnTo>
                <a:lnTo>
                  <a:pt x="11652155" y="825109"/>
                </a:lnTo>
                <a:lnTo>
                  <a:pt x="11654192" y="827301"/>
                </a:lnTo>
                <a:cubicBezTo>
                  <a:pt x="11661650" y="834729"/>
                  <a:pt x="11669215" y="841480"/>
                  <a:pt x="11676599" y="846628"/>
                </a:cubicBezTo>
                <a:cubicBezTo>
                  <a:pt x="11688258" y="861760"/>
                  <a:pt x="11752266" y="896888"/>
                  <a:pt x="11775168" y="890664"/>
                </a:cubicBezTo>
                <a:cubicBezTo>
                  <a:pt x="11790977" y="883819"/>
                  <a:pt x="11808364" y="879901"/>
                  <a:pt x="11826341" y="877558"/>
                </a:cubicBezTo>
                <a:lnTo>
                  <a:pt x="11879068" y="874038"/>
                </a:lnTo>
                <a:lnTo>
                  <a:pt x="11889563" y="878619"/>
                </a:lnTo>
                <a:lnTo>
                  <a:pt x="12016613" y="886111"/>
                </a:lnTo>
                <a:lnTo>
                  <a:pt x="12108292" y="868500"/>
                </a:lnTo>
                <a:cubicBezTo>
                  <a:pt x="12129725" y="867311"/>
                  <a:pt x="12157891" y="874537"/>
                  <a:pt x="12182910" y="882003"/>
                </a:cubicBezTo>
                <a:lnTo>
                  <a:pt x="12192000" y="884778"/>
                </a:lnTo>
                <a:lnTo>
                  <a:pt x="12192000" y="1610315"/>
                </a:lnTo>
                <a:lnTo>
                  <a:pt x="12191998" y="1610315"/>
                </a:lnTo>
                <a:lnTo>
                  <a:pt x="12191998" y="1924333"/>
                </a:lnTo>
                <a:lnTo>
                  <a:pt x="0" y="1924333"/>
                </a:lnTo>
                <a:lnTo>
                  <a:pt x="0" y="505159"/>
                </a:lnTo>
                <a:lnTo>
                  <a:pt x="5722" y="508889"/>
                </a:lnTo>
                <a:cubicBezTo>
                  <a:pt x="21614" y="518548"/>
                  <a:pt x="33814" y="524781"/>
                  <a:pt x="38476" y="524137"/>
                </a:cubicBezTo>
                <a:cubicBezTo>
                  <a:pt x="99229" y="544180"/>
                  <a:pt x="142010" y="538457"/>
                  <a:pt x="192883" y="545272"/>
                </a:cubicBezTo>
                <a:cubicBezTo>
                  <a:pt x="277629" y="525210"/>
                  <a:pt x="293434" y="558443"/>
                  <a:pt x="343710" y="565029"/>
                </a:cubicBezTo>
                <a:cubicBezTo>
                  <a:pt x="383094" y="555729"/>
                  <a:pt x="425462" y="556271"/>
                  <a:pt x="471066" y="549837"/>
                </a:cubicBezTo>
                <a:cubicBezTo>
                  <a:pt x="513583" y="544428"/>
                  <a:pt x="569194" y="531004"/>
                  <a:pt x="617333" y="526428"/>
                </a:cubicBezTo>
                <a:cubicBezTo>
                  <a:pt x="660031" y="520760"/>
                  <a:pt x="696675" y="523882"/>
                  <a:pt x="725203" y="523793"/>
                </a:cubicBezTo>
                <a:cubicBezTo>
                  <a:pt x="736650" y="521695"/>
                  <a:pt x="780513" y="502146"/>
                  <a:pt x="788494" y="505799"/>
                </a:cubicBezTo>
                <a:lnTo>
                  <a:pt x="885977" y="526585"/>
                </a:lnTo>
                <a:cubicBezTo>
                  <a:pt x="906140" y="522837"/>
                  <a:pt x="917203" y="532232"/>
                  <a:pt x="932142" y="528005"/>
                </a:cubicBezTo>
                <a:cubicBezTo>
                  <a:pt x="963701" y="524128"/>
                  <a:pt x="1061555" y="499582"/>
                  <a:pt x="1090404" y="498299"/>
                </a:cubicBezTo>
                <a:cubicBezTo>
                  <a:pt x="1132840" y="494057"/>
                  <a:pt x="1148476" y="496041"/>
                  <a:pt x="1188628" y="483151"/>
                </a:cubicBezTo>
                <a:cubicBezTo>
                  <a:pt x="1230397" y="468408"/>
                  <a:pt x="1278711" y="457638"/>
                  <a:pt x="1316247" y="425979"/>
                </a:cubicBezTo>
                <a:cubicBezTo>
                  <a:pt x="1322662" y="417251"/>
                  <a:pt x="1339433" y="418553"/>
                  <a:pt x="1357712" y="416549"/>
                </a:cubicBezTo>
                <a:cubicBezTo>
                  <a:pt x="1375991" y="414544"/>
                  <a:pt x="1423507" y="412949"/>
                  <a:pt x="1425921" y="413953"/>
                </a:cubicBezTo>
                <a:cubicBezTo>
                  <a:pt x="1450272" y="407937"/>
                  <a:pt x="1458223" y="388156"/>
                  <a:pt x="1503817" y="380457"/>
                </a:cubicBezTo>
                <a:cubicBezTo>
                  <a:pt x="1541095" y="377398"/>
                  <a:pt x="1605565" y="376357"/>
                  <a:pt x="1639196" y="372785"/>
                </a:cubicBezTo>
                <a:cubicBezTo>
                  <a:pt x="1653280" y="376736"/>
                  <a:pt x="1695289" y="365766"/>
                  <a:pt x="1705606" y="359023"/>
                </a:cubicBezTo>
                <a:cubicBezTo>
                  <a:pt x="1729169" y="336295"/>
                  <a:pt x="1793207" y="348537"/>
                  <a:pt x="1813011" y="331023"/>
                </a:cubicBezTo>
                <a:cubicBezTo>
                  <a:pt x="1820772" y="328179"/>
                  <a:pt x="1823566" y="341833"/>
                  <a:pt x="1831380" y="341307"/>
                </a:cubicBezTo>
                <a:lnTo>
                  <a:pt x="1858612" y="326777"/>
                </a:lnTo>
                <a:lnTo>
                  <a:pt x="1880661" y="335987"/>
                </a:lnTo>
                <a:lnTo>
                  <a:pt x="1941495" y="310792"/>
                </a:lnTo>
                <a:cubicBezTo>
                  <a:pt x="1978970" y="307223"/>
                  <a:pt x="1947391" y="291714"/>
                  <a:pt x="1995402" y="305480"/>
                </a:cubicBezTo>
                <a:cubicBezTo>
                  <a:pt x="2042464" y="298034"/>
                  <a:pt x="2153424" y="281146"/>
                  <a:pt x="2223864" y="266118"/>
                </a:cubicBezTo>
                <a:cubicBezTo>
                  <a:pt x="2261296" y="256300"/>
                  <a:pt x="2360518" y="238323"/>
                  <a:pt x="2418043" y="215314"/>
                </a:cubicBezTo>
                <a:cubicBezTo>
                  <a:pt x="2472088" y="206823"/>
                  <a:pt x="2499422" y="162612"/>
                  <a:pt x="2558461" y="168193"/>
                </a:cubicBezTo>
                <a:cubicBezTo>
                  <a:pt x="2559660" y="164506"/>
                  <a:pt x="2592244" y="161337"/>
                  <a:pt x="2595535" y="158548"/>
                </a:cubicBezTo>
                <a:lnTo>
                  <a:pt x="2626942" y="130400"/>
                </a:lnTo>
                <a:lnTo>
                  <a:pt x="2632225" y="130446"/>
                </a:lnTo>
                <a:lnTo>
                  <a:pt x="2696856" y="128498"/>
                </a:lnTo>
                <a:lnTo>
                  <a:pt x="2759767" y="127784"/>
                </a:lnTo>
                <a:cubicBezTo>
                  <a:pt x="2770024" y="123546"/>
                  <a:pt x="2781047" y="119463"/>
                  <a:pt x="2792685" y="115710"/>
                </a:cubicBezTo>
                <a:lnTo>
                  <a:pt x="2799767" y="113754"/>
                </a:lnTo>
                <a:lnTo>
                  <a:pt x="2829799" y="120042"/>
                </a:lnTo>
                <a:lnTo>
                  <a:pt x="2890704" y="121493"/>
                </a:lnTo>
                <a:cubicBezTo>
                  <a:pt x="2935390" y="121035"/>
                  <a:pt x="2990780" y="113193"/>
                  <a:pt x="3042646" y="112273"/>
                </a:cubicBezTo>
                <a:cubicBezTo>
                  <a:pt x="3077119" y="111474"/>
                  <a:pt x="3124089" y="100414"/>
                  <a:pt x="3146630" y="100898"/>
                </a:cubicBezTo>
                <a:cubicBezTo>
                  <a:pt x="3169381" y="117699"/>
                  <a:pt x="3224695" y="125864"/>
                  <a:pt x="3233163" y="120200"/>
                </a:cubicBezTo>
                <a:lnTo>
                  <a:pt x="3372699" y="129394"/>
                </a:lnTo>
                <a:cubicBezTo>
                  <a:pt x="3389020" y="126586"/>
                  <a:pt x="3397563" y="116804"/>
                  <a:pt x="3394352" y="131671"/>
                </a:cubicBezTo>
                <a:cubicBezTo>
                  <a:pt x="3406102" y="131485"/>
                  <a:pt x="3429770" y="120938"/>
                  <a:pt x="3448218" y="118229"/>
                </a:cubicBezTo>
                <a:lnTo>
                  <a:pt x="3505047" y="115412"/>
                </a:lnTo>
                <a:lnTo>
                  <a:pt x="3521767" y="111071"/>
                </a:lnTo>
                <a:cubicBezTo>
                  <a:pt x="3526335" y="108877"/>
                  <a:pt x="3582156" y="117732"/>
                  <a:pt x="3585137" y="114371"/>
                </a:cubicBezTo>
                <a:cubicBezTo>
                  <a:pt x="3638265" y="102098"/>
                  <a:pt x="3633789" y="98565"/>
                  <a:pt x="3690293" y="98301"/>
                </a:cubicBezTo>
                <a:cubicBezTo>
                  <a:pt x="3782197" y="112746"/>
                  <a:pt x="3826738" y="92943"/>
                  <a:pt x="3867818" y="88985"/>
                </a:cubicBezTo>
                <a:cubicBezTo>
                  <a:pt x="3943777" y="81477"/>
                  <a:pt x="3990501" y="75194"/>
                  <a:pt x="4091337" y="70813"/>
                </a:cubicBezTo>
                <a:cubicBezTo>
                  <a:pt x="4154422" y="62932"/>
                  <a:pt x="4217060" y="45734"/>
                  <a:pt x="4246332" y="41697"/>
                </a:cubicBezTo>
                <a:cubicBezTo>
                  <a:pt x="4253308" y="42804"/>
                  <a:pt x="4260125" y="44606"/>
                  <a:pt x="4266975" y="46592"/>
                </a:cubicBezTo>
                <a:lnTo>
                  <a:pt x="4270566" y="47620"/>
                </a:lnTo>
                <a:lnTo>
                  <a:pt x="4288964" y="52766"/>
                </a:lnTo>
                <a:lnTo>
                  <a:pt x="4365137" y="51783"/>
                </a:lnTo>
                <a:lnTo>
                  <a:pt x="4430546" y="44555"/>
                </a:lnTo>
                <a:lnTo>
                  <a:pt x="4444136" y="39567"/>
                </a:lnTo>
                <a:lnTo>
                  <a:pt x="4534039" y="31604"/>
                </a:lnTo>
                <a:lnTo>
                  <a:pt x="4560448" y="25231"/>
                </a:lnTo>
                <a:lnTo>
                  <a:pt x="4568006" y="25970"/>
                </a:lnTo>
                <a:cubicBezTo>
                  <a:pt x="4580278" y="23866"/>
                  <a:pt x="4594878" y="14904"/>
                  <a:pt x="4595497" y="22958"/>
                </a:cubicBezTo>
                <a:lnTo>
                  <a:pt x="4608623" y="18108"/>
                </a:lnTo>
                <a:lnTo>
                  <a:pt x="4623942" y="22251"/>
                </a:lnTo>
                <a:cubicBezTo>
                  <a:pt x="4633227" y="23117"/>
                  <a:pt x="4655429" y="23973"/>
                  <a:pt x="4664336" y="23306"/>
                </a:cubicBezTo>
                <a:lnTo>
                  <a:pt x="4677385" y="18246"/>
                </a:lnTo>
                <a:lnTo>
                  <a:pt x="4698143" y="18036"/>
                </a:lnTo>
                <a:cubicBezTo>
                  <a:pt x="4710347" y="18931"/>
                  <a:pt x="4736189" y="22441"/>
                  <a:pt x="4750609" y="23611"/>
                </a:cubicBezTo>
                <a:cubicBezTo>
                  <a:pt x="4764270" y="27424"/>
                  <a:pt x="4774858" y="29782"/>
                  <a:pt x="4784658" y="25057"/>
                </a:cubicBezTo>
                <a:cubicBezTo>
                  <a:pt x="4804708" y="29613"/>
                  <a:pt x="4822811" y="48263"/>
                  <a:pt x="4847558" y="38726"/>
                </a:cubicBezTo>
                <a:cubicBezTo>
                  <a:pt x="4868304" y="42993"/>
                  <a:pt x="4867190" y="47939"/>
                  <a:pt x="4909134" y="50659"/>
                </a:cubicBezTo>
                <a:cubicBezTo>
                  <a:pt x="4945026" y="52455"/>
                  <a:pt x="5063406" y="54096"/>
                  <a:pt x="5099219" y="55050"/>
                </a:cubicBezTo>
                <a:cubicBezTo>
                  <a:pt x="5145195" y="57873"/>
                  <a:pt x="5163254" y="65473"/>
                  <a:pt x="5184992" y="67596"/>
                </a:cubicBezTo>
                <a:cubicBezTo>
                  <a:pt x="5206728" y="69720"/>
                  <a:pt x="5195578" y="65687"/>
                  <a:pt x="5229637" y="67789"/>
                </a:cubicBezTo>
                <a:cubicBezTo>
                  <a:pt x="5263695" y="69892"/>
                  <a:pt x="5345217" y="78854"/>
                  <a:pt x="5389346" y="80211"/>
                </a:cubicBezTo>
                <a:cubicBezTo>
                  <a:pt x="5425889" y="83191"/>
                  <a:pt x="5461943" y="84751"/>
                  <a:pt x="5494414" y="75926"/>
                </a:cubicBezTo>
                <a:lnTo>
                  <a:pt x="5528443" y="77206"/>
                </a:lnTo>
                <a:cubicBezTo>
                  <a:pt x="5582723" y="71370"/>
                  <a:pt x="5638917" y="68385"/>
                  <a:pt x="5684939" y="50269"/>
                </a:cubicBezTo>
                <a:cubicBezTo>
                  <a:pt x="5724389" y="45804"/>
                  <a:pt x="5737860" y="52916"/>
                  <a:pt x="5765146" y="50414"/>
                </a:cubicBezTo>
                <a:cubicBezTo>
                  <a:pt x="5792695" y="43060"/>
                  <a:pt x="5827352" y="38097"/>
                  <a:pt x="5848655" y="35257"/>
                </a:cubicBezTo>
                <a:lnTo>
                  <a:pt x="5930656" y="30131"/>
                </a:lnTo>
                <a:lnTo>
                  <a:pt x="6124150" y="31679"/>
                </a:lnTo>
                <a:cubicBezTo>
                  <a:pt x="6138131" y="22216"/>
                  <a:pt x="6167730" y="4075"/>
                  <a:pt x="6189199" y="588"/>
                </a:cubicBez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6">
            <a:extLst>
              <a:ext uri="{FF2B5EF4-FFF2-40B4-BE49-F238E27FC236}">
                <a16:creationId xmlns:a16="http://schemas.microsoft.com/office/drawing/2014/main" id="{DFD3557F-B15A-D308-E3DD-E72FD7E93A55}"/>
              </a:ext>
            </a:extLst>
          </p:cNvPr>
          <p:cNvSpPr>
            <a:spLocks noGrp="1"/>
          </p:cNvSpPr>
          <p:nvPr>
            <p:ph type="title"/>
          </p:nvPr>
        </p:nvSpPr>
        <p:spPr>
          <a:xfrm>
            <a:off x="1255060" y="5279511"/>
            <a:ext cx="9681882" cy="739880"/>
          </a:xfrm>
        </p:spPr>
        <p:txBody>
          <a:bodyPr vert="horz" lIns="91440" tIns="45720" rIns="91440" bIns="45720" rtlCol="0" anchor="b">
            <a:normAutofit/>
          </a:bodyPr>
          <a:lstStyle/>
          <a:p>
            <a:pPr algn="ctr"/>
            <a:r>
              <a:rPr lang="en-US" sz="3600" kern="1200" dirty="0">
                <a:solidFill>
                  <a:schemeClr val="tx1">
                    <a:lumMod val="85000"/>
                    <a:lumOff val="15000"/>
                  </a:schemeClr>
                </a:solidFill>
                <a:latin typeface="+mj-lt"/>
                <a:ea typeface="+mj-ea"/>
                <a:cs typeface="+mj-cs"/>
              </a:rPr>
              <a:t>Zone of Possible Agreement (ZOPA)</a:t>
            </a:r>
          </a:p>
        </p:txBody>
      </p:sp>
      <p:pic>
        <p:nvPicPr>
          <p:cNvPr id="1026" name="Picture 2" descr="ZOPA_Negotiations.">
            <a:extLst>
              <a:ext uri="{FF2B5EF4-FFF2-40B4-BE49-F238E27FC236}">
                <a16:creationId xmlns:a16="http://schemas.microsoft.com/office/drawing/2014/main" id="{4A397184-E8A5-8A31-5CD4-333CD9DB213E}"/>
              </a:ext>
            </a:extLst>
          </p:cNvPr>
          <p:cNvPicPr>
            <a:picLocks noGrp="1" noChangeAspect="1" noChangeArrowheads="1"/>
          </p:cNvPicPr>
          <p:nvPr>
            <p:ph idx="1"/>
          </p:nvPr>
        </p:nvPicPr>
        <p:blipFill rotWithShape="1">
          <a:blip r:embed="rId3">
            <a:extLst>
              <a:ext uri="{28A0092B-C50C-407E-A947-70E740481C1C}">
                <a14:useLocalDpi xmlns:a14="http://schemas.microsoft.com/office/drawing/2010/main" val="0"/>
              </a:ext>
            </a:extLst>
          </a:blip>
          <a:srcRect l="3957" t="22947" r="4254" b="5530"/>
          <a:stretch/>
        </p:blipFill>
        <p:spPr bwMode="auto">
          <a:xfrm>
            <a:off x="0" y="328559"/>
            <a:ext cx="12179363" cy="47214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94352989"/>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4" name="Rectangle 33">
            <a:extLst>
              <a:ext uri="{FF2B5EF4-FFF2-40B4-BE49-F238E27FC236}">
                <a16:creationId xmlns:a16="http://schemas.microsoft.com/office/drawing/2014/main" id="{5DCB5928-DC7D-4612-9922-441966E156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36" name="Freeform: Shape 35">
            <a:extLst>
              <a:ext uri="{FF2B5EF4-FFF2-40B4-BE49-F238E27FC236}">
                <a16:creationId xmlns:a16="http://schemas.microsoft.com/office/drawing/2014/main" id="{682C1161-1736-45EC-99B7-33F3CAE9D5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959047" cy="6858000"/>
          </a:xfrm>
          <a:custGeom>
            <a:avLst/>
            <a:gdLst>
              <a:gd name="connsiteX0" fmla="*/ 0 w 4959047"/>
              <a:gd name="connsiteY0" fmla="*/ 0 h 6858000"/>
              <a:gd name="connsiteX1" fmla="*/ 4110127 w 4959047"/>
              <a:gd name="connsiteY1" fmla="*/ 0 h 6858000"/>
              <a:gd name="connsiteX2" fmla="*/ 4179024 w 4959047"/>
              <a:gd name="connsiteY2" fmla="*/ 123368 h 6858000"/>
              <a:gd name="connsiteX3" fmla="*/ 4959047 w 4959047"/>
              <a:gd name="connsiteY3" fmla="*/ 3429000 h 6858000"/>
              <a:gd name="connsiteX4" fmla="*/ 4179024 w 4959047"/>
              <a:gd name="connsiteY4" fmla="*/ 6734633 h 6858000"/>
              <a:gd name="connsiteX5" fmla="*/ 4110127 w 4959047"/>
              <a:gd name="connsiteY5" fmla="*/ 6858000 h 6858000"/>
              <a:gd name="connsiteX6" fmla="*/ 0 w 495904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59047" h="6858000">
                <a:moveTo>
                  <a:pt x="0" y="0"/>
                </a:moveTo>
                <a:lnTo>
                  <a:pt x="4110127" y="0"/>
                </a:lnTo>
                <a:lnTo>
                  <a:pt x="4179024" y="123368"/>
                </a:lnTo>
                <a:cubicBezTo>
                  <a:pt x="4668929" y="1045156"/>
                  <a:pt x="4959047" y="2189404"/>
                  <a:pt x="4959047" y="3429000"/>
                </a:cubicBezTo>
                <a:cubicBezTo>
                  <a:pt x="4959047" y="4668597"/>
                  <a:pt x="4668929" y="5812845"/>
                  <a:pt x="4179024" y="6734633"/>
                </a:cubicBezTo>
                <a:lnTo>
                  <a:pt x="4110127" y="6858000"/>
                </a:lnTo>
                <a:lnTo>
                  <a:pt x="0" y="6858000"/>
                </a:lnTo>
                <a:close/>
              </a:path>
            </a:pathLst>
          </a:custGeom>
          <a:ln w="9525">
            <a:solidFill>
              <a:srgbClr val="E6E6E6"/>
            </a:solidFill>
          </a:ln>
          <a:effectLst>
            <a:outerShdw blurRad="762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38" name="Freeform: Shape 37">
            <a:extLst>
              <a:ext uri="{FF2B5EF4-FFF2-40B4-BE49-F238E27FC236}">
                <a16:creationId xmlns:a16="http://schemas.microsoft.com/office/drawing/2014/main" id="{84D4DDB8-B68F-45B0-9F62-C4279996F6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948887" cy="6858000"/>
          </a:xfrm>
          <a:custGeom>
            <a:avLst/>
            <a:gdLst>
              <a:gd name="connsiteX0" fmla="*/ 0 w 4948887"/>
              <a:gd name="connsiteY0" fmla="*/ 0 h 6858000"/>
              <a:gd name="connsiteX1" fmla="*/ 4099967 w 4948887"/>
              <a:gd name="connsiteY1" fmla="*/ 0 h 6858000"/>
              <a:gd name="connsiteX2" fmla="*/ 4168864 w 4948887"/>
              <a:gd name="connsiteY2" fmla="*/ 123368 h 6858000"/>
              <a:gd name="connsiteX3" fmla="*/ 4948887 w 4948887"/>
              <a:gd name="connsiteY3" fmla="*/ 3429000 h 6858000"/>
              <a:gd name="connsiteX4" fmla="*/ 4168864 w 4948887"/>
              <a:gd name="connsiteY4" fmla="*/ 6734633 h 6858000"/>
              <a:gd name="connsiteX5" fmla="*/ 4099967 w 4948887"/>
              <a:gd name="connsiteY5" fmla="*/ 6858000 h 6858000"/>
              <a:gd name="connsiteX6" fmla="*/ 0 w 494888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48887" h="6858000">
                <a:moveTo>
                  <a:pt x="0" y="0"/>
                </a:moveTo>
                <a:lnTo>
                  <a:pt x="4099967" y="0"/>
                </a:lnTo>
                <a:lnTo>
                  <a:pt x="4168864" y="123368"/>
                </a:lnTo>
                <a:cubicBezTo>
                  <a:pt x="4658769" y="1045156"/>
                  <a:pt x="4948887" y="2189404"/>
                  <a:pt x="4948887" y="3429000"/>
                </a:cubicBezTo>
                <a:cubicBezTo>
                  <a:pt x="4948887" y="4668597"/>
                  <a:pt x="4658769" y="5812845"/>
                  <a:pt x="4168864" y="6734633"/>
                </a:cubicBezTo>
                <a:lnTo>
                  <a:pt x="4099967"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5A690A0-535E-378D-0423-9A46721402B0}"/>
              </a:ext>
            </a:extLst>
          </p:cNvPr>
          <p:cNvSpPr>
            <a:spLocks noGrp="1"/>
          </p:cNvSpPr>
          <p:nvPr>
            <p:ph type="title"/>
          </p:nvPr>
        </p:nvSpPr>
        <p:spPr>
          <a:xfrm>
            <a:off x="477981" y="1122363"/>
            <a:ext cx="4023360" cy="3204134"/>
          </a:xfrm>
        </p:spPr>
        <p:txBody>
          <a:bodyPr vert="horz" lIns="91440" tIns="45720" rIns="91440" bIns="45720" rtlCol="0" anchor="b">
            <a:normAutofit/>
          </a:bodyPr>
          <a:lstStyle/>
          <a:p>
            <a:r>
              <a:rPr lang="en-US" kern="1200" dirty="0">
                <a:solidFill>
                  <a:schemeClr val="tx1"/>
                </a:solidFill>
                <a:latin typeface="+mj-lt"/>
                <a:ea typeface="+mj-ea"/>
                <a:cs typeface="+mj-cs"/>
              </a:rPr>
              <a:t>Best Alternative To A Negotiated Agreement (BATNA)</a:t>
            </a:r>
          </a:p>
        </p:txBody>
      </p:sp>
      <p:sp>
        <p:nvSpPr>
          <p:cNvPr id="3" name="Content Placeholder 2">
            <a:extLst>
              <a:ext uri="{FF2B5EF4-FFF2-40B4-BE49-F238E27FC236}">
                <a16:creationId xmlns:a16="http://schemas.microsoft.com/office/drawing/2014/main" id="{371DD3F7-67E6-882F-E3FB-09F86DEAE9DE}"/>
              </a:ext>
            </a:extLst>
          </p:cNvPr>
          <p:cNvSpPr>
            <a:spLocks noGrp="1"/>
          </p:cNvSpPr>
          <p:nvPr>
            <p:ph sz="half" idx="2"/>
          </p:nvPr>
        </p:nvSpPr>
        <p:spPr>
          <a:xfrm>
            <a:off x="477981" y="4872922"/>
            <a:ext cx="3933306" cy="1208141"/>
          </a:xfrm>
        </p:spPr>
        <p:txBody>
          <a:bodyPr vert="horz" lIns="91440" tIns="45720" rIns="91440" bIns="45720" rtlCol="0">
            <a:normAutofit/>
          </a:bodyPr>
          <a:lstStyle/>
          <a:p>
            <a:pPr marL="0" indent="0">
              <a:buNone/>
            </a:pPr>
            <a:r>
              <a:rPr lang="en-US" sz="2000" kern="1200">
                <a:solidFill>
                  <a:schemeClr val="tx1"/>
                </a:solidFill>
                <a:latin typeface="+mn-lt"/>
                <a:ea typeface="+mn-ea"/>
                <a:cs typeface="+mn-cs"/>
              </a:rPr>
              <a:t>Fallback option if agreement can’t be reached</a:t>
            </a:r>
          </a:p>
        </p:txBody>
      </p:sp>
      <p:sp>
        <p:nvSpPr>
          <p:cNvPr id="40" name="Rectangle 39">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44" name="Rectangle 43">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402336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10" name="Content Placeholder 9" descr="BATNA Negotiation Technique for Best Alternative To a Negotiated Agreement  56943453 Vector Art at Vecteezy">
            <a:extLst>
              <a:ext uri="{FF2B5EF4-FFF2-40B4-BE49-F238E27FC236}">
                <a16:creationId xmlns:a16="http://schemas.microsoft.com/office/drawing/2014/main" id="{581D5A48-FB64-D6E5-3F08-835554D783FA}"/>
              </a:ext>
            </a:extLst>
          </p:cNvPr>
          <p:cNvPicPr>
            <a:picLocks noGrp="1" noChangeAspect="1"/>
          </p:cNvPicPr>
          <p:nvPr>
            <p:ph sz="half" idx="1"/>
          </p:nvPr>
        </p:nvPicPr>
        <p:blipFill>
          <a:blip r:embed="rId3">
            <a:extLst>
              <a:ext uri="{BEBA8EAE-BF5A-486C-A8C5-ECC9F3942E4B}">
                <a14:imgProps xmlns:a14="http://schemas.microsoft.com/office/drawing/2010/main">
                  <a14:imgLayer r:embed="rId4">
                    <a14:imgEffect>
                      <a14:sharpenSoften amount="96000"/>
                    </a14:imgEffect>
                    <a14:imgEffect>
                      <a14:brightnessContrast contrast="-20000"/>
                    </a14:imgEffect>
                  </a14:imgLayer>
                </a14:imgProps>
              </a:ext>
            </a:extLst>
          </a:blip>
          <a:srcRect l="4741" t="25792" r="5689" b="15997"/>
          <a:stretch>
            <a:fillRect/>
          </a:stretch>
        </p:blipFill>
        <p:spPr>
          <a:xfrm>
            <a:off x="4959047" y="1008747"/>
            <a:ext cx="7232953" cy="4388794"/>
          </a:xfrm>
          <a:prstGeom prst="rect">
            <a:avLst/>
          </a:prstGeom>
          <a:ln>
            <a:noFill/>
          </a:ln>
          <a:effectLst>
            <a:softEdge rad="112500"/>
          </a:effectLst>
        </p:spPr>
      </p:pic>
    </p:spTree>
    <p:extLst>
      <p:ext uri="{BB962C8B-B14F-4D97-AF65-F5344CB8AC3E}">
        <p14:creationId xmlns:p14="http://schemas.microsoft.com/office/powerpoint/2010/main" val="749463767"/>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26" name="Group 25">
            <a:extLst>
              <a:ext uri="{FF2B5EF4-FFF2-40B4-BE49-F238E27FC236}">
                <a16:creationId xmlns:a16="http://schemas.microsoft.com/office/drawing/2014/main" id="{114ED94A-C85D-4CD3-4205-438D21CE6B3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9217" y="-1"/>
            <a:ext cx="5213267" cy="6883030"/>
            <a:chOff x="-19217" y="-1"/>
            <a:chExt cx="5213267" cy="6883030"/>
          </a:xfrm>
        </p:grpSpPr>
        <p:sp>
          <p:nvSpPr>
            <p:cNvPr id="27" name="Rectangle 26">
              <a:extLst>
                <a:ext uri="{FF2B5EF4-FFF2-40B4-BE49-F238E27FC236}">
                  <a16:creationId xmlns:a16="http://schemas.microsoft.com/office/drawing/2014/main" id="{E642BDB2-BF67-1D53-1C70-0B41D709E4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06" y="0"/>
              <a:ext cx="5204956" cy="6883029"/>
            </a:xfrm>
            <a:prstGeom prst="rect">
              <a:avLst/>
            </a:prstGeom>
            <a:gradFill>
              <a:gsLst>
                <a:gs pos="7000">
                  <a:schemeClr val="accent2"/>
                </a:gs>
                <a:gs pos="100000">
                  <a:schemeClr val="accent5"/>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58E0D8CE-5DBF-B664-EB48-C29BF8AB48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19217" y="1731909"/>
              <a:ext cx="5204963" cy="5144400"/>
            </a:xfrm>
            <a:prstGeom prst="rect">
              <a:avLst/>
            </a:prstGeom>
            <a:gradFill flip="none" rotWithShape="1">
              <a:gsLst>
                <a:gs pos="0">
                  <a:schemeClr val="accent5">
                    <a:lumMod val="75000"/>
                  </a:schemeClr>
                </a:gs>
                <a:gs pos="60000">
                  <a:schemeClr val="accent5">
                    <a:lumMod val="60000"/>
                    <a:lumOff val="40000"/>
                    <a:alpha val="0"/>
                  </a:schemeClr>
                </a:gs>
              </a:gsLst>
              <a:path path="circle">
                <a:fillToRect r="100000" b="100000"/>
              </a:path>
              <a:tileRect l="-100000" t="-100000"/>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29" name="Rectangle 28">
              <a:extLst>
                <a:ext uri="{FF2B5EF4-FFF2-40B4-BE49-F238E27FC236}">
                  <a16:creationId xmlns:a16="http://schemas.microsoft.com/office/drawing/2014/main" id="{DFD140CE-7DE2-C88F-5EAE-F45EB69E6A8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10" y="6723"/>
              <a:ext cx="3834567" cy="6876300"/>
            </a:xfrm>
            <a:prstGeom prst="rect">
              <a:avLst/>
            </a:prstGeom>
            <a:gradFill flip="none" rotWithShape="1">
              <a:gsLst>
                <a:gs pos="3000">
                  <a:schemeClr val="accent2">
                    <a:lumMod val="60000"/>
                    <a:lumOff val="40000"/>
                    <a:alpha val="78000"/>
                  </a:schemeClr>
                </a:gs>
                <a:gs pos="42000">
                  <a:schemeClr val="accent2">
                    <a:alpha val="0"/>
                  </a:schemeClr>
                </a:gs>
              </a:gsLst>
              <a:lin ang="3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557E87E3-413F-10EF-63D8-6016E986C9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6200000">
              <a:off x="-844601" y="833689"/>
              <a:ext cx="6872341" cy="5204961"/>
            </a:xfrm>
            <a:prstGeom prst="rect">
              <a:avLst/>
            </a:prstGeom>
            <a:gradFill>
              <a:gsLst>
                <a:gs pos="0">
                  <a:schemeClr val="accent5">
                    <a:alpha val="86000"/>
                  </a:schemeClr>
                </a:gs>
                <a:gs pos="57000">
                  <a:schemeClr val="accent2">
                    <a:alpha val="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7A7C77BA-3FD2-3F2D-62E2-55E69DB3AF6C}"/>
              </a:ext>
            </a:extLst>
          </p:cNvPr>
          <p:cNvSpPr>
            <a:spLocks noGrp="1"/>
          </p:cNvSpPr>
          <p:nvPr>
            <p:ph type="title"/>
          </p:nvPr>
        </p:nvSpPr>
        <p:spPr>
          <a:xfrm>
            <a:off x="755484" y="739835"/>
            <a:ext cx="3702580" cy="1616203"/>
          </a:xfrm>
        </p:spPr>
        <p:txBody>
          <a:bodyPr vert="horz" lIns="91440" tIns="45720" rIns="91440" bIns="45720" rtlCol="0" anchor="b">
            <a:normAutofit/>
          </a:bodyPr>
          <a:lstStyle/>
          <a:p>
            <a:r>
              <a:rPr lang="en-US" kern="1200">
                <a:solidFill>
                  <a:srgbClr val="FFFFFF"/>
                </a:solidFill>
                <a:latin typeface="+mj-lt"/>
                <a:ea typeface="+mj-ea"/>
                <a:cs typeface="+mj-cs"/>
              </a:rPr>
              <a:t>Multiple Issue Negotiation</a:t>
            </a:r>
          </a:p>
        </p:txBody>
      </p:sp>
      <p:sp>
        <p:nvSpPr>
          <p:cNvPr id="7" name="Text Placeholder 6">
            <a:extLst>
              <a:ext uri="{FF2B5EF4-FFF2-40B4-BE49-F238E27FC236}">
                <a16:creationId xmlns:a16="http://schemas.microsoft.com/office/drawing/2014/main" id="{3D004303-FFF0-BBF5-2CC1-F088E4C044A6}"/>
              </a:ext>
            </a:extLst>
          </p:cNvPr>
          <p:cNvSpPr>
            <a:spLocks noGrp="1"/>
          </p:cNvSpPr>
          <p:nvPr>
            <p:ph type="body" sz="half" idx="2"/>
          </p:nvPr>
        </p:nvSpPr>
        <p:spPr>
          <a:xfrm>
            <a:off x="755484" y="2459116"/>
            <a:ext cx="3871127" cy="3524823"/>
          </a:xfrm>
        </p:spPr>
        <p:txBody>
          <a:bodyPr vert="horz" lIns="91440" tIns="45720" rIns="91440" bIns="45720" numCol="2" rtlCol="0">
            <a:normAutofit/>
          </a:bodyPr>
          <a:lstStyle/>
          <a:p>
            <a:pPr marL="285750" indent="-285750">
              <a:buFont typeface="Arial" panose="020B0604020202020204" pitchFamily="34" charset="0"/>
              <a:buChar char="•"/>
            </a:pPr>
            <a:r>
              <a:rPr lang="en-US" sz="1700" dirty="0">
                <a:solidFill>
                  <a:srgbClr val="FFFFFF"/>
                </a:solidFill>
              </a:rPr>
              <a:t>Price</a:t>
            </a:r>
          </a:p>
          <a:p>
            <a:pPr marL="285750" indent="-285750">
              <a:buFont typeface="Arial" panose="020B0604020202020204" pitchFamily="34" charset="0"/>
              <a:buChar char="•"/>
            </a:pPr>
            <a:r>
              <a:rPr lang="en-US" sz="1700" dirty="0">
                <a:solidFill>
                  <a:srgbClr val="FFFFFF"/>
                </a:solidFill>
              </a:rPr>
              <a:t>Payment Date</a:t>
            </a:r>
          </a:p>
          <a:p>
            <a:pPr marL="285750" indent="-285750">
              <a:buFont typeface="Arial" panose="020B0604020202020204" pitchFamily="34" charset="0"/>
              <a:buChar char="•"/>
            </a:pPr>
            <a:r>
              <a:rPr lang="en-US" sz="1700" dirty="0">
                <a:solidFill>
                  <a:srgbClr val="FFFFFF"/>
                </a:solidFill>
              </a:rPr>
              <a:t>Delivery Date</a:t>
            </a:r>
          </a:p>
          <a:p>
            <a:pPr marL="285750" indent="-285750">
              <a:buFont typeface="Arial" panose="020B0604020202020204" pitchFamily="34" charset="0"/>
              <a:buChar char="•"/>
            </a:pPr>
            <a:r>
              <a:rPr lang="en-US" sz="1700" dirty="0">
                <a:solidFill>
                  <a:srgbClr val="FFFFFF"/>
                </a:solidFill>
              </a:rPr>
              <a:t>Warranty Period</a:t>
            </a:r>
          </a:p>
          <a:p>
            <a:pPr marL="285750" indent="-285750">
              <a:buFont typeface="Arial" panose="020B0604020202020204" pitchFamily="34" charset="0"/>
              <a:buChar char="•"/>
            </a:pPr>
            <a:r>
              <a:rPr lang="en-US" sz="1700" dirty="0">
                <a:solidFill>
                  <a:srgbClr val="FFFFFF"/>
                </a:solidFill>
              </a:rPr>
              <a:t>Servicing</a:t>
            </a:r>
          </a:p>
          <a:p>
            <a:pPr marL="285750" indent="-285750">
              <a:buFont typeface="Arial" panose="020B0604020202020204" pitchFamily="34" charset="0"/>
              <a:buChar char="•"/>
            </a:pPr>
            <a:r>
              <a:rPr lang="en-US" sz="1700" dirty="0">
                <a:solidFill>
                  <a:srgbClr val="FFFFFF"/>
                </a:solidFill>
              </a:rPr>
              <a:t>Rebates</a:t>
            </a:r>
          </a:p>
          <a:p>
            <a:pPr marL="285750" indent="-285750">
              <a:buFont typeface="Arial" panose="020B0604020202020204" pitchFamily="34" charset="0"/>
              <a:buChar char="•"/>
            </a:pPr>
            <a:r>
              <a:rPr lang="en-US" sz="1700" dirty="0">
                <a:solidFill>
                  <a:srgbClr val="FFFFFF"/>
                </a:solidFill>
              </a:rPr>
              <a:t>Commission</a:t>
            </a:r>
          </a:p>
          <a:p>
            <a:pPr marL="285750" indent="-285750">
              <a:buFont typeface="Arial" panose="020B0604020202020204" pitchFamily="34" charset="0"/>
              <a:buChar char="•"/>
            </a:pPr>
            <a:endParaRPr lang="en-US" sz="1700" dirty="0">
              <a:solidFill>
                <a:srgbClr val="FFFFFF"/>
              </a:solidFill>
            </a:endParaRPr>
          </a:p>
          <a:p>
            <a:pPr marL="285750" indent="-285750">
              <a:buFont typeface="Arial" panose="020B0604020202020204" pitchFamily="34" charset="0"/>
              <a:buChar char="•"/>
            </a:pPr>
            <a:endParaRPr lang="en-US" sz="1700" dirty="0">
              <a:solidFill>
                <a:srgbClr val="FFFFFF"/>
              </a:solidFill>
            </a:endParaRPr>
          </a:p>
          <a:p>
            <a:pPr marL="285750" indent="-285750">
              <a:buFont typeface="Arial" panose="020B0604020202020204" pitchFamily="34" charset="0"/>
              <a:buChar char="•"/>
            </a:pPr>
            <a:r>
              <a:rPr lang="en-US" sz="1700" dirty="0">
                <a:solidFill>
                  <a:srgbClr val="FFFFFF"/>
                </a:solidFill>
              </a:rPr>
              <a:t>Salary</a:t>
            </a:r>
          </a:p>
          <a:p>
            <a:pPr marL="285750" indent="-285750">
              <a:buFont typeface="Arial" panose="020B0604020202020204" pitchFamily="34" charset="0"/>
              <a:buChar char="•"/>
            </a:pPr>
            <a:r>
              <a:rPr lang="en-US" sz="1700" dirty="0">
                <a:solidFill>
                  <a:srgbClr val="FFFFFF"/>
                </a:solidFill>
              </a:rPr>
              <a:t>Work from Home</a:t>
            </a:r>
          </a:p>
          <a:p>
            <a:pPr marL="285750" indent="-285750">
              <a:buFont typeface="Arial" panose="020B0604020202020204" pitchFamily="34" charset="0"/>
              <a:buChar char="•"/>
            </a:pPr>
            <a:r>
              <a:rPr lang="en-US" sz="1700" dirty="0">
                <a:solidFill>
                  <a:srgbClr val="FFFFFF"/>
                </a:solidFill>
              </a:rPr>
              <a:t>Location</a:t>
            </a:r>
          </a:p>
          <a:p>
            <a:pPr marL="285750" indent="-285750">
              <a:buFont typeface="Arial" panose="020B0604020202020204" pitchFamily="34" charset="0"/>
              <a:buChar char="•"/>
            </a:pPr>
            <a:r>
              <a:rPr lang="en-US" sz="1700" dirty="0">
                <a:solidFill>
                  <a:srgbClr val="FFFFFF"/>
                </a:solidFill>
              </a:rPr>
              <a:t>Stock Options</a:t>
            </a:r>
          </a:p>
          <a:p>
            <a:pPr marL="285750" indent="-285750">
              <a:buFont typeface="Arial" panose="020B0604020202020204" pitchFamily="34" charset="0"/>
              <a:buChar char="•"/>
            </a:pPr>
            <a:r>
              <a:rPr lang="en-US" sz="1700" dirty="0">
                <a:solidFill>
                  <a:srgbClr val="FFFFFF"/>
                </a:solidFill>
              </a:rPr>
              <a:t>Laptop / Mobile</a:t>
            </a:r>
          </a:p>
          <a:p>
            <a:pPr marL="285750" indent="-285750">
              <a:buFont typeface="Arial" panose="020B0604020202020204" pitchFamily="34" charset="0"/>
              <a:buChar char="•"/>
            </a:pPr>
            <a:r>
              <a:rPr lang="en-US" sz="1700" dirty="0">
                <a:solidFill>
                  <a:srgbClr val="FFFFFF"/>
                </a:solidFill>
              </a:rPr>
              <a:t>Parking</a:t>
            </a:r>
          </a:p>
          <a:p>
            <a:pPr indent="-228600">
              <a:buFont typeface="Arial" panose="020B0604020202020204" pitchFamily="34" charset="0"/>
              <a:buChar char="•"/>
            </a:pPr>
            <a:endParaRPr lang="en-US" sz="1700" dirty="0">
              <a:solidFill>
                <a:srgbClr val="FFFFFF"/>
              </a:solidFill>
            </a:endParaRPr>
          </a:p>
        </p:txBody>
      </p:sp>
      <p:pic>
        <p:nvPicPr>
          <p:cNvPr id="5" name="Picture 6">
            <a:extLst>
              <a:ext uri="{FF2B5EF4-FFF2-40B4-BE49-F238E27FC236}">
                <a16:creationId xmlns:a16="http://schemas.microsoft.com/office/drawing/2014/main" id="{944BDF4E-4E7F-EDD6-3C82-6D317F0B4F4E}"/>
              </a:ext>
            </a:extLst>
          </p:cNvPr>
          <p:cNvPicPr>
            <a:picLocks noGrp="1" noChangeAspect="1" noChangeArrowheads="1"/>
          </p:cNvPicPr>
          <p:nvPr>
            <p:ph type="pic" idx="1"/>
          </p:nvPr>
        </p:nvPicPr>
        <p:blipFill rotWithShape="1">
          <a:blip r:embed="rId3">
            <a:extLst>
              <a:ext uri="{28A0092B-C50C-407E-A947-70E740481C1C}">
                <a14:useLocalDpi xmlns:a14="http://schemas.microsoft.com/office/drawing/2010/main" val="0"/>
              </a:ext>
            </a:extLst>
          </a:blip>
          <a:srcRect l="5798" t="11734" r="2552" b="10560"/>
          <a:stretch/>
        </p:blipFill>
        <p:spPr bwMode="auto">
          <a:xfrm>
            <a:off x="6005304" y="1641182"/>
            <a:ext cx="5407002" cy="3575635"/>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descr="A different look for the d3.js radar chart | Visual Cinnamon">
            <a:extLst>
              <a:ext uri="{FF2B5EF4-FFF2-40B4-BE49-F238E27FC236}">
                <a16:creationId xmlns:a16="http://schemas.microsoft.com/office/drawing/2014/main" id="{91D32690-1337-7443-0020-557039252469}"/>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100000"/>
                    </a14:imgEffect>
                    <a14:imgEffect>
                      <a14:brightnessContrast bright="-2000" contrast="-21000"/>
                    </a14:imgEffect>
                  </a14:imgLayer>
                </a14:imgProps>
              </a:ext>
            </a:extLst>
          </a:blip>
          <a:stretch>
            <a:fillRect/>
          </a:stretch>
        </p:blipFill>
        <p:spPr>
          <a:xfrm>
            <a:off x="2640724" y="1681"/>
            <a:ext cx="6868644" cy="6849596"/>
          </a:xfrm>
          <a:prstGeom prst="rect">
            <a:avLst/>
          </a:prstGeom>
          <a:solidFill>
            <a:srgbClr val="FFFFFF">
              <a:shade val="85000"/>
            </a:srgbClr>
          </a:solidFill>
          <a:ln w="190500" cap="sq">
            <a:solidFill>
              <a:srgbClr val="FFFFFF"/>
            </a:solidFill>
            <a:miter lim="800000"/>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p:spPr>
      </p:pic>
    </p:spTree>
    <p:extLst>
      <p:ext uri="{BB962C8B-B14F-4D97-AF65-F5344CB8AC3E}">
        <p14:creationId xmlns:p14="http://schemas.microsoft.com/office/powerpoint/2010/main" val="61357220"/>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103" name="Rectangle 3102">
            <a:extLst>
              <a:ext uri="{FF2B5EF4-FFF2-40B4-BE49-F238E27FC236}">
                <a16:creationId xmlns:a16="http://schemas.microsoft.com/office/drawing/2014/main" id="{665DBBEF-238B-476B-96AB-8AAC3224EC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BA5CBE1-1939-0261-E62C-3139BA2E8842}"/>
              </a:ext>
            </a:extLst>
          </p:cNvPr>
          <p:cNvSpPr>
            <a:spLocks noGrp="1"/>
          </p:cNvSpPr>
          <p:nvPr>
            <p:ph type="title"/>
          </p:nvPr>
        </p:nvSpPr>
        <p:spPr>
          <a:xfrm>
            <a:off x="638882" y="639193"/>
            <a:ext cx="3571810" cy="3573516"/>
          </a:xfrm>
        </p:spPr>
        <p:txBody>
          <a:bodyPr vert="horz" lIns="91440" tIns="45720" rIns="91440" bIns="45720" rtlCol="0" anchor="b">
            <a:normAutofit/>
          </a:bodyPr>
          <a:lstStyle/>
          <a:p>
            <a:r>
              <a:rPr lang="en-US" sz="6100" kern="1200" dirty="0">
                <a:solidFill>
                  <a:schemeClr val="tx1"/>
                </a:solidFill>
                <a:latin typeface="+mj-lt"/>
                <a:ea typeface="+mj-ea"/>
                <a:cs typeface="+mj-cs"/>
              </a:rPr>
              <a:t>Anchoring Bias</a:t>
            </a:r>
          </a:p>
        </p:txBody>
      </p:sp>
      <p:sp>
        <p:nvSpPr>
          <p:cNvPr id="3104" name="sketch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4409267"/>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8" name="Picture 4" descr="Anchoring bias">
            <a:extLst>
              <a:ext uri="{FF2B5EF4-FFF2-40B4-BE49-F238E27FC236}">
                <a16:creationId xmlns:a16="http://schemas.microsoft.com/office/drawing/2014/main" id="{22715208-9A70-93FF-01CB-CAF03AD93C41}"/>
              </a:ext>
            </a:extLst>
          </p:cNvPr>
          <p:cNvPicPr>
            <a:picLocks noGrp="1" noChangeAspect="1" noChangeArrowheads="1"/>
          </p:cNvPicPr>
          <p:nvPr>
            <p:ph idx="1"/>
          </p:nvPr>
        </p:nvPicPr>
        <p:blipFill rotWithShape="1">
          <a:blip r:embed="rId3">
            <a:extLst>
              <a:ext uri="{28A0092B-C50C-407E-A947-70E740481C1C}">
                <a14:useLocalDpi xmlns:a14="http://schemas.microsoft.com/office/drawing/2010/main" val="0"/>
              </a:ext>
            </a:extLst>
          </a:blip>
          <a:srcRect b="9243"/>
          <a:stretch/>
        </p:blipFill>
        <p:spPr bwMode="auto">
          <a:xfrm>
            <a:off x="4210692" y="-307739"/>
            <a:ext cx="7508643" cy="6900879"/>
          </a:xfrm>
          <a:prstGeom prst="rect">
            <a:avLst/>
          </a:prstGeom>
          <a:solidFill>
            <a:srgbClr val="FFFFFF">
              <a:shade val="85000"/>
            </a:srgbClr>
          </a:solidFill>
          <a:ln w="190500" cap="sq">
            <a:solidFill>
              <a:srgbClr val="FFFFFF"/>
            </a:solidFill>
            <a:miter lim="800000"/>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p:spPr>
      </p:pic>
    </p:spTree>
    <p:extLst>
      <p:ext uri="{BB962C8B-B14F-4D97-AF65-F5344CB8AC3E}">
        <p14:creationId xmlns:p14="http://schemas.microsoft.com/office/powerpoint/2010/main" val="216263229"/>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385E1BDC-A9B0-4A87-82E3-F3187F69A8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5" name="Rectangle 14">
            <a:extLst>
              <a:ext uri="{FF2B5EF4-FFF2-40B4-BE49-F238E27FC236}">
                <a16:creationId xmlns:a16="http://schemas.microsoft.com/office/drawing/2014/main" id="{0990C621-3B8B-4820-8328-D47EF7CE82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4416" y="365125"/>
            <a:ext cx="11167447" cy="2089317"/>
          </a:xfrm>
          <a:prstGeom prst="rect">
            <a:avLst/>
          </a:prstGeom>
          <a:ln w="12700">
            <a:solidFill>
              <a:srgbClr val="DEDEDE"/>
            </a:solidFill>
          </a:ln>
          <a:effectLst>
            <a:outerShdw blurRad="50800" dist="38100" dir="2700000" algn="tl" rotWithShape="0">
              <a:schemeClr val="bg2">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E0C45E3-CA3B-DE57-7A6D-2FA9D96405C3}"/>
              </a:ext>
            </a:extLst>
          </p:cNvPr>
          <p:cNvSpPr>
            <a:spLocks noGrp="1"/>
          </p:cNvSpPr>
          <p:nvPr>
            <p:ph type="title"/>
          </p:nvPr>
        </p:nvSpPr>
        <p:spPr>
          <a:xfrm>
            <a:off x="1051560" y="586822"/>
            <a:ext cx="3657600" cy="1645920"/>
          </a:xfrm>
        </p:spPr>
        <p:txBody>
          <a:bodyPr>
            <a:normAutofit/>
          </a:bodyPr>
          <a:lstStyle/>
          <a:p>
            <a:r>
              <a:rPr lang="en-US" sz="3200" dirty="0"/>
              <a:t>Anchors</a:t>
            </a:r>
          </a:p>
        </p:txBody>
      </p:sp>
      <p:sp>
        <p:nvSpPr>
          <p:cNvPr id="17" name="Rectangle 16">
            <a:extLst>
              <a:ext uri="{FF2B5EF4-FFF2-40B4-BE49-F238E27FC236}">
                <a16:creationId xmlns:a16="http://schemas.microsoft.com/office/drawing/2014/main" id="{C1A2385B-1D2A-4E17-84FA-6CB7F0AAE4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0408" y="1057739"/>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prstClr val="white"/>
              </a:solidFill>
              <a:latin typeface="Calibri" panose="020F0502020204030204"/>
            </a:endParaRPr>
          </a:p>
        </p:txBody>
      </p:sp>
      <p:sp>
        <p:nvSpPr>
          <p:cNvPr id="19" name="Rectangle 18">
            <a:extLst>
              <a:ext uri="{FF2B5EF4-FFF2-40B4-BE49-F238E27FC236}">
                <a16:creationId xmlns:a16="http://schemas.microsoft.com/office/drawing/2014/main" id="{5E791F2F-79DB-4CC0-9FA1-001E3E91E8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243541" y="1400638"/>
            <a:ext cx="146304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4" name="Picture 2" descr="4 Important Questions You Need Answered Before Your Negotiation -  negotiatethis">
            <a:extLst>
              <a:ext uri="{FF2B5EF4-FFF2-40B4-BE49-F238E27FC236}">
                <a16:creationId xmlns:a16="http://schemas.microsoft.com/office/drawing/2014/main" id="{5C2DC7E4-9114-2F3B-AF5A-49C227E341DB}"/>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798780" y="2745963"/>
            <a:ext cx="3820515" cy="3820515"/>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pic>
        <p:nvPicPr>
          <p:cNvPr id="6" name="Content Placeholder 5" descr="Cartoon of a rock and paper with a cartoon face&#10;&#10;Description automatically generated with medium confidence">
            <a:extLst>
              <a:ext uri="{FF2B5EF4-FFF2-40B4-BE49-F238E27FC236}">
                <a16:creationId xmlns:a16="http://schemas.microsoft.com/office/drawing/2014/main" id="{3AD7717B-935B-740B-4529-E98787DFA1F4}"/>
              </a:ext>
            </a:extLst>
          </p:cNvPr>
          <p:cNvPicPr>
            <a:picLocks noChangeAspect="1"/>
          </p:cNvPicPr>
          <p:nvPr/>
        </p:nvPicPr>
        <p:blipFill rotWithShape="1">
          <a:blip r:embed="rId4">
            <a:extLst>
              <a:ext uri="{28A0092B-C50C-407E-A947-70E740481C1C}">
                <a14:useLocalDpi xmlns:a14="http://schemas.microsoft.com/office/drawing/2010/main" val="0"/>
              </a:ext>
            </a:extLst>
          </a:blip>
          <a:srcRect l="28492" t="41602" r="27524"/>
          <a:stretch/>
        </p:blipFill>
        <p:spPr>
          <a:xfrm>
            <a:off x="5238063" y="2767578"/>
            <a:ext cx="6483800" cy="3830782"/>
          </a:xfrm>
          <a:prstGeom prst="rect">
            <a:avLst/>
          </a:prstGeom>
          <a:ln>
            <a:noFill/>
          </a:ln>
          <a:effectLst>
            <a:outerShdw blurRad="292100" dist="139700" dir="2700000" algn="tl" rotWithShape="0">
              <a:srgbClr val="333333">
                <a:alpha val="65000"/>
              </a:srgbClr>
            </a:outerShdw>
          </a:effectLst>
        </p:spPr>
      </p:pic>
      <p:pic>
        <p:nvPicPr>
          <p:cNvPr id="7" name="Content Placeholder 5" descr="Cartoon of a rock and paper with a cartoon face&#10;&#10;Description automatically generated with medium confidence">
            <a:extLst>
              <a:ext uri="{FF2B5EF4-FFF2-40B4-BE49-F238E27FC236}">
                <a16:creationId xmlns:a16="http://schemas.microsoft.com/office/drawing/2014/main" id="{74CD8E22-45D3-226C-55EC-C367F5981E60}"/>
              </a:ext>
            </a:extLst>
          </p:cNvPr>
          <p:cNvPicPr>
            <a:picLocks noGrp="1" noChangeAspect="1"/>
          </p:cNvPicPr>
          <p:nvPr>
            <p:ph idx="1"/>
          </p:nvPr>
        </p:nvPicPr>
        <p:blipFill rotWithShape="1">
          <a:blip r:embed="rId4">
            <a:extLst>
              <a:ext uri="{28A0092B-C50C-407E-A947-70E740481C1C}">
                <a14:useLocalDpi xmlns:a14="http://schemas.microsoft.com/office/drawing/2010/main" val="0"/>
              </a:ext>
            </a:extLst>
          </a:blip>
          <a:srcRect b="58125"/>
          <a:stretch/>
        </p:blipFill>
        <p:spPr>
          <a:xfrm>
            <a:off x="4984205" y="678261"/>
            <a:ext cx="6478387" cy="1205129"/>
          </a:xfrm>
          <a:prstGeom prst="rect">
            <a:avLst/>
          </a:prstGeom>
        </p:spPr>
      </p:pic>
    </p:spTree>
    <p:extLst>
      <p:ext uri="{BB962C8B-B14F-4D97-AF65-F5344CB8AC3E}">
        <p14:creationId xmlns:p14="http://schemas.microsoft.com/office/powerpoint/2010/main" val="4142953657"/>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7" name="Down Arrow 7">
            <a:extLst>
              <a:ext uri="{FF2B5EF4-FFF2-40B4-BE49-F238E27FC236}">
                <a16:creationId xmlns:a16="http://schemas.microsoft.com/office/drawing/2014/main" id="{D4771268-CB57-404A-9271-370EB28F60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00100" y="1491343"/>
            <a:ext cx="3333749" cy="3499103"/>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8213CCD-604B-2B3F-1464-D8D1413C4F84}"/>
              </a:ext>
            </a:extLst>
          </p:cNvPr>
          <p:cNvSpPr>
            <a:spLocks noGrp="1"/>
          </p:cNvSpPr>
          <p:nvPr>
            <p:ph type="title"/>
          </p:nvPr>
        </p:nvSpPr>
        <p:spPr>
          <a:xfrm>
            <a:off x="1028700" y="1967266"/>
            <a:ext cx="2628900" cy="2547257"/>
          </a:xfrm>
          <a:noFill/>
        </p:spPr>
        <p:txBody>
          <a:bodyPr vert="horz" lIns="91440" tIns="45720" rIns="91440" bIns="45720" rtlCol="0" anchor="ctr">
            <a:normAutofit/>
          </a:bodyPr>
          <a:lstStyle/>
          <a:p>
            <a:pPr algn="ctr"/>
            <a:r>
              <a:rPr lang="en-US" sz="3600" kern="1200">
                <a:solidFill>
                  <a:srgbClr val="FFFFFF"/>
                </a:solidFill>
                <a:latin typeface="+mj-lt"/>
                <a:ea typeface="+mj-ea"/>
                <a:cs typeface="+mj-cs"/>
              </a:rPr>
              <a:t>Anchors vs ZOPA</a:t>
            </a:r>
          </a:p>
        </p:txBody>
      </p:sp>
      <p:pic>
        <p:nvPicPr>
          <p:cNvPr id="4" name="Picture 2" descr="Negotiations Part 3: Who should make the first offer? Anchoring">
            <a:extLst>
              <a:ext uri="{FF2B5EF4-FFF2-40B4-BE49-F238E27FC236}">
                <a16:creationId xmlns:a16="http://schemas.microsoft.com/office/drawing/2014/main" id="{199891E0-CF0E-2071-F342-75815303473F}"/>
              </a:ext>
            </a:extLst>
          </p:cNvPr>
          <p:cNvPicPr>
            <a:picLocks noGrp="1" noChangeAspect="1" noChangeArrowheads="1"/>
          </p:cNvPicPr>
          <p:nvPr>
            <p:ph idx="1"/>
          </p:nvPr>
        </p:nvPicPr>
        <p:blipFill rotWithShape="1">
          <a:blip r:embed="rId3">
            <a:extLst>
              <a:ext uri="{28A0092B-C50C-407E-A947-70E740481C1C}">
                <a14:useLocalDpi xmlns:a14="http://schemas.microsoft.com/office/drawing/2010/main" val="0"/>
              </a:ext>
            </a:extLst>
          </a:blip>
          <a:srcRect l="2007" t="8192" r="2017" b="2289"/>
          <a:stretch/>
        </p:blipFill>
        <p:spPr bwMode="auto">
          <a:xfrm>
            <a:off x="5334000" y="0"/>
            <a:ext cx="6858000" cy="68596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19019067"/>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39" name="Rectangle 1038">
            <a:extLst>
              <a:ext uri="{FF2B5EF4-FFF2-40B4-BE49-F238E27FC236}">
                <a16:creationId xmlns:a16="http://schemas.microsoft.com/office/drawing/2014/main" id="{657F69E0-C4B0-4BEC-A689-4F8D877F05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a:extLst>
              <a:ext uri="{FF2B5EF4-FFF2-40B4-BE49-F238E27FC236}">
                <a16:creationId xmlns:a16="http://schemas.microsoft.com/office/drawing/2014/main" id="{89547CDA-169C-1D70-9D40-60EEDAF98C78}"/>
              </a:ext>
            </a:extLst>
          </p:cNvPr>
          <p:cNvPicPr>
            <a:picLocks noChangeAspect="1" noChangeArrowheads="1"/>
          </p:cNvPicPr>
          <p:nvPr/>
        </p:nvPicPr>
        <p:blipFill rotWithShape="1">
          <a:blip r:embed="rId3">
            <a:alphaModFix amt="50000"/>
            <a:extLst>
              <a:ext uri="{28A0092B-C50C-407E-A947-70E740481C1C}">
                <a14:useLocalDpi xmlns:a14="http://schemas.microsoft.com/office/drawing/2010/main" val="0"/>
              </a:ext>
            </a:extLst>
          </a:blip>
          <a:srcRect r="25"/>
          <a:stretch/>
        </p:blipFill>
        <p:spPr bwMode="auto">
          <a:xfrm>
            <a:off x="20" y="10"/>
            <a:ext cx="12188930" cy="685799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B933673A-87FA-9B25-317A-786198E46CE4}"/>
              </a:ext>
            </a:extLst>
          </p:cNvPr>
          <p:cNvSpPr>
            <a:spLocks noGrp="1"/>
          </p:cNvSpPr>
          <p:nvPr>
            <p:ph type="title"/>
          </p:nvPr>
        </p:nvSpPr>
        <p:spPr>
          <a:xfrm>
            <a:off x="1524000" y="1122363"/>
            <a:ext cx="9144000" cy="3063240"/>
          </a:xfrm>
        </p:spPr>
        <p:txBody>
          <a:bodyPr vert="horz" lIns="91440" tIns="45720" rIns="91440" bIns="45720" rtlCol="0" anchor="b">
            <a:normAutofit/>
          </a:bodyPr>
          <a:lstStyle/>
          <a:p>
            <a:pPr algn="ctr"/>
            <a:r>
              <a:rPr lang="en-US" sz="6600">
                <a:solidFill>
                  <a:schemeClr val="bg1"/>
                </a:solidFill>
              </a:rPr>
              <a:t>Negotiator’s Dilemma</a:t>
            </a:r>
            <a:endParaRPr lang="en-US" sz="6600" dirty="0">
              <a:solidFill>
                <a:schemeClr val="bg1"/>
              </a:solidFill>
            </a:endParaRPr>
          </a:p>
        </p:txBody>
      </p:sp>
      <p:sp>
        <p:nvSpPr>
          <p:cNvPr id="4" name="Text Placeholder 3">
            <a:extLst>
              <a:ext uri="{FF2B5EF4-FFF2-40B4-BE49-F238E27FC236}">
                <a16:creationId xmlns:a16="http://schemas.microsoft.com/office/drawing/2014/main" id="{C7DCB92F-EEB7-D402-CA6B-E4AD13AABB40}"/>
              </a:ext>
            </a:extLst>
          </p:cNvPr>
          <p:cNvSpPr>
            <a:spLocks noGrp="1"/>
          </p:cNvSpPr>
          <p:nvPr>
            <p:ph type="body" idx="1"/>
          </p:nvPr>
        </p:nvSpPr>
        <p:spPr>
          <a:xfrm>
            <a:off x="1527048" y="4599432"/>
            <a:ext cx="9144000" cy="1536192"/>
          </a:xfrm>
        </p:spPr>
        <p:txBody>
          <a:bodyPr vert="horz" lIns="91440" tIns="45720" rIns="91440" bIns="45720" rtlCol="0">
            <a:normAutofit/>
          </a:bodyPr>
          <a:lstStyle/>
          <a:p>
            <a:pPr algn="ctr"/>
            <a:endParaRPr lang="en-US">
              <a:solidFill>
                <a:schemeClr val="bg1"/>
              </a:solidFill>
            </a:endParaRPr>
          </a:p>
          <a:p>
            <a:pPr algn="ctr"/>
            <a:r>
              <a:rPr lang="en-US">
                <a:solidFill>
                  <a:schemeClr val="bg1"/>
                </a:solidFill>
              </a:rPr>
              <a:t>Creating Value vs Claiming Value</a:t>
            </a:r>
            <a:endParaRPr lang="en-US" dirty="0">
              <a:solidFill>
                <a:schemeClr val="bg1"/>
              </a:solidFill>
            </a:endParaRPr>
          </a:p>
        </p:txBody>
      </p:sp>
      <p:sp>
        <p:nvSpPr>
          <p:cNvPr id="1040" name="sketchy line">
            <a:extLst>
              <a:ext uri="{FF2B5EF4-FFF2-40B4-BE49-F238E27FC236}">
                <a16:creationId xmlns:a16="http://schemas.microsoft.com/office/drawing/2014/main" id="{9F6380B4-6A1C-481E-8408-B4E6C75B9B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74206" y="4368623"/>
            <a:ext cx="4243589" cy="18288"/>
          </a:xfrm>
          <a:custGeom>
            <a:avLst/>
            <a:gdLst>
              <a:gd name="csX0" fmla="*/ 0 w 4243589"/>
              <a:gd name="csY0" fmla="*/ 0 h 18288"/>
              <a:gd name="csX1" fmla="*/ 478919 w 4243589"/>
              <a:gd name="csY1" fmla="*/ 0 h 18288"/>
              <a:gd name="csX2" fmla="*/ 957839 w 4243589"/>
              <a:gd name="csY2" fmla="*/ 0 h 18288"/>
              <a:gd name="csX3" fmla="*/ 1521630 w 4243589"/>
              <a:gd name="csY3" fmla="*/ 0 h 18288"/>
              <a:gd name="csX4" fmla="*/ 2212729 w 4243589"/>
              <a:gd name="csY4" fmla="*/ 0 h 18288"/>
              <a:gd name="csX5" fmla="*/ 2734084 w 4243589"/>
              <a:gd name="csY5" fmla="*/ 0 h 18288"/>
              <a:gd name="csX6" fmla="*/ 3255439 w 4243589"/>
              <a:gd name="csY6" fmla="*/ 0 h 18288"/>
              <a:gd name="csX7" fmla="*/ 4243589 w 4243589"/>
              <a:gd name="csY7" fmla="*/ 0 h 18288"/>
              <a:gd name="csX8" fmla="*/ 4243589 w 4243589"/>
              <a:gd name="csY8" fmla="*/ 18288 h 18288"/>
              <a:gd name="csX9" fmla="*/ 3594926 w 4243589"/>
              <a:gd name="csY9" fmla="*/ 18288 h 18288"/>
              <a:gd name="csX10" fmla="*/ 3073571 w 4243589"/>
              <a:gd name="csY10" fmla="*/ 18288 h 18288"/>
              <a:gd name="csX11" fmla="*/ 2552216 w 4243589"/>
              <a:gd name="csY11" fmla="*/ 18288 h 18288"/>
              <a:gd name="csX12" fmla="*/ 1903553 w 4243589"/>
              <a:gd name="csY12" fmla="*/ 18288 h 18288"/>
              <a:gd name="csX13" fmla="*/ 1212454 w 4243589"/>
              <a:gd name="csY13" fmla="*/ 18288 h 18288"/>
              <a:gd name="csX14" fmla="*/ 733535 w 4243589"/>
              <a:gd name="csY14" fmla="*/ 18288 h 18288"/>
              <a:gd name="csX15" fmla="*/ 0 w 4243589"/>
              <a:gd name="csY15" fmla="*/ 18288 h 18288"/>
              <a:gd name="csX16" fmla="*/ 0 w 4243589"/>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rgbClr val="FFFFFF">
              <a:alpha val="75000"/>
            </a:srgbClr>
          </a:solidFill>
          <a:ln w="44450" cap="rnd">
            <a:solidFill>
              <a:schemeClr val="bg1">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9234267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9AA72BD9-2C5A-4EDC-931F-5AA08EACA0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2" descr="Handling Life's Black Swan Events">
            <a:extLst>
              <a:ext uri="{FF2B5EF4-FFF2-40B4-BE49-F238E27FC236}">
                <a16:creationId xmlns:a16="http://schemas.microsoft.com/office/drawing/2014/main" id="{14B30C04-E012-2017-A9DD-46C7B708CA1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9455" t="18934" r="7220"/>
          <a:stretch/>
        </p:blipFill>
        <p:spPr bwMode="auto">
          <a:xfrm>
            <a:off x="5059709" y="0"/>
            <a:ext cx="7132289" cy="6858000"/>
          </a:xfrm>
          <a:prstGeom prst="rect">
            <a:avLst/>
          </a:prstGeom>
          <a:noFill/>
          <a:extLst>
            <a:ext uri="{909E8E84-426E-40DD-AFC4-6F175D3DCCD1}">
              <a14:hiddenFill xmlns:a14="http://schemas.microsoft.com/office/drawing/2010/main">
                <a:solidFill>
                  <a:srgbClr val="FFFFFF"/>
                </a:solidFill>
              </a14:hiddenFill>
            </a:ext>
          </a:extLst>
        </p:spPr>
      </p:pic>
      <p:sp>
        <p:nvSpPr>
          <p:cNvPr id="17" name="Rectangle 16">
            <a:extLst>
              <a:ext uri="{FF2B5EF4-FFF2-40B4-BE49-F238E27FC236}">
                <a16:creationId xmlns:a16="http://schemas.microsoft.com/office/drawing/2014/main" id="{DD3981AC-7B61-4947-BCF3-F7AA7FA385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9756601" cy="6858000"/>
          </a:xfrm>
          <a:prstGeom prst="rect">
            <a:avLst/>
          </a:prstGeom>
          <a:gradFill>
            <a:gsLst>
              <a:gs pos="58000">
                <a:schemeClr val="tx1"/>
              </a:gs>
              <a:gs pos="35000">
                <a:schemeClr val="tx1">
                  <a:alpha val="78000"/>
                </a:schemeClr>
              </a:gs>
              <a:gs pos="19000">
                <a:schemeClr val="tx1">
                  <a:alpha val="38000"/>
                </a:schemeClr>
              </a:gs>
              <a:gs pos="0">
                <a:schemeClr val="tx1">
                  <a:alpha val="0"/>
                </a:schemeClr>
              </a:gs>
              <a:gs pos="100000">
                <a:schemeClr val="tx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AA306E7-A066-C456-C89A-5B51C477A591}"/>
              </a:ext>
            </a:extLst>
          </p:cNvPr>
          <p:cNvSpPr>
            <a:spLocks noGrp="1"/>
          </p:cNvSpPr>
          <p:nvPr>
            <p:ph type="title"/>
          </p:nvPr>
        </p:nvSpPr>
        <p:spPr>
          <a:xfrm>
            <a:off x="371093" y="1161288"/>
            <a:ext cx="3358135" cy="1124712"/>
          </a:xfrm>
        </p:spPr>
        <p:txBody>
          <a:bodyPr anchor="b">
            <a:normAutofit/>
          </a:bodyPr>
          <a:lstStyle/>
          <a:p>
            <a:pPr algn="ctr"/>
            <a:r>
              <a:rPr lang="en-US" sz="2800" dirty="0">
                <a:solidFill>
                  <a:schemeClr val="bg1"/>
                </a:solidFill>
              </a:rPr>
              <a:t>Value &amp; Distribution</a:t>
            </a:r>
            <a:br>
              <a:rPr lang="en-US" sz="2800" dirty="0">
                <a:solidFill>
                  <a:schemeClr val="bg1"/>
                </a:solidFill>
              </a:rPr>
            </a:br>
            <a:endParaRPr lang="en-US" sz="2800" dirty="0">
              <a:solidFill>
                <a:schemeClr val="bg1"/>
              </a:solidFill>
            </a:endParaRPr>
          </a:p>
        </p:txBody>
      </p:sp>
      <p:sp>
        <p:nvSpPr>
          <p:cNvPr id="13" name="Rectangle 12">
            <a:extLst>
              <a:ext uri="{FF2B5EF4-FFF2-40B4-BE49-F238E27FC236}">
                <a16:creationId xmlns:a16="http://schemas.microsoft.com/office/drawing/2014/main" id="{55D4142C-5077-457F-A6AD-3FECFDB396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62559" y="605790"/>
            <a:ext cx="73152"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5" name="Rectangle 14">
            <a:extLst>
              <a:ext uri="{FF2B5EF4-FFF2-40B4-BE49-F238E27FC236}">
                <a16:creationId xmlns:a16="http://schemas.microsoft.com/office/drawing/2014/main" id="{7A5F0580-5EE9-419F-96EE-B6529EF6E7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8244" y="2443480"/>
            <a:ext cx="3300984" cy="9144"/>
          </a:xfrm>
          <a:prstGeom prst="rect">
            <a:avLst/>
          </a:prstGeom>
          <a:solidFill>
            <a:schemeClr val="tx1"/>
          </a:solidFill>
          <a:ln w="3175">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 name="Content Placeholder 2">
            <a:extLst>
              <a:ext uri="{FF2B5EF4-FFF2-40B4-BE49-F238E27FC236}">
                <a16:creationId xmlns:a16="http://schemas.microsoft.com/office/drawing/2014/main" id="{F1052AEB-84CF-0BED-F619-74957B278A77}"/>
              </a:ext>
            </a:extLst>
          </p:cNvPr>
          <p:cNvSpPr>
            <a:spLocks noGrp="1"/>
          </p:cNvSpPr>
          <p:nvPr>
            <p:ph idx="1"/>
          </p:nvPr>
        </p:nvSpPr>
        <p:spPr>
          <a:xfrm>
            <a:off x="371094" y="4288812"/>
            <a:ext cx="3438906" cy="2310248"/>
          </a:xfrm>
        </p:spPr>
        <p:txBody>
          <a:bodyPr anchor="t">
            <a:normAutofit/>
          </a:bodyPr>
          <a:lstStyle/>
          <a:p>
            <a:endParaRPr lang="en-US" sz="1700" dirty="0">
              <a:solidFill>
                <a:schemeClr val="bg1"/>
              </a:solidFill>
            </a:endParaRPr>
          </a:p>
          <a:p>
            <a:r>
              <a:rPr lang="en-US" sz="1700" dirty="0">
                <a:solidFill>
                  <a:schemeClr val="bg1"/>
                </a:solidFill>
              </a:rPr>
              <a:t>Expanding the Pie</a:t>
            </a:r>
          </a:p>
          <a:p>
            <a:r>
              <a:rPr lang="en-US" sz="1700" dirty="0">
                <a:solidFill>
                  <a:schemeClr val="bg1"/>
                </a:solidFill>
              </a:rPr>
              <a:t>Win Win</a:t>
            </a:r>
          </a:p>
          <a:p>
            <a:r>
              <a:rPr lang="en-US" sz="1700" dirty="0">
                <a:solidFill>
                  <a:schemeClr val="bg1"/>
                </a:solidFill>
              </a:rPr>
              <a:t>Unknown Unknowns</a:t>
            </a:r>
          </a:p>
          <a:p>
            <a:r>
              <a:rPr lang="en-US" sz="1700" dirty="0">
                <a:solidFill>
                  <a:schemeClr val="bg1"/>
                </a:solidFill>
              </a:rPr>
              <a:t>Black Swans</a:t>
            </a:r>
          </a:p>
        </p:txBody>
      </p:sp>
      <p:sp>
        <p:nvSpPr>
          <p:cNvPr id="8" name="Title 1">
            <a:extLst>
              <a:ext uri="{FF2B5EF4-FFF2-40B4-BE49-F238E27FC236}">
                <a16:creationId xmlns:a16="http://schemas.microsoft.com/office/drawing/2014/main" id="{2582D5B2-175A-2F3F-07E4-C6706D1D6345}"/>
              </a:ext>
            </a:extLst>
          </p:cNvPr>
          <p:cNvSpPr txBox="1">
            <a:spLocks/>
          </p:cNvSpPr>
          <p:nvPr/>
        </p:nvSpPr>
        <p:spPr>
          <a:xfrm>
            <a:off x="424815" y="2884932"/>
            <a:ext cx="3300984" cy="1124712"/>
          </a:xfrm>
          <a:prstGeom prst="rect">
            <a:avLst/>
          </a:prstGeom>
        </p:spPr>
        <p:txBody>
          <a:bodyPr vert="horz" lIns="91440" tIns="45720" rIns="91440" bIns="45720" rtlCol="0" anchor="t">
            <a:normAutofit fontScale="67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dirty="0">
                <a:solidFill>
                  <a:schemeClr val="bg1"/>
                </a:solidFill>
              </a:rPr>
              <a:t>Competitive</a:t>
            </a:r>
          </a:p>
          <a:p>
            <a:pPr algn="ctr"/>
            <a:endParaRPr lang="en-US" sz="2800" dirty="0">
              <a:solidFill>
                <a:schemeClr val="bg1"/>
              </a:solidFill>
            </a:endParaRPr>
          </a:p>
          <a:p>
            <a:pPr algn="ctr"/>
            <a:r>
              <a:rPr lang="en-US" sz="2800" dirty="0">
                <a:solidFill>
                  <a:schemeClr val="bg1"/>
                </a:solidFill>
              </a:rPr>
              <a:t>vs</a:t>
            </a:r>
          </a:p>
          <a:p>
            <a:pPr algn="ctr"/>
            <a:endParaRPr lang="en-US" sz="2800" dirty="0">
              <a:solidFill>
                <a:schemeClr val="bg1"/>
              </a:solidFill>
            </a:endParaRPr>
          </a:p>
          <a:p>
            <a:pPr algn="ctr"/>
            <a:r>
              <a:rPr lang="en-US" sz="2800" dirty="0">
                <a:solidFill>
                  <a:schemeClr val="bg1"/>
                </a:solidFill>
              </a:rPr>
              <a:t>Collaborative</a:t>
            </a:r>
          </a:p>
        </p:txBody>
      </p:sp>
    </p:spTree>
    <p:extLst>
      <p:ext uri="{BB962C8B-B14F-4D97-AF65-F5344CB8AC3E}">
        <p14:creationId xmlns:p14="http://schemas.microsoft.com/office/powerpoint/2010/main" val="69817174"/>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AD30AB-4063-FC93-F6CC-C0747FBF4BA8}"/>
              </a:ext>
            </a:extLst>
          </p:cNvPr>
          <p:cNvSpPr>
            <a:spLocks noGrp="1"/>
          </p:cNvSpPr>
          <p:nvPr>
            <p:ph type="title"/>
          </p:nvPr>
        </p:nvSpPr>
        <p:spPr/>
        <p:txBody>
          <a:bodyPr/>
          <a:lstStyle/>
          <a:p>
            <a:pPr algn="ctr"/>
            <a:r>
              <a:rPr lang="en-US" dirty="0"/>
              <a:t>Creating Value (Collaborative)</a:t>
            </a:r>
          </a:p>
        </p:txBody>
      </p:sp>
      <p:sp>
        <p:nvSpPr>
          <p:cNvPr id="3" name="Text Placeholder 2">
            <a:extLst>
              <a:ext uri="{FF2B5EF4-FFF2-40B4-BE49-F238E27FC236}">
                <a16:creationId xmlns:a16="http://schemas.microsoft.com/office/drawing/2014/main" id="{689775DB-D2EE-D62C-DD87-7E23F94B0A41}"/>
              </a:ext>
            </a:extLst>
          </p:cNvPr>
          <p:cNvSpPr>
            <a:spLocks noGrp="1"/>
          </p:cNvSpPr>
          <p:nvPr>
            <p:ph type="body" idx="1"/>
          </p:nvPr>
        </p:nvSpPr>
        <p:spPr>
          <a:xfrm>
            <a:off x="539556" y="1702427"/>
            <a:ext cx="5157787" cy="823912"/>
          </a:xfrm>
        </p:spPr>
        <p:txBody>
          <a:bodyPr/>
          <a:lstStyle/>
          <a:p>
            <a:pPr algn="r"/>
            <a:r>
              <a:rPr lang="en-US" dirty="0"/>
              <a:t>Advantages</a:t>
            </a:r>
          </a:p>
        </p:txBody>
      </p:sp>
      <p:sp>
        <p:nvSpPr>
          <p:cNvPr id="4" name="Content Placeholder 3">
            <a:extLst>
              <a:ext uri="{FF2B5EF4-FFF2-40B4-BE49-F238E27FC236}">
                <a16:creationId xmlns:a16="http://schemas.microsoft.com/office/drawing/2014/main" id="{F7482BC2-34AE-3B18-3CD3-64A0DC2FBBE7}"/>
              </a:ext>
            </a:extLst>
          </p:cNvPr>
          <p:cNvSpPr>
            <a:spLocks noGrp="1"/>
          </p:cNvSpPr>
          <p:nvPr>
            <p:ph sz="half" idx="2"/>
          </p:nvPr>
        </p:nvSpPr>
        <p:spPr>
          <a:xfrm>
            <a:off x="539556" y="2526339"/>
            <a:ext cx="5157787" cy="3684588"/>
          </a:xfrm>
        </p:spPr>
        <p:txBody>
          <a:bodyPr/>
          <a:lstStyle/>
          <a:p>
            <a:pPr marL="0" indent="0" algn="r">
              <a:buNone/>
            </a:pPr>
            <a:r>
              <a:rPr lang="en-US" dirty="0"/>
              <a:t>Value Maximization</a:t>
            </a:r>
          </a:p>
          <a:p>
            <a:pPr marL="0" indent="0" algn="r">
              <a:buNone/>
            </a:pPr>
            <a:r>
              <a:rPr lang="en-US" dirty="0"/>
              <a:t>Interests Satisfaction</a:t>
            </a:r>
          </a:p>
          <a:p>
            <a:pPr marL="0" indent="0" algn="r">
              <a:buNone/>
            </a:pPr>
            <a:r>
              <a:rPr lang="en-US" dirty="0"/>
              <a:t>Relationship Building</a:t>
            </a:r>
          </a:p>
          <a:p>
            <a:pPr marL="0" indent="0" algn="r">
              <a:buNone/>
            </a:pPr>
            <a:r>
              <a:rPr lang="en-US" dirty="0"/>
              <a:t>Enhanced Problem Solving</a:t>
            </a:r>
          </a:p>
        </p:txBody>
      </p:sp>
      <p:sp>
        <p:nvSpPr>
          <p:cNvPr id="5" name="Text Placeholder 4">
            <a:extLst>
              <a:ext uri="{FF2B5EF4-FFF2-40B4-BE49-F238E27FC236}">
                <a16:creationId xmlns:a16="http://schemas.microsoft.com/office/drawing/2014/main" id="{8F734000-FD39-FA83-9C5E-268D2004EA57}"/>
              </a:ext>
            </a:extLst>
          </p:cNvPr>
          <p:cNvSpPr>
            <a:spLocks noGrp="1"/>
          </p:cNvSpPr>
          <p:nvPr>
            <p:ph type="body" sz="quarter" idx="3"/>
          </p:nvPr>
        </p:nvSpPr>
        <p:spPr>
          <a:xfrm>
            <a:off x="5871968" y="1702427"/>
            <a:ext cx="5183188" cy="823912"/>
          </a:xfrm>
        </p:spPr>
        <p:txBody>
          <a:bodyPr/>
          <a:lstStyle/>
          <a:p>
            <a:r>
              <a:rPr lang="en-US" dirty="0"/>
              <a:t>      Drawbacks</a:t>
            </a:r>
          </a:p>
        </p:txBody>
      </p:sp>
      <p:sp>
        <p:nvSpPr>
          <p:cNvPr id="6" name="Content Placeholder 5">
            <a:extLst>
              <a:ext uri="{FF2B5EF4-FFF2-40B4-BE49-F238E27FC236}">
                <a16:creationId xmlns:a16="http://schemas.microsoft.com/office/drawing/2014/main" id="{3657A65E-D054-8769-0632-B090B368BB2E}"/>
              </a:ext>
            </a:extLst>
          </p:cNvPr>
          <p:cNvSpPr>
            <a:spLocks noGrp="1"/>
          </p:cNvSpPr>
          <p:nvPr>
            <p:ph sz="quarter" idx="4"/>
          </p:nvPr>
        </p:nvSpPr>
        <p:spPr>
          <a:xfrm>
            <a:off x="5871968" y="2526339"/>
            <a:ext cx="5183188" cy="3684588"/>
          </a:xfrm>
        </p:spPr>
        <p:txBody>
          <a:bodyPr/>
          <a:lstStyle/>
          <a:p>
            <a:r>
              <a:rPr lang="en-US" dirty="0"/>
              <a:t>  Time Consuming</a:t>
            </a:r>
          </a:p>
          <a:p>
            <a:r>
              <a:rPr lang="en-US" dirty="0"/>
              <a:t>  High Trust Requirements</a:t>
            </a:r>
          </a:p>
          <a:p>
            <a:r>
              <a:rPr lang="en-US" dirty="0"/>
              <a:t>  Emotional Challenges</a:t>
            </a:r>
          </a:p>
          <a:p>
            <a:r>
              <a:rPr lang="en-US" dirty="0"/>
              <a:t>  Potential for Exploitation</a:t>
            </a:r>
          </a:p>
        </p:txBody>
      </p:sp>
    </p:spTree>
    <p:extLst>
      <p:ext uri="{BB962C8B-B14F-4D97-AF65-F5344CB8AC3E}">
        <p14:creationId xmlns:p14="http://schemas.microsoft.com/office/powerpoint/2010/main" val="236063098"/>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4003D3-D72B-F075-DC3E-C7F073DA9717}"/>
              </a:ext>
            </a:extLst>
          </p:cNvPr>
          <p:cNvSpPr>
            <a:spLocks noGrp="1"/>
          </p:cNvSpPr>
          <p:nvPr>
            <p:ph type="title"/>
          </p:nvPr>
        </p:nvSpPr>
        <p:spPr/>
        <p:txBody>
          <a:bodyPr/>
          <a:lstStyle/>
          <a:p>
            <a:pPr algn="ctr"/>
            <a:r>
              <a:rPr lang="en-US" dirty="0"/>
              <a:t>Claiming Value ( Competitive)</a:t>
            </a:r>
          </a:p>
        </p:txBody>
      </p:sp>
      <p:sp>
        <p:nvSpPr>
          <p:cNvPr id="4" name="Text Placeholder 3">
            <a:extLst>
              <a:ext uri="{FF2B5EF4-FFF2-40B4-BE49-F238E27FC236}">
                <a16:creationId xmlns:a16="http://schemas.microsoft.com/office/drawing/2014/main" id="{B6037258-3C08-3398-80E8-5A02395E6781}"/>
              </a:ext>
            </a:extLst>
          </p:cNvPr>
          <p:cNvSpPr>
            <a:spLocks noGrp="1"/>
          </p:cNvSpPr>
          <p:nvPr>
            <p:ph type="body" idx="1"/>
          </p:nvPr>
        </p:nvSpPr>
        <p:spPr>
          <a:xfrm>
            <a:off x="464986" y="1681163"/>
            <a:ext cx="5157787" cy="823912"/>
          </a:xfrm>
        </p:spPr>
        <p:txBody>
          <a:bodyPr/>
          <a:lstStyle/>
          <a:p>
            <a:pPr algn="r"/>
            <a:r>
              <a:rPr lang="en-US" dirty="0"/>
              <a:t>Advantages</a:t>
            </a:r>
          </a:p>
        </p:txBody>
      </p:sp>
      <p:sp>
        <p:nvSpPr>
          <p:cNvPr id="3" name="Content Placeholder 2">
            <a:extLst>
              <a:ext uri="{FF2B5EF4-FFF2-40B4-BE49-F238E27FC236}">
                <a16:creationId xmlns:a16="http://schemas.microsoft.com/office/drawing/2014/main" id="{D51C9088-BFE5-5701-FD91-FBA4C87A5A75}"/>
              </a:ext>
            </a:extLst>
          </p:cNvPr>
          <p:cNvSpPr>
            <a:spLocks noGrp="1"/>
          </p:cNvSpPr>
          <p:nvPr>
            <p:ph sz="half" idx="2"/>
          </p:nvPr>
        </p:nvSpPr>
        <p:spPr>
          <a:xfrm>
            <a:off x="464986" y="2505075"/>
            <a:ext cx="5157787" cy="3684588"/>
          </a:xfrm>
        </p:spPr>
        <p:txBody>
          <a:bodyPr/>
          <a:lstStyle/>
          <a:p>
            <a:pPr marL="0" indent="0" algn="r">
              <a:buNone/>
            </a:pPr>
            <a:r>
              <a:rPr lang="en-US" dirty="0"/>
              <a:t>Efficient</a:t>
            </a:r>
          </a:p>
          <a:p>
            <a:pPr marL="0" indent="0" algn="r">
              <a:buNone/>
            </a:pPr>
            <a:r>
              <a:rPr lang="en-US" dirty="0"/>
              <a:t>Simplicity</a:t>
            </a:r>
          </a:p>
          <a:p>
            <a:pPr marL="0" indent="0" algn="r">
              <a:buNone/>
            </a:pPr>
            <a:r>
              <a:rPr lang="en-US" dirty="0"/>
              <a:t>Competitive Advantage</a:t>
            </a:r>
          </a:p>
          <a:p>
            <a:pPr marL="0" indent="0" algn="r">
              <a:buNone/>
            </a:pPr>
            <a:r>
              <a:rPr lang="en-US" dirty="0"/>
              <a:t>Less Reliance on Relationships</a:t>
            </a:r>
          </a:p>
          <a:p>
            <a:endParaRPr lang="en-US" dirty="0"/>
          </a:p>
        </p:txBody>
      </p:sp>
      <p:sp>
        <p:nvSpPr>
          <p:cNvPr id="5" name="Text Placeholder 4">
            <a:extLst>
              <a:ext uri="{FF2B5EF4-FFF2-40B4-BE49-F238E27FC236}">
                <a16:creationId xmlns:a16="http://schemas.microsoft.com/office/drawing/2014/main" id="{1CF7C2C4-A860-BA41-3427-776DECF64A93}"/>
              </a:ext>
            </a:extLst>
          </p:cNvPr>
          <p:cNvSpPr>
            <a:spLocks noGrp="1"/>
          </p:cNvSpPr>
          <p:nvPr>
            <p:ph type="body" sz="quarter" idx="3"/>
          </p:nvPr>
        </p:nvSpPr>
        <p:spPr>
          <a:xfrm>
            <a:off x="5797398" y="1681163"/>
            <a:ext cx="5183188" cy="823912"/>
          </a:xfrm>
        </p:spPr>
        <p:txBody>
          <a:bodyPr/>
          <a:lstStyle/>
          <a:p>
            <a:r>
              <a:rPr lang="en-US" dirty="0"/>
              <a:t>     Drawbacks</a:t>
            </a:r>
          </a:p>
        </p:txBody>
      </p:sp>
      <p:sp>
        <p:nvSpPr>
          <p:cNvPr id="6" name="Content Placeholder 5">
            <a:extLst>
              <a:ext uri="{FF2B5EF4-FFF2-40B4-BE49-F238E27FC236}">
                <a16:creationId xmlns:a16="http://schemas.microsoft.com/office/drawing/2014/main" id="{3C645371-F964-3571-959C-AFA8212E2CE1}"/>
              </a:ext>
            </a:extLst>
          </p:cNvPr>
          <p:cNvSpPr>
            <a:spLocks noGrp="1"/>
          </p:cNvSpPr>
          <p:nvPr>
            <p:ph sz="quarter" idx="4"/>
          </p:nvPr>
        </p:nvSpPr>
        <p:spPr>
          <a:xfrm>
            <a:off x="5797398" y="2505075"/>
            <a:ext cx="5183188" cy="3684588"/>
          </a:xfrm>
        </p:spPr>
        <p:txBody>
          <a:bodyPr/>
          <a:lstStyle/>
          <a:p>
            <a:r>
              <a:rPr lang="en-US" dirty="0"/>
              <a:t>  Strained Relations</a:t>
            </a:r>
          </a:p>
          <a:p>
            <a:r>
              <a:rPr lang="en-US" dirty="0"/>
              <a:t>  Loss of Opportunities</a:t>
            </a:r>
          </a:p>
          <a:p>
            <a:r>
              <a:rPr lang="en-US" dirty="0"/>
              <a:t>  Risk of Deadlock</a:t>
            </a:r>
          </a:p>
          <a:p>
            <a:r>
              <a:rPr lang="en-US" dirty="0"/>
              <a:t>  Loss of Future Cooperation</a:t>
            </a:r>
          </a:p>
        </p:txBody>
      </p:sp>
    </p:spTree>
    <p:extLst>
      <p:ext uri="{BB962C8B-B14F-4D97-AF65-F5344CB8AC3E}">
        <p14:creationId xmlns:p14="http://schemas.microsoft.com/office/powerpoint/2010/main" val="2189822868"/>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778CEE-7961-E643-663F-6ABA75E08238}"/>
              </a:ext>
            </a:extLst>
          </p:cNvPr>
          <p:cNvSpPr>
            <a:spLocks noGrp="1"/>
          </p:cNvSpPr>
          <p:nvPr>
            <p:ph type="title"/>
          </p:nvPr>
        </p:nvSpPr>
        <p:spPr/>
        <p:txBody>
          <a:bodyPr/>
          <a:lstStyle/>
          <a:p>
            <a:endParaRPr lang="en-US"/>
          </a:p>
        </p:txBody>
      </p:sp>
      <p:pic>
        <p:nvPicPr>
          <p:cNvPr id="3074" name="Picture 2" descr="PPT - CHAPTER 3 Strategy and Tactics of Integrative Negotiation 整合型谈判  (expanding the pie 增大蛋糕 ) PowerPoint Presentation - ID:3687373">
            <a:extLst>
              <a:ext uri="{FF2B5EF4-FFF2-40B4-BE49-F238E27FC236}">
                <a16:creationId xmlns:a16="http://schemas.microsoft.com/office/drawing/2014/main" id="{58B3D92A-442E-41DC-E0D2-7C64560F6981}"/>
              </a:ext>
            </a:extLst>
          </p:cNvPr>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l="7972" t="20279" r="8679" b="8393"/>
          <a:stretch/>
        </p:blipFill>
        <p:spPr bwMode="auto">
          <a:xfrm>
            <a:off x="1784110" y="96716"/>
            <a:ext cx="10191013" cy="654077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2735160"/>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Conceptualization of creating and claiming value [16]. Maximal value is...  | Download Scientific Diagram">
            <a:extLst>
              <a:ext uri="{FF2B5EF4-FFF2-40B4-BE49-F238E27FC236}">
                <a16:creationId xmlns:a16="http://schemas.microsoft.com/office/drawing/2014/main" id="{37A08F40-FBCB-77FF-E49D-644C1A39C969}"/>
              </a:ext>
            </a:extLst>
          </p:cNvPr>
          <p:cNvPicPr>
            <a:picLocks noGrp="1" noChangeAspect="1" noChangeArrowheads="1"/>
          </p:cNvPicPr>
          <p:nvPr>
            <p:ph idx="1"/>
          </p:nvPr>
        </p:nvPicPr>
        <p:blipFill>
          <a:blip r:embed="rId2"/>
          <a:srcRect/>
          <a:stretch/>
        </p:blipFill>
        <p:spPr bwMode="auto">
          <a:xfrm>
            <a:off x="2254469" y="45"/>
            <a:ext cx="7683112" cy="68579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89560319"/>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7756EB-8051-D537-0B18-51484C557563}"/>
              </a:ext>
            </a:extLst>
          </p:cNvPr>
          <p:cNvSpPr>
            <a:spLocks noGrp="1"/>
          </p:cNvSpPr>
          <p:nvPr>
            <p:ph type="title"/>
          </p:nvPr>
        </p:nvSpPr>
        <p:spPr/>
        <p:txBody>
          <a:bodyPr/>
          <a:lstStyle/>
          <a:p>
            <a:endParaRPr lang="en-US"/>
          </a:p>
        </p:txBody>
      </p:sp>
      <p:pic>
        <p:nvPicPr>
          <p:cNvPr id="4098" name="Picture 2" descr="A negotiation analytic approach for managing project">
            <a:extLst>
              <a:ext uri="{FF2B5EF4-FFF2-40B4-BE49-F238E27FC236}">
                <a16:creationId xmlns:a16="http://schemas.microsoft.com/office/drawing/2014/main" id="{34B54964-B158-81C5-204D-AD653FE607A3}"/>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2150085" y="144676"/>
            <a:ext cx="7891830" cy="65686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73400396"/>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F13C74B1-5B17-4795-BED0-7140497B44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A1F9D6F-A1C9-7817-34C4-017ADA6C1059}"/>
              </a:ext>
            </a:extLst>
          </p:cNvPr>
          <p:cNvSpPr>
            <a:spLocks noGrp="1"/>
          </p:cNvSpPr>
          <p:nvPr>
            <p:ph type="title"/>
          </p:nvPr>
        </p:nvSpPr>
        <p:spPr>
          <a:xfrm>
            <a:off x="640080" y="325369"/>
            <a:ext cx="4368602" cy="1956841"/>
          </a:xfrm>
        </p:spPr>
        <p:txBody>
          <a:bodyPr anchor="b">
            <a:normAutofit/>
          </a:bodyPr>
          <a:lstStyle/>
          <a:p>
            <a:r>
              <a:rPr lang="en-US" sz="5400" dirty="0"/>
              <a:t>Key Take Home Message</a:t>
            </a:r>
          </a:p>
        </p:txBody>
      </p:sp>
      <p:sp>
        <p:nvSpPr>
          <p:cNvPr id="29" name="sketchy line">
            <a:extLst>
              <a:ext uri="{FF2B5EF4-FFF2-40B4-BE49-F238E27FC236}">
                <a16:creationId xmlns:a16="http://schemas.microsoft.com/office/drawing/2014/main" id="{D4974D33-8DC5-464E-8C6D-BE58F0669C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2586994"/>
            <a:ext cx="3474720" cy="18288"/>
          </a:xfrm>
          <a:custGeom>
            <a:avLst/>
            <a:gdLst>
              <a:gd name="csX0" fmla="*/ 0 w 3474720"/>
              <a:gd name="csY0" fmla="*/ 0 h 18288"/>
              <a:gd name="csX1" fmla="*/ 694944 w 3474720"/>
              <a:gd name="csY1" fmla="*/ 0 h 18288"/>
              <a:gd name="csX2" fmla="*/ 1355141 w 3474720"/>
              <a:gd name="csY2" fmla="*/ 0 h 18288"/>
              <a:gd name="csX3" fmla="*/ 2015338 w 3474720"/>
              <a:gd name="csY3" fmla="*/ 0 h 18288"/>
              <a:gd name="csX4" fmla="*/ 2779776 w 3474720"/>
              <a:gd name="csY4" fmla="*/ 0 h 18288"/>
              <a:gd name="csX5" fmla="*/ 3474720 w 3474720"/>
              <a:gd name="csY5" fmla="*/ 0 h 18288"/>
              <a:gd name="csX6" fmla="*/ 3474720 w 3474720"/>
              <a:gd name="csY6" fmla="*/ 18288 h 18288"/>
              <a:gd name="csX7" fmla="*/ 2779776 w 3474720"/>
              <a:gd name="csY7" fmla="*/ 18288 h 18288"/>
              <a:gd name="csX8" fmla="*/ 2189074 w 3474720"/>
              <a:gd name="csY8" fmla="*/ 18288 h 18288"/>
              <a:gd name="csX9" fmla="*/ 1528877 w 3474720"/>
              <a:gd name="csY9" fmla="*/ 18288 h 18288"/>
              <a:gd name="csX10" fmla="*/ 868680 w 3474720"/>
              <a:gd name="csY10" fmla="*/ 18288 h 18288"/>
              <a:gd name="csX11" fmla="*/ 0 w 3474720"/>
              <a:gd name="csY11" fmla="*/ 18288 h 18288"/>
              <a:gd name="csX12" fmla="*/ 0 w 3474720"/>
              <a:gd name="csY12"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stroke="0"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01162D17-3B06-B573-EE8A-139F5AAE4181}"/>
              </a:ext>
            </a:extLst>
          </p:cNvPr>
          <p:cNvSpPr>
            <a:spLocks noGrp="1"/>
          </p:cNvSpPr>
          <p:nvPr>
            <p:ph idx="1"/>
          </p:nvPr>
        </p:nvSpPr>
        <p:spPr>
          <a:xfrm>
            <a:off x="640080" y="2872899"/>
            <a:ext cx="4243589" cy="3320668"/>
          </a:xfrm>
        </p:spPr>
        <p:txBody>
          <a:bodyPr>
            <a:normAutofit/>
          </a:bodyPr>
          <a:lstStyle/>
          <a:p>
            <a:endParaRPr lang="en-US" sz="2200" dirty="0"/>
          </a:p>
          <a:p>
            <a:r>
              <a:rPr lang="en-US" sz="2200" dirty="0"/>
              <a:t>BATNA </a:t>
            </a:r>
            <a:r>
              <a:rPr lang="en-US" sz="2200" dirty="0">
                <a:sym typeface="Wingdings" pitchFamily="2" charset="2"/>
              </a:rPr>
              <a:t> </a:t>
            </a:r>
            <a:r>
              <a:rPr lang="en-US" sz="2200" dirty="0"/>
              <a:t>Negotiators Dilemma</a:t>
            </a:r>
          </a:p>
        </p:txBody>
      </p:sp>
      <p:pic>
        <p:nvPicPr>
          <p:cNvPr id="13" name="Picture 12" descr="Closeup of a hand holding a key with a house dongle">
            <a:extLst>
              <a:ext uri="{FF2B5EF4-FFF2-40B4-BE49-F238E27FC236}">
                <a16:creationId xmlns:a16="http://schemas.microsoft.com/office/drawing/2014/main" id="{96BAABE5-1B58-DD06-D991-DC8EF9E00914}"/>
              </a:ext>
            </a:extLst>
          </p:cNvPr>
          <p:cNvPicPr>
            <a:picLocks noChangeAspect="1"/>
          </p:cNvPicPr>
          <p:nvPr/>
        </p:nvPicPr>
        <p:blipFill rotWithShape="1">
          <a:blip r:embed="rId3"/>
          <a:srcRect l="19466" r="13581" b="-1"/>
          <a:stretch>
            <a:fillRect/>
          </a:stretch>
        </p:blipFill>
        <p:spPr>
          <a:xfrm>
            <a:off x="5311702"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Tree>
    <p:extLst>
      <p:ext uri="{BB962C8B-B14F-4D97-AF65-F5344CB8AC3E}">
        <p14:creationId xmlns:p14="http://schemas.microsoft.com/office/powerpoint/2010/main" val="2551046246"/>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0" name="Picture 29" descr="Complete puzzle with one piece lit up">
            <a:extLst>
              <a:ext uri="{FF2B5EF4-FFF2-40B4-BE49-F238E27FC236}">
                <a16:creationId xmlns:a16="http://schemas.microsoft.com/office/drawing/2014/main" id="{38AFF9D7-AF9F-64BF-3A55-C93C79BEECF2}"/>
              </a:ext>
            </a:extLst>
          </p:cNvPr>
          <p:cNvPicPr>
            <a:picLocks noChangeAspect="1"/>
          </p:cNvPicPr>
          <p:nvPr/>
        </p:nvPicPr>
        <p:blipFill rotWithShape="1">
          <a:blip r:embed="rId3"/>
          <a:srcRect t="11575" b="13425"/>
          <a:stretch/>
        </p:blipFill>
        <p:spPr>
          <a:xfrm>
            <a:off x="0" y="10"/>
            <a:ext cx="12191999" cy="6857990"/>
          </a:xfrm>
          <a:prstGeom prst="rect">
            <a:avLst/>
          </a:prstGeom>
        </p:spPr>
      </p:pic>
      <p:sp>
        <p:nvSpPr>
          <p:cNvPr id="4" name="Title 3">
            <a:extLst>
              <a:ext uri="{FF2B5EF4-FFF2-40B4-BE49-F238E27FC236}">
                <a16:creationId xmlns:a16="http://schemas.microsoft.com/office/drawing/2014/main" id="{C3A81F1A-0241-EA2A-6F56-9848E9FEAF34}"/>
              </a:ext>
            </a:extLst>
          </p:cNvPr>
          <p:cNvSpPr>
            <a:spLocks noGrp="1"/>
          </p:cNvSpPr>
          <p:nvPr>
            <p:ph type="ctrTitle"/>
          </p:nvPr>
        </p:nvSpPr>
        <p:spPr>
          <a:effectLst>
            <a:outerShdw blurRad="50800" dist="38100" dir="2700000" algn="tl" rotWithShape="0">
              <a:prstClr val="black">
                <a:alpha val="40000"/>
              </a:prstClr>
            </a:outerShdw>
          </a:effectLst>
        </p:spPr>
        <p:txBody>
          <a:bodyPr vert="horz" lIns="91440" tIns="45720" rIns="91440" bIns="45720" rtlCol="0" anchor="b">
            <a:normAutofit/>
          </a:bodyPr>
          <a:lstStyle/>
          <a:p>
            <a:pPr algn="ctr"/>
            <a:r>
              <a:rPr lang="en-US" sz="5200" dirty="0">
                <a:solidFill>
                  <a:srgbClr val="FFFFFF"/>
                </a:solidFill>
              </a:rPr>
              <a:t>How</a:t>
            </a:r>
          </a:p>
        </p:txBody>
      </p:sp>
      <p:sp>
        <p:nvSpPr>
          <p:cNvPr id="5" name="Text Placeholder 4">
            <a:extLst>
              <a:ext uri="{FF2B5EF4-FFF2-40B4-BE49-F238E27FC236}">
                <a16:creationId xmlns:a16="http://schemas.microsoft.com/office/drawing/2014/main" id="{BEE3D6DB-A0D1-5AD1-28EE-EAF505919D35}"/>
              </a:ext>
            </a:extLst>
          </p:cNvPr>
          <p:cNvSpPr>
            <a:spLocks noGrp="1"/>
          </p:cNvSpPr>
          <p:nvPr>
            <p:ph type="subTitle" idx="1"/>
          </p:nvPr>
        </p:nvSpPr>
        <p:spPr>
          <a:effectLst>
            <a:outerShdw blurRad="50800" dist="38100" dir="2700000" algn="tl" rotWithShape="0">
              <a:prstClr val="black">
                <a:alpha val="40000"/>
              </a:prstClr>
            </a:outerShdw>
          </a:effectLst>
        </p:spPr>
        <p:txBody>
          <a:bodyPr vert="horz" lIns="91440" tIns="45720" rIns="91440" bIns="45720" rtlCol="0">
            <a:normAutofit/>
          </a:bodyPr>
          <a:lstStyle/>
          <a:p>
            <a:pPr algn="ctr"/>
            <a:r>
              <a:rPr lang="en-US" dirty="0">
                <a:solidFill>
                  <a:srgbClr val="FFFFFF"/>
                </a:solidFill>
              </a:rPr>
              <a:t>Part 2 – Main Course</a:t>
            </a:r>
          </a:p>
        </p:txBody>
      </p:sp>
    </p:spTree>
    <p:extLst>
      <p:ext uri="{BB962C8B-B14F-4D97-AF65-F5344CB8AC3E}">
        <p14:creationId xmlns:p14="http://schemas.microsoft.com/office/powerpoint/2010/main" val="3345530089"/>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Why Smart People Sometimes Fail: The Key to Success | by Rosennab | The  Startup | Medium">
            <a:extLst>
              <a:ext uri="{FF2B5EF4-FFF2-40B4-BE49-F238E27FC236}">
                <a16:creationId xmlns:a16="http://schemas.microsoft.com/office/drawing/2014/main" id="{B6CD8C82-3CC5-F5B9-EB50-6FAE9FC768FA}"/>
              </a:ext>
            </a:extLst>
          </p:cNvPr>
          <p:cNvPicPr>
            <a:picLocks noChangeAspect="1" noChangeArrowheads="1"/>
          </p:cNvPicPr>
          <p:nvPr/>
        </p:nvPicPr>
        <p:blipFill>
          <a:blip r:embed="rId3">
            <a:alphaModFix amt="40000"/>
            <a:extLst>
              <a:ext uri="{28A0092B-C50C-407E-A947-70E740481C1C}">
                <a14:useLocalDpi xmlns:a14="http://schemas.microsoft.com/office/drawing/2010/main"/>
              </a:ext>
            </a:extLst>
          </a:blip>
          <a:srcRect/>
          <a:stretch/>
        </p:blipFill>
        <p:spPr bwMode="auto">
          <a:xfrm>
            <a:off x="20" y="10"/>
            <a:ext cx="12191980" cy="685799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A8987C0C-2B3E-2323-97FD-DF4822F16A38}"/>
              </a:ext>
            </a:extLst>
          </p:cNvPr>
          <p:cNvSpPr>
            <a:spLocks noGrp="1"/>
          </p:cNvSpPr>
          <p:nvPr>
            <p:ph type="title"/>
          </p:nvPr>
        </p:nvSpPr>
        <p:spPr>
          <a:xfrm>
            <a:off x="965200" y="965200"/>
            <a:ext cx="10261600" cy="3564869"/>
          </a:xfrm>
        </p:spPr>
        <p:txBody>
          <a:bodyPr vert="horz" lIns="91440" tIns="45720" rIns="91440" bIns="45720" rtlCol="0" anchor="b">
            <a:normAutofit/>
          </a:bodyPr>
          <a:lstStyle/>
          <a:p>
            <a:r>
              <a:rPr lang="en-US" sz="11500">
                <a:ln w="22225">
                  <a:solidFill>
                    <a:schemeClr val="tx1"/>
                  </a:solidFill>
                  <a:miter lim="800000"/>
                </a:ln>
                <a:noFill/>
              </a:rPr>
              <a:t>Why do smart people fail?</a:t>
            </a:r>
          </a:p>
        </p:txBody>
      </p:sp>
      <p:sp>
        <p:nvSpPr>
          <p:cNvPr id="3" name="Content Placeholder 2">
            <a:extLst>
              <a:ext uri="{FF2B5EF4-FFF2-40B4-BE49-F238E27FC236}">
                <a16:creationId xmlns:a16="http://schemas.microsoft.com/office/drawing/2014/main" id="{5EE1FECA-0A3E-745C-EFB1-793B4E7878DF}"/>
              </a:ext>
            </a:extLst>
          </p:cNvPr>
          <p:cNvSpPr>
            <a:spLocks noGrp="1"/>
          </p:cNvSpPr>
          <p:nvPr>
            <p:ph idx="1"/>
          </p:nvPr>
        </p:nvSpPr>
        <p:spPr>
          <a:xfrm>
            <a:off x="965200" y="4572002"/>
            <a:ext cx="10261600" cy="1202995"/>
          </a:xfrm>
        </p:spPr>
        <p:txBody>
          <a:bodyPr vert="horz" lIns="91440" tIns="45720" rIns="91440" bIns="45720" rtlCol="0">
            <a:normAutofit/>
          </a:bodyPr>
          <a:lstStyle/>
          <a:p>
            <a:pPr marL="0" indent="0">
              <a:buNone/>
            </a:pPr>
            <a:r>
              <a:rPr lang="en-US" sz="3200"/>
              <a:t>IQ ≭ EQ</a:t>
            </a:r>
          </a:p>
        </p:txBody>
      </p:sp>
    </p:spTree>
    <p:extLst>
      <p:ext uri="{BB962C8B-B14F-4D97-AF65-F5344CB8AC3E}">
        <p14:creationId xmlns:p14="http://schemas.microsoft.com/office/powerpoint/2010/main" val="1981011574"/>
      </p:ext>
    </p:extLst>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A15AE5E-E249-014C-132F-60730FB1C61E}"/>
            </a:ext>
          </a:extLst>
        </p:cNvPr>
        <p:cNvGrpSpPr/>
        <p:nvPr/>
      </p:nvGrpSpPr>
      <p:grpSpPr>
        <a:xfrm>
          <a:off x="0" y="0"/>
          <a:ext cx="0" cy="0"/>
          <a:chOff x="0" y="0"/>
          <a:chExt cx="0" cy="0"/>
        </a:xfrm>
      </p:grpSpPr>
      <p:sp useBgFill="1">
        <p:nvSpPr>
          <p:cNvPr id="58" name="Rectangle 57">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Rectangle 58">
            <a:extLst>
              <a:ext uri="{FF2B5EF4-FFF2-40B4-BE49-F238E27FC236}">
                <a16:creationId xmlns:a16="http://schemas.microsoft.com/office/drawing/2014/main" id="{91E5A9A7-95C6-4F4F-B00E-C82E07FE6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0" name="Rectangle 59">
            <a:extLst>
              <a:ext uri="{FF2B5EF4-FFF2-40B4-BE49-F238E27FC236}">
                <a16:creationId xmlns:a16="http://schemas.microsoft.com/office/drawing/2014/main" id="{D07DD2DE-F619-49DD-B5E7-03A290FF4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8495" y="2660473"/>
            <a:ext cx="4355594" cy="4038603"/>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Rectangle 60">
            <a:extLst>
              <a:ext uri="{FF2B5EF4-FFF2-40B4-BE49-F238E27FC236}">
                <a16:creationId xmlns:a16="http://schemas.microsoft.com/office/drawing/2014/main" id="{85149191-5F60-4A28-AAFF-039F96B0F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80882" y="1638085"/>
            <a:ext cx="6857572" cy="358140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2" name="Freeform: Shape 61">
            <a:extLst>
              <a:ext uri="{FF2B5EF4-FFF2-40B4-BE49-F238E27FC236}">
                <a16:creationId xmlns:a16="http://schemas.microsoft.com/office/drawing/2014/main" id="{F8260ED5-17F7-4158-B241-D51DD4CF1B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A2765887-4795-CA03-A32E-953A5D520FA4}"/>
              </a:ext>
            </a:extLst>
          </p:cNvPr>
          <p:cNvSpPr>
            <a:spLocks noGrp="1"/>
          </p:cNvSpPr>
          <p:nvPr>
            <p:ph type="title"/>
          </p:nvPr>
        </p:nvSpPr>
        <p:spPr>
          <a:xfrm>
            <a:off x="660041" y="2767106"/>
            <a:ext cx="2880828" cy="3071906"/>
          </a:xfrm>
        </p:spPr>
        <p:txBody>
          <a:bodyPr vert="horz" lIns="91440" tIns="45720" rIns="91440" bIns="45720" rtlCol="0" anchor="t">
            <a:normAutofit/>
          </a:bodyPr>
          <a:lstStyle/>
          <a:p>
            <a:r>
              <a:rPr lang="en-US" sz="4000" kern="1200" dirty="0">
                <a:solidFill>
                  <a:srgbClr val="FFFFFF"/>
                </a:solidFill>
                <a:latin typeface="+mj-lt"/>
                <a:ea typeface="+mj-ea"/>
                <a:cs typeface="+mj-cs"/>
              </a:rPr>
              <a:t>The Practical "How"</a:t>
            </a:r>
          </a:p>
        </p:txBody>
      </p:sp>
      <p:graphicFrame>
        <p:nvGraphicFramePr>
          <p:cNvPr id="36" name="Content Placeholder 3">
            <a:extLst>
              <a:ext uri="{FF2B5EF4-FFF2-40B4-BE49-F238E27FC236}">
                <a16:creationId xmlns:a16="http://schemas.microsoft.com/office/drawing/2014/main" id="{8F6673BD-7F85-9841-2D19-89BF49A60D54}"/>
              </a:ext>
            </a:extLst>
          </p:cNvPr>
          <p:cNvGraphicFramePr>
            <a:graphicFrameLocks noGrp="1"/>
          </p:cNvGraphicFramePr>
          <p:nvPr>
            <p:ph idx="1"/>
            <p:extLst>
              <p:ext uri="{D42A27DB-BD31-4B8C-83A1-F6EECF244321}">
                <p14:modId xmlns:p14="http://schemas.microsoft.com/office/powerpoint/2010/main" val="3682183733"/>
              </p:ext>
            </p:extLst>
          </p:nvPr>
        </p:nvGraphicFramePr>
        <p:xfrm>
          <a:off x="4905052" y="750440"/>
          <a:ext cx="6666833" cy="545392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126805077"/>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52" name="Rectangle 1051">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33043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26AB604D-B21B-D491-10E0-B92E5A1DFFCF}"/>
              </a:ext>
            </a:extLst>
          </p:cNvPr>
          <p:cNvPicPr>
            <a:picLocks noChangeAspect="1"/>
          </p:cNvPicPr>
          <p:nvPr/>
        </p:nvPicPr>
        <p:blipFill>
          <a:blip r:embed="rId3"/>
          <a:stretch>
            <a:fillRect/>
          </a:stretch>
        </p:blipFill>
        <p:spPr>
          <a:xfrm>
            <a:off x="642938" y="425450"/>
            <a:ext cx="3124200" cy="4270375"/>
          </a:xfrm>
          <a:prstGeom prst="rect">
            <a:avLst/>
          </a:prstGeom>
        </p:spPr>
      </p:pic>
      <p:pic>
        <p:nvPicPr>
          <p:cNvPr id="1026" name="Picture 2" descr="Unlock Your Potential: Mastering Trust-Based Influence for Financial  Success — Eightify">
            <a:extLst>
              <a:ext uri="{FF2B5EF4-FFF2-40B4-BE49-F238E27FC236}">
                <a16:creationId xmlns:a16="http://schemas.microsoft.com/office/drawing/2014/main" id="{92EECEEC-815C-E384-82B6-4ABC24A9D214}"/>
              </a:ext>
            </a:extLst>
          </p:cNvPr>
          <p:cNvPicPr>
            <a:picLocks noGrp="1" noChangeAspect="1" noChangeArrowheads="1"/>
          </p:cNvPicPr>
          <p:nvPr>
            <p:ph idx="1"/>
          </p:nvPr>
        </p:nvPicPr>
        <p:blipFill>
          <a:blip r:embed="rId4">
            <a:extLst>
              <a:ext uri="{28A0092B-C50C-407E-A947-70E740481C1C}">
                <a14:useLocalDpi xmlns:a14="http://schemas.microsoft.com/office/drawing/2010/main" val="0"/>
              </a:ext>
            </a:extLst>
          </a:blip>
          <a:srcRect/>
          <a:stretch>
            <a:fillRect/>
          </a:stretch>
        </p:blipFill>
        <p:spPr bwMode="auto">
          <a:xfrm>
            <a:off x="3841750" y="425450"/>
            <a:ext cx="7707313" cy="4270375"/>
          </a:xfrm>
          <a:prstGeom prst="rect">
            <a:avLst/>
          </a:prstGeom>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5AF51E08-8556-F339-DB11-88BC2EF46882}"/>
              </a:ext>
            </a:extLst>
          </p:cNvPr>
          <p:cNvSpPr>
            <a:spLocks noGrp="1"/>
          </p:cNvSpPr>
          <p:nvPr>
            <p:ph type="title"/>
          </p:nvPr>
        </p:nvSpPr>
        <p:spPr>
          <a:xfrm>
            <a:off x="556532" y="5322147"/>
            <a:ext cx="11210925" cy="744836"/>
          </a:xfrm>
        </p:spPr>
        <p:txBody>
          <a:bodyPr vert="horz" lIns="91440" tIns="45720" rIns="91440" bIns="45720" rtlCol="0" anchor="ctr">
            <a:normAutofit/>
          </a:bodyPr>
          <a:lstStyle/>
          <a:p>
            <a:pPr algn="ctr"/>
            <a:r>
              <a:rPr lang="en-US" sz="3200" kern="1200">
                <a:solidFill>
                  <a:schemeClr val="bg1"/>
                </a:solidFill>
                <a:latin typeface="+mj-lt"/>
                <a:ea typeface="+mj-ea"/>
                <a:cs typeface="+mj-cs"/>
              </a:rPr>
              <a:t>Tactical Empathy &amp; Trust Based Influence</a:t>
            </a:r>
          </a:p>
        </p:txBody>
      </p:sp>
    </p:spTree>
    <p:extLst>
      <p:ext uri="{BB962C8B-B14F-4D97-AF65-F5344CB8AC3E}">
        <p14:creationId xmlns:p14="http://schemas.microsoft.com/office/powerpoint/2010/main" val="3832384028"/>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3C54F4CE-85F0-46ED-80DA-9518C9251A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Freeform: Shape 23">
            <a:extLst>
              <a:ext uri="{FF2B5EF4-FFF2-40B4-BE49-F238E27FC236}">
                <a16:creationId xmlns:a16="http://schemas.microsoft.com/office/drawing/2014/main" id="{DADD1FCA-8ACB-4958-81DD-4CDD6D3E19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5802086" cy="6858000"/>
          </a:xfrm>
          <a:custGeom>
            <a:avLst/>
            <a:gdLst>
              <a:gd name="connsiteX0" fmla="*/ 5734864 w 5734864"/>
              <a:gd name="connsiteY0" fmla="*/ 0 h 6858000"/>
              <a:gd name="connsiteX1" fmla="*/ 771611 w 5734864"/>
              <a:gd name="connsiteY1" fmla="*/ 0 h 6858000"/>
              <a:gd name="connsiteX2" fmla="*/ 771679 w 5734864"/>
              <a:gd name="connsiteY2" fmla="*/ 49108 h 6858000"/>
              <a:gd name="connsiteX3" fmla="*/ 794248 w 5734864"/>
              <a:gd name="connsiteY3" fmla="*/ 200968 h 6858000"/>
              <a:gd name="connsiteX4" fmla="*/ 801749 w 5734864"/>
              <a:gd name="connsiteY4" fmla="*/ 414071 h 6858000"/>
              <a:gd name="connsiteX5" fmla="*/ 818548 w 5734864"/>
              <a:gd name="connsiteY5" fmla="*/ 585467 h 6858000"/>
              <a:gd name="connsiteX6" fmla="*/ 857476 w 5734864"/>
              <a:gd name="connsiteY6" fmla="*/ 800623 h 6858000"/>
              <a:gd name="connsiteX7" fmla="*/ 851083 w 5734864"/>
              <a:gd name="connsiteY7" fmla="*/ 878903 h 6858000"/>
              <a:gd name="connsiteX8" fmla="*/ 873564 w 5734864"/>
              <a:gd name="connsiteY8" fmla="*/ 943826 h 6858000"/>
              <a:gd name="connsiteX9" fmla="*/ 864705 w 5734864"/>
              <a:gd name="connsiteY9" fmla="*/ 973328 h 6858000"/>
              <a:gd name="connsiteX10" fmla="*/ 862869 w 5734864"/>
              <a:gd name="connsiteY10" fmla="*/ 978457 h 6858000"/>
              <a:gd name="connsiteX11" fmla="*/ 862233 w 5734864"/>
              <a:gd name="connsiteY11" fmla="*/ 998041 h 6858000"/>
              <a:gd name="connsiteX12" fmla="*/ 853665 w 5734864"/>
              <a:gd name="connsiteY12" fmla="*/ 1004750 h 6858000"/>
              <a:gd name="connsiteX13" fmla="*/ 846695 w 5734864"/>
              <a:gd name="connsiteY13" fmla="*/ 1035077 h 6858000"/>
              <a:gd name="connsiteX14" fmla="*/ 847865 w 5734864"/>
              <a:gd name="connsiteY14" fmla="*/ 1070795 h 6858000"/>
              <a:gd name="connsiteX15" fmla="*/ 862786 w 5734864"/>
              <a:gd name="connsiteY15" fmla="*/ 1238994 h 6858000"/>
              <a:gd name="connsiteX16" fmla="*/ 859345 w 5734864"/>
              <a:gd name="connsiteY16" fmla="*/ 1380427 h 6858000"/>
              <a:gd name="connsiteX17" fmla="*/ 855172 w 5734864"/>
              <a:gd name="connsiteY17" fmla="*/ 1435262 h 6858000"/>
              <a:gd name="connsiteX18" fmla="*/ 860494 w 5734864"/>
              <a:gd name="connsiteY18" fmla="*/ 1453861 h 6858000"/>
              <a:gd name="connsiteX19" fmla="*/ 853731 w 5734864"/>
              <a:gd name="connsiteY19" fmla="*/ 1467047 h 6858000"/>
              <a:gd name="connsiteX20" fmla="*/ 845847 w 5734864"/>
              <a:gd name="connsiteY20" fmla="*/ 1502307 h 6858000"/>
              <a:gd name="connsiteX21" fmla="*/ 817613 w 5734864"/>
              <a:gd name="connsiteY21" fmla="*/ 1565166 h 6858000"/>
              <a:gd name="connsiteX22" fmla="*/ 804223 w 5734864"/>
              <a:gd name="connsiteY22" fmla="*/ 1601941 h 6858000"/>
              <a:gd name="connsiteX23" fmla="*/ 791773 w 5734864"/>
              <a:gd name="connsiteY23" fmla="*/ 1627005 h 6858000"/>
              <a:gd name="connsiteX24" fmla="*/ 774645 w 5734864"/>
              <a:gd name="connsiteY24" fmla="*/ 1699922 h 6858000"/>
              <a:gd name="connsiteX25" fmla="*/ 752343 w 5734864"/>
              <a:gd name="connsiteY25" fmla="*/ 1824604 h 6858000"/>
              <a:gd name="connsiteX26" fmla="*/ 746254 w 5734864"/>
              <a:gd name="connsiteY26" fmla="*/ 1850222 h 6858000"/>
              <a:gd name="connsiteX27" fmla="*/ 728600 w 5734864"/>
              <a:gd name="connsiteY27" fmla="*/ 1869603 h 6858000"/>
              <a:gd name="connsiteX28" fmla="*/ 724396 w 5734864"/>
              <a:gd name="connsiteY28" fmla="*/ 1883104 h 6858000"/>
              <a:gd name="connsiteX29" fmla="*/ 722165 w 5734864"/>
              <a:gd name="connsiteY29" fmla="*/ 1885924 h 6858000"/>
              <a:gd name="connsiteX30" fmla="*/ 721338 w 5734864"/>
              <a:gd name="connsiteY30" fmla="*/ 1887123 h 6858000"/>
              <a:gd name="connsiteX31" fmla="*/ 714840 w 5734864"/>
              <a:gd name="connsiteY31" fmla="*/ 1902274 h 6858000"/>
              <a:gd name="connsiteX32" fmla="*/ 722847 w 5734864"/>
              <a:gd name="connsiteY32" fmla="*/ 1929891 h 6858000"/>
              <a:gd name="connsiteX33" fmla="*/ 719647 w 5734864"/>
              <a:gd name="connsiteY33" fmla="*/ 1936120 h 6858000"/>
              <a:gd name="connsiteX34" fmla="*/ 714660 w 5734864"/>
              <a:gd name="connsiteY34" fmla="*/ 1982709 h 6858000"/>
              <a:gd name="connsiteX35" fmla="*/ 710759 w 5734864"/>
              <a:gd name="connsiteY35" fmla="*/ 2013010 h 6858000"/>
              <a:gd name="connsiteX36" fmla="*/ 697927 w 5734864"/>
              <a:gd name="connsiteY36" fmla="*/ 2069833 h 6858000"/>
              <a:gd name="connsiteX37" fmla="*/ 693594 w 5734864"/>
              <a:gd name="connsiteY37" fmla="*/ 2103731 h 6858000"/>
              <a:gd name="connsiteX38" fmla="*/ 691109 w 5734864"/>
              <a:gd name="connsiteY38" fmla="*/ 2124027 h 6858000"/>
              <a:gd name="connsiteX39" fmla="*/ 676593 w 5734864"/>
              <a:gd name="connsiteY39" fmla="*/ 2176182 h 6858000"/>
              <a:gd name="connsiteX40" fmla="*/ 633227 w 5734864"/>
              <a:gd name="connsiteY40" fmla="*/ 2258036 h 6858000"/>
              <a:gd name="connsiteX41" fmla="*/ 625564 w 5734864"/>
              <a:gd name="connsiteY41" fmla="*/ 2284567 h 6858000"/>
              <a:gd name="connsiteX42" fmla="*/ 627074 w 5734864"/>
              <a:gd name="connsiteY42" fmla="*/ 2289605 h 6858000"/>
              <a:gd name="connsiteX43" fmla="*/ 614574 w 5734864"/>
              <a:gd name="connsiteY43" fmla="*/ 2308717 h 6858000"/>
              <a:gd name="connsiteX44" fmla="*/ 606890 w 5734864"/>
              <a:gd name="connsiteY44" fmla="*/ 2320662 h 6858000"/>
              <a:gd name="connsiteX45" fmla="*/ 605558 w 5734864"/>
              <a:gd name="connsiteY45" fmla="*/ 2327897 h 6858000"/>
              <a:gd name="connsiteX46" fmla="*/ 602202 w 5734864"/>
              <a:gd name="connsiteY46" fmla="*/ 2357749 h 6858000"/>
              <a:gd name="connsiteX47" fmla="*/ 600213 w 5734864"/>
              <a:gd name="connsiteY47" fmla="*/ 2364905 h 6858000"/>
              <a:gd name="connsiteX48" fmla="*/ 597160 w 5734864"/>
              <a:gd name="connsiteY48" fmla="*/ 2388351 h 6858000"/>
              <a:gd name="connsiteX49" fmla="*/ 597982 w 5734864"/>
              <a:gd name="connsiteY49" fmla="*/ 2402296 h 6858000"/>
              <a:gd name="connsiteX50" fmla="*/ 593150 w 5734864"/>
              <a:gd name="connsiteY50" fmla="*/ 2420015 h 6858000"/>
              <a:gd name="connsiteX51" fmla="*/ 592833 w 5734864"/>
              <a:gd name="connsiteY51" fmla="*/ 2422749 h 6858000"/>
              <a:gd name="connsiteX52" fmla="*/ 594479 w 5734864"/>
              <a:gd name="connsiteY52" fmla="*/ 2426002 h 6858000"/>
              <a:gd name="connsiteX53" fmla="*/ 591963 w 5734864"/>
              <a:gd name="connsiteY53" fmla="*/ 2431950 h 6858000"/>
              <a:gd name="connsiteX54" fmla="*/ 591544 w 5734864"/>
              <a:gd name="connsiteY54" fmla="*/ 2433897 h 6858000"/>
              <a:gd name="connsiteX55" fmla="*/ 589519 w 5734864"/>
              <a:gd name="connsiteY55" fmla="*/ 2451398 h 6858000"/>
              <a:gd name="connsiteX56" fmla="*/ 590037 w 5734864"/>
              <a:gd name="connsiteY56" fmla="*/ 2455536 h 6858000"/>
              <a:gd name="connsiteX57" fmla="*/ 588179 w 5734864"/>
              <a:gd name="connsiteY57" fmla="*/ 2462981 h 6858000"/>
              <a:gd name="connsiteX58" fmla="*/ 583434 w 5734864"/>
              <a:gd name="connsiteY58" fmla="*/ 2503991 h 6858000"/>
              <a:gd name="connsiteX59" fmla="*/ 567942 w 5734864"/>
              <a:gd name="connsiteY59" fmla="*/ 2652936 h 6858000"/>
              <a:gd name="connsiteX60" fmla="*/ 573869 w 5734864"/>
              <a:gd name="connsiteY60" fmla="*/ 2670188 h 6858000"/>
              <a:gd name="connsiteX61" fmla="*/ 575243 w 5734864"/>
              <a:gd name="connsiteY61" fmla="*/ 2688114 h 6858000"/>
              <a:gd name="connsiteX62" fmla="*/ 573824 w 5734864"/>
              <a:gd name="connsiteY62" fmla="*/ 2689856 h 6858000"/>
              <a:gd name="connsiteX63" fmla="*/ 570699 w 5734864"/>
              <a:gd name="connsiteY63" fmla="*/ 2709353 h 6858000"/>
              <a:gd name="connsiteX64" fmla="*/ 573192 w 5734864"/>
              <a:gd name="connsiteY64" fmla="*/ 2714527 h 6858000"/>
              <a:gd name="connsiteX65" fmla="*/ 572044 w 5734864"/>
              <a:gd name="connsiteY65" fmla="*/ 2728187 h 6858000"/>
              <a:gd name="connsiteX66" fmla="*/ 572465 w 5734864"/>
              <a:gd name="connsiteY66" fmla="*/ 2755863 h 6858000"/>
              <a:gd name="connsiteX67" fmla="*/ 570028 w 5734864"/>
              <a:gd name="connsiteY67" fmla="*/ 2760324 h 6858000"/>
              <a:gd name="connsiteX68" fmla="*/ 566748 w 5734864"/>
              <a:gd name="connsiteY68" fmla="*/ 2800948 h 6858000"/>
              <a:gd name="connsiteX69" fmla="*/ 565509 w 5734864"/>
              <a:gd name="connsiteY69" fmla="*/ 2801167 h 6858000"/>
              <a:gd name="connsiteX70" fmla="*/ 559367 w 5734864"/>
              <a:gd name="connsiteY70" fmla="*/ 2811129 h 6858000"/>
              <a:gd name="connsiteX71" fmla="*/ 550354 w 5734864"/>
              <a:gd name="connsiteY71" fmla="*/ 2830949 h 6858000"/>
              <a:gd name="connsiteX72" fmla="*/ 514795 w 5734864"/>
              <a:gd name="connsiteY72" fmla="*/ 2872433 h 6858000"/>
              <a:gd name="connsiteX73" fmla="*/ 509875 w 5734864"/>
              <a:gd name="connsiteY73" fmla="*/ 2923099 h 6858000"/>
              <a:gd name="connsiteX74" fmla="*/ 509577 w 5734864"/>
              <a:gd name="connsiteY74" fmla="*/ 2923197 h 6858000"/>
              <a:gd name="connsiteX75" fmla="*/ 507597 w 5734864"/>
              <a:gd name="connsiteY75" fmla="*/ 2931868 h 6858000"/>
              <a:gd name="connsiteX76" fmla="*/ 507379 w 5734864"/>
              <a:gd name="connsiteY76" fmla="*/ 2938322 h 6858000"/>
              <a:gd name="connsiteX77" fmla="*/ 504725 w 5734864"/>
              <a:gd name="connsiteY77" fmla="*/ 2954519 h 6858000"/>
              <a:gd name="connsiteX78" fmla="*/ 502018 w 5734864"/>
              <a:gd name="connsiteY78" fmla="*/ 2959643 h 6858000"/>
              <a:gd name="connsiteX79" fmla="*/ 498360 w 5734864"/>
              <a:gd name="connsiteY79" fmla="*/ 2961019 h 6858000"/>
              <a:gd name="connsiteX80" fmla="*/ 498483 w 5734864"/>
              <a:gd name="connsiteY80" fmla="*/ 2962590 h 6858000"/>
              <a:gd name="connsiteX81" fmla="*/ 484403 w 5734864"/>
              <a:gd name="connsiteY81" fmla="*/ 2990538 h 6858000"/>
              <a:gd name="connsiteX82" fmla="*/ 463075 w 5734864"/>
              <a:gd name="connsiteY82" fmla="*/ 3055956 h 6858000"/>
              <a:gd name="connsiteX83" fmla="*/ 455013 w 5734864"/>
              <a:gd name="connsiteY83" fmla="*/ 3094482 h 6858000"/>
              <a:gd name="connsiteX84" fmla="*/ 428391 w 5734864"/>
              <a:gd name="connsiteY84" fmla="*/ 3198850 h 6858000"/>
              <a:gd name="connsiteX85" fmla="*/ 401440 w 5734864"/>
              <a:gd name="connsiteY85" fmla="*/ 3307560 h 6858000"/>
              <a:gd name="connsiteX86" fmla="*/ 386076 w 5734864"/>
              <a:gd name="connsiteY86" fmla="*/ 3373943 h 6858000"/>
              <a:gd name="connsiteX87" fmla="*/ 374726 w 5734864"/>
              <a:gd name="connsiteY87" fmla="*/ 3381364 h 6858000"/>
              <a:gd name="connsiteX88" fmla="*/ 369145 w 5734864"/>
              <a:gd name="connsiteY88" fmla="*/ 3383729 h 6858000"/>
              <a:gd name="connsiteX89" fmla="*/ 364294 w 5734864"/>
              <a:gd name="connsiteY89" fmla="*/ 3414159 h 6858000"/>
              <a:gd name="connsiteX90" fmla="*/ 366450 w 5734864"/>
              <a:gd name="connsiteY90" fmla="*/ 3436925 h 6858000"/>
              <a:gd name="connsiteX91" fmla="*/ 351743 w 5734864"/>
              <a:gd name="connsiteY91" fmla="*/ 3521619 h 6858000"/>
              <a:gd name="connsiteX92" fmla="*/ 345784 w 5734864"/>
              <a:gd name="connsiteY92" fmla="*/ 3603757 h 6858000"/>
              <a:gd name="connsiteX93" fmla="*/ 344198 w 5734864"/>
              <a:gd name="connsiteY93" fmla="*/ 3652424 h 6858000"/>
              <a:gd name="connsiteX94" fmla="*/ 352450 w 5734864"/>
              <a:gd name="connsiteY94" fmla="*/ 3665222 h 6858000"/>
              <a:gd name="connsiteX95" fmla="*/ 342621 w 5734864"/>
              <a:gd name="connsiteY95" fmla="*/ 3700804 h 6858000"/>
              <a:gd name="connsiteX96" fmla="*/ 341514 w 5734864"/>
              <a:gd name="connsiteY96" fmla="*/ 3734774 h 6858000"/>
              <a:gd name="connsiteX97" fmla="*/ 340607 w 5734864"/>
              <a:gd name="connsiteY97" fmla="*/ 3785153 h 6858000"/>
              <a:gd name="connsiteX98" fmla="*/ 340707 w 5734864"/>
              <a:gd name="connsiteY98" fmla="*/ 3788177 h 6858000"/>
              <a:gd name="connsiteX99" fmla="*/ 340361 w 5734864"/>
              <a:gd name="connsiteY99" fmla="*/ 3798803 h 6858000"/>
              <a:gd name="connsiteX100" fmla="*/ 339642 w 5734864"/>
              <a:gd name="connsiteY100" fmla="*/ 3838750 h 6858000"/>
              <a:gd name="connsiteX101" fmla="*/ 360295 w 5734864"/>
              <a:gd name="connsiteY101" fmla="*/ 4015196 h 6858000"/>
              <a:gd name="connsiteX102" fmla="*/ 339043 w 5734864"/>
              <a:gd name="connsiteY102" fmla="*/ 4052778 h 6858000"/>
              <a:gd name="connsiteX103" fmla="*/ 339343 w 5734864"/>
              <a:gd name="connsiteY103" fmla="*/ 4096257 h 6858000"/>
              <a:gd name="connsiteX104" fmla="*/ 340786 w 5734864"/>
              <a:gd name="connsiteY104" fmla="*/ 4321136 h 6858000"/>
              <a:gd name="connsiteX105" fmla="*/ 343158 w 5734864"/>
              <a:gd name="connsiteY105" fmla="*/ 4429174 h 6858000"/>
              <a:gd name="connsiteX106" fmla="*/ 334599 w 5734864"/>
              <a:gd name="connsiteY106" fmla="*/ 4449938 h 6858000"/>
              <a:gd name="connsiteX107" fmla="*/ 332890 w 5734864"/>
              <a:gd name="connsiteY107" fmla="*/ 4453515 h 6858000"/>
              <a:gd name="connsiteX108" fmla="*/ 331105 w 5734864"/>
              <a:gd name="connsiteY108" fmla="*/ 4467941 h 6858000"/>
              <a:gd name="connsiteX109" fmla="*/ 324289 w 5734864"/>
              <a:gd name="connsiteY109" fmla="*/ 4471861 h 6858000"/>
              <a:gd name="connsiteX110" fmla="*/ 317079 w 5734864"/>
              <a:gd name="connsiteY110" fmla="*/ 4493468 h 6858000"/>
              <a:gd name="connsiteX111" fmla="*/ 315557 w 5734864"/>
              <a:gd name="connsiteY111" fmla="*/ 4520067 h 6858000"/>
              <a:gd name="connsiteX112" fmla="*/ 315240 w 5734864"/>
              <a:gd name="connsiteY112" fmla="*/ 4536872 h 6858000"/>
              <a:gd name="connsiteX113" fmla="*/ 316200 w 5734864"/>
              <a:gd name="connsiteY113" fmla="*/ 4538297 h 6858000"/>
              <a:gd name="connsiteX114" fmla="*/ 317507 w 5734864"/>
              <a:gd name="connsiteY114" fmla="*/ 4547582 h 6858000"/>
              <a:gd name="connsiteX115" fmla="*/ 323078 w 5734864"/>
              <a:gd name="connsiteY115" fmla="*/ 4592102 h 6858000"/>
              <a:gd name="connsiteX116" fmla="*/ 328722 w 5734864"/>
              <a:gd name="connsiteY116" fmla="*/ 4667914 h 6858000"/>
              <a:gd name="connsiteX117" fmla="*/ 335597 w 5734864"/>
              <a:gd name="connsiteY117" fmla="*/ 4695035 h 6858000"/>
              <a:gd name="connsiteX118" fmla="*/ 339485 w 5734864"/>
              <a:gd name="connsiteY118" fmla="*/ 4695979 h 6858000"/>
              <a:gd name="connsiteX119" fmla="*/ 341089 w 5734864"/>
              <a:gd name="connsiteY119" fmla="*/ 4704268 h 6858000"/>
              <a:gd name="connsiteX120" fmla="*/ 342177 w 5734864"/>
              <a:gd name="connsiteY120" fmla="*/ 4706060 h 6858000"/>
              <a:gd name="connsiteX121" fmla="*/ 347751 w 5734864"/>
              <a:gd name="connsiteY121" fmla="*/ 4716754 h 6858000"/>
              <a:gd name="connsiteX122" fmla="*/ 344125 w 5734864"/>
              <a:gd name="connsiteY122" fmla="*/ 4764669 h 6858000"/>
              <a:gd name="connsiteX123" fmla="*/ 340188 w 5734864"/>
              <a:gd name="connsiteY123" fmla="*/ 4779386 h 6858000"/>
              <a:gd name="connsiteX124" fmla="*/ 335146 w 5734864"/>
              <a:gd name="connsiteY124" fmla="*/ 4787491 h 6858000"/>
              <a:gd name="connsiteX125" fmla="*/ 319124 w 5734864"/>
              <a:gd name="connsiteY125" fmla="*/ 4843514 h 6858000"/>
              <a:gd name="connsiteX126" fmla="*/ 305956 w 5734864"/>
              <a:gd name="connsiteY126" fmla="*/ 4881505 h 6858000"/>
              <a:gd name="connsiteX127" fmla="*/ 301062 w 5734864"/>
              <a:gd name="connsiteY127" fmla="*/ 4889332 h 6858000"/>
              <a:gd name="connsiteX128" fmla="*/ 302141 w 5734864"/>
              <a:gd name="connsiteY128" fmla="*/ 4899400 h 6858000"/>
              <a:gd name="connsiteX129" fmla="*/ 304424 w 5734864"/>
              <a:gd name="connsiteY129" fmla="*/ 4902664 h 6858000"/>
              <a:gd name="connsiteX130" fmla="*/ 293123 w 5734864"/>
              <a:gd name="connsiteY130" fmla="*/ 4932769 h 6858000"/>
              <a:gd name="connsiteX131" fmla="*/ 292275 w 5734864"/>
              <a:gd name="connsiteY131" fmla="*/ 4936482 h 6858000"/>
              <a:gd name="connsiteX132" fmla="*/ 288304 w 5734864"/>
              <a:gd name="connsiteY132" fmla="*/ 4962325 h 6858000"/>
              <a:gd name="connsiteX133" fmla="*/ 287420 w 5734864"/>
              <a:gd name="connsiteY133" fmla="*/ 5042193 h 6858000"/>
              <a:gd name="connsiteX134" fmla="*/ 287020 w 5734864"/>
              <a:gd name="connsiteY134" fmla="*/ 5065655 h 6858000"/>
              <a:gd name="connsiteX135" fmla="*/ 288488 w 5734864"/>
              <a:gd name="connsiteY135" fmla="*/ 5082216 h 6858000"/>
              <a:gd name="connsiteX136" fmla="*/ 282763 w 5734864"/>
              <a:gd name="connsiteY136" fmla="*/ 5127114 h 6858000"/>
              <a:gd name="connsiteX137" fmla="*/ 269316 w 5734864"/>
              <a:gd name="connsiteY137" fmla="*/ 5202682 h 6858000"/>
              <a:gd name="connsiteX138" fmla="*/ 269174 w 5734864"/>
              <a:gd name="connsiteY138" fmla="*/ 5230835 h 6858000"/>
              <a:gd name="connsiteX139" fmla="*/ 272679 w 5734864"/>
              <a:gd name="connsiteY139" fmla="*/ 5232660 h 6858000"/>
              <a:gd name="connsiteX140" fmla="*/ 272160 w 5734864"/>
              <a:gd name="connsiteY140" fmla="*/ 5241150 h 6858000"/>
              <a:gd name="connsiteX141" fmla="*/ 272760 w 5734864"/>
              <a:gd name="connsiteY141" fmla="*/ 5243156 h 6858000"/>
              <a:gd name="connsiteX142" fmla="*/ 275462 w 5734864"/>
              <a:gd name="connsiteY142" fmla="*/ 5254919 h 6858000"/>
              <a:gd name="connsiteX143" fmla="*/ 262897 w 5734864"/>
              <a:gd name="connsiteY143" fmla="*/ 5286259 h 6858000"/>
              <a:gd name="connsiteX144" fmla="*/ 252761 w 5734864"/>
              <a:gd name="connsiteY144" fmla="*/ 5357801 h 6858000"/>
              <a:gd name="connsiteX145" fmla="*/ 242360 w 5734864"/>
              <a:gd name="connsiteY145" fmla="*/ 5460080 h 6858000"/>
              <a:gd name="connsiteX146" fmla="*/ 229880 w 5734864"/>
              <a:gd name="connsiteY146" fmla="*/ 5539714 h 6858000"/>
              <a:gd name="connsiteX147" fmla="*/ 204283 w 5734864"/>
              <a:gd name="connsiteY147" fmla="*/ 5639080 h 6858000"/>
              <a:gd name="connsiteX148" fmla="*/ 198948 w 5734864"/>
              <a:gd name="connsiteY148" fmla="*/ 5710958 h 6858000"/>
              <a:gd name="connsiteX149" fmla="*/ 192367 w 5734864"/>
              <a:gd name="connsiteY149" fmla="*/ 5719859 h 6858000"/>
              <a:gd name="connsiteX150" fmla="*/ 188035 w 5734864"/>
              <a:gd name="connsiteY150" fmla="*/ 5729935 h 6858000"/>
              <a:gd name="connsiteX151" fmla="*/ 188428 w 5734864"/>
              <a:gd name="connsiteY151" fmla="*/ 5731182 h 6858000"/>
              <a:gd name="connsiteX152" fmla="*/ 181635 w 5734864"/>
              <a:gd name="connsiteY152" fmla="*/ 5753538 h 6858000"/>
              <a:gd name="connsiteX153" fmla="*/ 169744 w 5734864"/>
              <a:gd name="connsiteY153" fmla="*/ 5796307 h 6858000"/>
              <a:gd name="connsiteX154" fmla="*/ 170351 w 5734864"/>
              <a:gd name="connsiteY154" fmla="*/ 5796644 h 6858000"/>
              <a:gd name="connsiteX155" fmla="*/ 171559 w 5734864"/>
              <a:gd name="connsiteY155" fmla="*/ 5803435 h 6858000"/>
              <a:gd name="connsiteX156" fmla="*/ 172284 w 5734864"/>
              <a:gd name="connsiteY156" fmla="*/ 5816391 h 6858000"/>
              <a:gd name="connsiteX157" fmla="*/ 182542 w 5734864"/>
              <a:gd name="connsiteY157" fmla="*/ 5846382 h 6858000"/>
              <a:gd name="connsiteX158" fmla="*/ 175877 w 5734864"/>
              <a:gd name="connsiteY158" fmla="*/ 5871336 h 6858000"/>
              <a:gd name="connsiteX159" fmla="*/ 174910 w 5734864"/>
              <a:gd name="connsiteY159" fmla="*/ 5876376 h 6858000"/>
              <a:gd name="connsiteX160" fmla="*/ 175047 w 5734864"/>
              <a:gd name="connsiteY160" fmla="*/ 5876483 h 6858000"/>
              <a:gd name="connsiteX161" fmla="*/ 174335 w 5734864"/>
              <a:gd name="connsiteY161" fmla="*/ 5881814 h 6858000"/>
              <a:gd name="connsiteX162" fmla="*/ 171273 w 5734864"/>
              <a:gd name="connsiteY162" fmla="*/ 5895339 h 6858000"/>
              <a:gd name="connsiteX163" fmla="*/ 171658 w 5734864"/>
              <a:gd name="connsiteY163" fmla="*/ 5898749 h 6858000"/>
              <a:gd name="connsiteX164" fmla="*/ 174658 w 5734864"/>
              <a:gd name="connsiteY164" fmla="*/ 5919558 h 6858000"/>
              <a:gd name="connsiteX165" fmla="*/ 169099 w 5734864"/>
              <a:gd name="connsiteY165" fmla="*/ 5984417 h 6858000"/>
              <a:gd name="connsiteX166" fmla="*/ 162007 w 5734864"/>
              <a:gd name="connsiteY166" fmla="*/ 6049043 h 6858000"/>
              <a:gd name="connsiteX167" fmla="*/ 156875 w 5734864"/>
              <a:gd name="connsiteY167" fmla="*/ 6114000 h 6858000"/>
              <a:gd name="connsiteX168" fmla="*/ 165441 w 5734864"/>
              <a:gd name="connsiteY168" fmla="*/ 6146938 h 6858000"/>
              <a:gd name="connsiteX169" fmla="*/ 165177 w 5734864"/>
              <a:gd name="connsiteY169" fmla="*/ 6150658 h 6858000"/>
              <a:gd name="connsiteX170" fmla="*/ 161772 w 5734864"/>
              <a:gd name="connsiteY170" fmla="*/ 6160011 h 6858000"/>
              <a:gd name="connsiteX171" fmla="*/ 160051 w 5734864"/>
              <a:gd name="connsiteY171" fmla="*/ 6163393 h 6858000"/>
              <a:gd name="connsiteX172" fmla="*/ 158473 w 5734864"/>
              <a:gd name="connsiteY172" fmla="*/ 6168628 h 6858000"/>
              <a:gd name="connsiteX173" fmla="*/ 158573 w 5734864"/>
              <a:gd name="connsiteY173" fmla="*/ 6168799 h 6858000"/>
              <a:gd name="connsiteX174" fmla="*/ 146463 w 5734864"/>
              <a:gd name="connsiteY174" fmla="*/ 6196671 h 6858000"/>
              <a:gd name="connsiteX175" fmla="*/ 150209 w 5734864"/>
              <a:gd name="connsiteY175" fmla="*/ 6232365 h 6858000"/>
              <a:gd name="connsiteX176" fmla="*/ 148544 w 5734864"/>
              <a:gd name="connsiteY176" fmla="*/ 6246162 h 6858000"/>
              <a:gd name="connsiteX177" fmla="*/ 148403 w 5734864"/>
              <a:gd name="connsiteY177" fmla="*/ 6253754 h 6858000"/>
              <a:gd name="connsiteX178" fmla="*/ 138880 w 5734864"/>
              <a:gd name="connsiteY178" fmla="*/ 6276449 h 6858000"/>
              <a:gd name="connsiteX179" fmla="*/ 138683 w 5734864"/>
              <a:gd name="connsiteY179" fmla="*/ 6279721 h 6858000"/>
              <a:gd name="connsiteX180" fmla="*/ 130721 w 5734864"/>
              <a:gd name="connsiteY180" fmla="*/ 6293675 h 6858000"/>
              <a:gd name="connsiteX181" fmla="*/ 120717 w 5734864"/>
              <a:gd name="connsiteY181" fmla="*/ 6313967 h 6858000"/>
              <a:gd name="connsiteX182" fmla="*/ 120841 w 5734864"/>
              <a:gd name="connsiteY182" fmla="*/ 6315437 h 6858000"/>
              <a:gd name="connsiteX183" fmla="*/ 115208 w 5734864"/>
              <a:gd name="connsiteY183" fmla="*/ 6324024 h 6858000"/>
              <a:gd name="connsiteX184" fmla="*/ 101217 w 5734864"/>
              <a:gd name="connsiteY184" fmla="*/ 6365923 h 6858000"/>
              <a:gd name="connsiteX185" fmla="*/ 74946 w 5734864"/>
              <a:gd name="connsiteY185" fmla="*/ 6556817 h 6858000"/>
              <a:gd name="connsiteX186" fmla="*/ 16001 w 5734864"/>
              <a:gd name="connsiteY186" fmla="*/ 6808678 h 6858000"/>
              <a:gd name="connsiteX187" fmla="*/ 0 w 5734864"/>
              <a:gd name="connsiteY187" fmla="*/ 6858000 h 6858000"/>
              <a:gd name="connsiteX188" fmla="*/ 5734864 w 5734864"/>
              <a:gd name="connsiteY188" fmla="*/ 6858000 h 6858000"/>
              <a:gd name="connsiteX0" fmla="*/ 5734864 w 5734864"/>
              <a:gd name="connsiteY0" fmla="*/ 0 h 6858000"/>
              <a:gd name="connsiteX1" fmla="*/ 771611 w 5734864"/>
              <a:gd name="connsiteY1" fmla="*/ 0 h 6858000"/>
              <a:gd name="connsiteX2" fmla="*/ 771679 w 5734864"/>
              <a:gd name="connsiteY2" fmla="*/ 49108 h 6858000"/>
              <a:gd name="connsiteX3" fmla="*/ 794248 w 5734864"/>
              <a:gd name="connsiteY3" fmla="*/ 200968 h 6858000"/>
              <a:gd name="connsiteX4" fmla="*/ 801749 w 5734864"/>
              <a:gd name="connsiteY4" fmla="*/ 414071 h 6858000"/>
              <a:gd name="connsiteX5" fmla="*/ 818548 w 5734864"/>
              <a:gd name="connsiteY5" fmla="*/ 585467 h 6858000"/>
              <a:gd name="connsiteX6" fmla="*/ 857476 w 5734864"/>
              <a:gd name="connsiteY6" fmla="*/ 800623 h 6858000"/>
              <a:gd name="connsiteX7" fmla="*/ 851083 w 5734864"/>
              <a:gd name="connsiteY7" fmla="*/ 878903 h 6858000"/>
              <a:gd name="connsiteX8" fmla="*/ 873564 w 5734864"/>
              <a:gd name="connsiteY8" fmla="*/ 943826 h 6858000"/>
              <a:gd name="connsiteX9" fmla="*/ 864705 w 5734864"/>
              <a:gd name="connsiteY9" fmla="*/ 973328 h 6858000"/>
              <a:gd name="connsiteX10" fmla="*/ 862869 w 5734864"/>
              <a:gd name="connsiteY10" fmla="*/ 978457 h 6858000"/>
              <a:gd name="connsiteX11" fmla="*/ 862233 w 5734864"/>
              <a:gd name="connsiteY11" fmla="*/ 998041 h 6858000"/>
              <a:gd name="connsiteX12" fmla="*/ 853665 w 5734864"/>
              <a:gd name="connsiteY12" fmla="*/ 1004750 h 6858000"/>
              <a:gd name="connsiteX13" fmla="*/ 846695 w 5734864"/>
              <a:gd name="connsiteY13" fmla="*/ 1035077 h 6858000"/>
              <a:gd name="connsiteX14" fmla="*/ 847865 w 5734864"/>
              <a:gd name="connsiteY14" fmla="*/ 1070795 h 6858000"/>
              <a:gd name="connsiteX15" fmla="*/ 862786 w 5734864"/>
              <a:gd name="connsiteY15" fmla="*/ 1238994 h 6858000"/>
              <a:gd name="connsiteX16" fmla="*/ 859345 w 5734864"/>
              <a:gd name="connsiteY16" fmla="*/ 1380427 h 6858000"/>
              <a:gd name="connsiteX17" fmla="*/ 855172 w 5734864"/>
              <a:gd name="connsiteY17" fmla="*/ 1435262 h 6858000"/>
              <a:gd name="connsiteX18" fmla="*/ 860494 w 5734864"/>
              <a:gd name="connsiteY18" fmla="*/ 1453861 h 6858000"/>
              <a:gd name="connsiteX19" fmla="*/ 853731 w 5734864"/>
              <a:gd name="connsiteY19" fmla="*/ 1467047 h 6858000"/>
              <a:gd name="connsiteX20" fmla="*/ 845847 w 5734864"/>
              <a:gd name="connsiteY20" fmla="*/ 1502307 h 6858000"/>
              <a:gd name="connsiteX21" fmla="*/ 817613 w 5734864"/>
              <a:gd name="connsiteY21" fmla="*/ 1565166 h 6858000"/>
              <a:gd name="connsiteX22" fmla="*/ 804223 w 5734864"/>
              <a:gd name="connsiteY22" fmla="*/ 1601941 h 6858000"/>
              <a:gd name="connsiteX23" fmla="*/ 791773 w 5734864"/>
              <a:gd name="connsiteY23" fmla="*/ 1627005 h 6858000"/>
              <a:gd name="connsiteX24" fmla="*/ 774645 w 5734864"/>
              <a:gd name="connsiteY24" fmla="*/ 1699922 h 6858000"/>
              <a:gd name="connsiteX25" fmla="*/ 752343 w 5734864"/>
              <a:gd name="connsiteY25" fmla="*/ 1824604 h 6858000"/>
              <a:gd name="connsiteX26" fmla="*/ 746254 w 5734864"/>
              <a:gd name="connsiteY26" fmla="*/ 1850222 h 6858000"/>
              <a:gd name="connsiteX27" fmla="*/ 728600 w 5734864"/>
              <a:gd name="connsiteY27" fmla="*/ 1869603 h 6858000"/>
              <a:gd name="connsiteX28" fmla="*/ 724396 w 5734864"/>
              <a:gd name="connsiteY28" fmla="*/ 1883104 h 6858000"/>
              <a:gd name="connsiteX29" fmla="*/ 722165 w 5734864"/>
              <a:gd name="connsiteY29" fmla="*/ 1885924 h 6858000"/>
              <a:gd name="connsiteX30" fmla="*/ 721338 w 5734864"/>
              <a:gd name="connsiteY30" fmla="*/ 1887123 h 6858000"/>
              <a:gd name="connsiteX31" fmla="*/ 714840 w 5734864"/>
              <a:gd name="connsiteY31" fmla="*/ 1902274 h 6858000"/>
              <a:gd name="connsiteX32" fmla="*/ 722847 w 5734864"/>
              <a:gd name="connsiteY32" fmla="*/ 1929891 h 6858000"/>
              <a:gd name="connsiteX33" fmla="*/ 714660 w 5734864"/>
              <a:gd name="connsiteY33" fmla="*/ 1982709 h 6858000"/>
              <a:gd name="connsiteX34" fmla="*/ 710759 w 5734864"/>
              <a:gd name="connsiteY34" fmla="*/ 2013010 h 6858000"/>
              <a:gd name="connsiteX35" fmla="*/ 697927 w 5734864"/>
              <a:gd name="connsiteY35" fmla="*/ 2069833 h 6858000"/>
              <a:gd name="connsiteX36" fmla="*/ 693594 w 5734864"/>
              <a:gd name="connsiteY36" fmla="*/ 2103731 h 6858000"/>
              <a:gd name="connsiteX37" fmla="*/ 691109 w 5734864"/>
              <a:gd name="connsiteY37" fmla="*/ 2124027 h 6858000"/>
              <a:gd name="connsiteX38" fmla="*/ 676593 w 5734864"/>
              <a:gd name="connsiteY38" fmla="*/ 2176182 h 6858000"/>
              <a:gd name="connsiteX39" fmla="*/ 633227 w 5734864"/>
              <a:gd name="connsiteY39" fmla="*/ 2258036 h 6858000"/>
              <a:gd name="connsiteX40" fmla="*/ 625564 w 5734864"/>
              <a:gd name="connsiteY40" fmla="*/ 2284567 h 6858000"/>
              <a:gd name="connsiteX41" fmla="*/ 627074 w 5734864"/>
              <a:gd name="connsiteY41" fmla="*/ 2289605 h 6858000"/>
              <a:gd name="connsiteX42" fmla="*/ 614574 w 5734864"/>
              <a:gd name="connsiteY42" fmla="*/ 2308717 h 6858000"/>
              <a:gd name="connsiteX43" fmla="*/ 606890 w 5734864"/>
              <a:gd name="connsiteY43" fmla="*/ 2320662 h 6858000"/>
              <a:gd name="connsiteX44" fmla="*/ 605558 w 5734864"/>
              <a:gd name="connsiteY44" fmla="*/ 2327897 h 6858000"/>
              <a:gd name="connsiteX45" fmla="*/ 602202 w 5734864"/>
              <a:gd name="connsiteY45" fmla="*/ 2357749 h 6858000"/>
              <a:gd name="connsiteX46" fmla="*/ 600213 w 5734864"/>
              <a:gd name="connsiteY46" fmla="*/ 2364905 h 6858000"/>
              <a:gd name="connsiteX47" fmla="*/ 597160 w 5734864"/>
              <a:gd name="connsiteY47" fmla="*/ 2388351 h 6858000"/>
              <a:gd name="connsiteX48" fmla="*/ 597982 w 5734864"/>
              <a:gd name="connsiteY48" fmla="*/ 2402296 h 6858000"/>
              <a:gd name="connsiteX49" fmla="*/ 593150 w 5734864"/>
              <a:gd name="connsiteY49" fmla="*/ 2420015 h 6858000"/>
              <a:gd name="connsiteX50" fmla="*/ 592833 w 5734864"/>
              <a:gd name="connsiteY50" fmla="*/ 2422749 h 6858000"/>
              <a:gd name="connsiteX51" fmla="*/ 594479 w 5734864"/>
              <a:gd name="connsiteY51" fmla="*/ 2426002 h 6858000"/>
              <a:gd name="connsiteX52" fmla="*/ 591963 w 5734864"/>
              <a:gd name="connsiteY52" fmla="*/ 2431950 h 6858000"/>
              <a:gd name="connsiteX53" fmla="*/ 591544 w 5734864"/>
              <a:gd name="connsiteY53" fmla="*/ 2433897 h 6858000"/>
              <a:gd name="connsiteX54" fmla="*/ 589519 w 5734864"/>
              <a:gd name="connsiteY54" fmla="*/ 2451398 h 6858000"/>
              <a:gd name="connsiteX55" fmla="*/ 590037 w 5734864"/>
              <a:gd name="connsiteY55" fmla="*/ 2455536 h 6858000"/>
              <a:gd name="connsiteX56" fmla="*/ 588179 w 5734864"/>
              <a:gd name="connsiteY56" fmla="*/ 2462981 h 6858000"/>
              <a:gd name="connsiteX57" fmla="*/ 583434 w 5734864"/>
              <a:gd name="connsiteY57" fmla="*/ 2503991 h 6858000"/>
              <a:gd name="connsiteX58" fmla="*/ 567942 w 5734864"/>
              <a:gd name="connsiteY58" fmla="*/ 2652936 h 6858000"/>
              <a:gd name="connsiteX59" fmla="*/ 573869 w 5734864"/>
              <a:gd name="connsiteY59" fmla="*/ 2670188 h 6858000"/>
              <a:gd name="connsiteX60" fmla="*/ 575243 w 5734864"/>
              <a:gd name="connsiteY60" fmla="*/ 2688114 h 6858000"/>
              <a:gd name="connsiteX61" fmla="*/ 573824 w 5734864"/>
              <a:gd name="connsiteY61" fmla="*/ 2689856 h 6858000"/>
              <a:gd name="connsiteX62" fmla="*/ 570699 w 5734864"/>
              <a:gd name="connsiteY62" fmla="*/ 2709353 h 6858000"/>
              <a:gd name="connsiteX63" fmla="*/ 573192 w 5734864"/>
              <a:gd name="connsiteY63" fmla="*/ 2714527 h 6858000"/>
              <a:gd name="connsiteX64" fmla="*/ 572044 w 5734864"/>
              <a:gd name="connsiteY64" fmla="*/ 2728187 h 6858000"/>
              <a:gd name="connsiteX65" fmla="*/ 572465 w 5734864"/>
              <a:gd name="connsiteY65" fmla="*/ 2755863 h 6858000"/>
              <a:gd name="connsiteX66" fmla="*/ 570028 w 5734864"/>
              <a:gd name="connsiteY66" fmla="*/ 2760324 h 6858000"/>
              <a:gd name="connsiteX67" fmla="*/ 566748 w 5734864"/>
              <a:gd name="connsiteY67" fmla="*/ 2800948 h 6858000"/>
              <a:gd name="connsiteX68" fmla="*/ 565509 w 5734864"/>
              <a:gd name="connsiteY68" fmla="*/ 2801167 h 6858000"/>
              <a:gd name="connsiteX69" fmla="*/ 559367 w 5734864"/>
              <a:gd name="connsiteY69" fmla="*/ 2811129 h 6858000"/>
              <a:gd name="connsiteX70" fmla="*/ 550354 w 5734864"/>
              <a:gd name="connsiteY70" fmla="*/ 2830949 h 6858000"/>
              <a:gd name="connsiteX71" fmla="*/ 514795 w 5734864"/>
              <a:gd name="connsiteY71" fmla="*/ 2872433 h 6858000"/>
              <a:gd name="connsiteX72" fmla="*/ 509875 w 5734864"/>
              <a:gd name="connsiteY72" fmla="*/ 2923099 h 6858000"/>
              <a:gd name="connsiteX73" fmla="*/ 509577 w 5734864"/>
              <a:gd name="connsiteY73" fmla="*/ 2923197 h 6858000"/>
              <a:gd name="connsiteX74" fmla="*/ 507597 w 5734864"/>
              <a:gd name="connsiteY74" fmla="*/ 2931868 h 6858000"/>
              <a:gd name="connsiteX75" fmla="*/ 507379 w 5734864"/>
              <a:gd name="connsiteY75" fmla="*/ 2938322 h 6858000"/>
              <a:gd name="connsiteX76" fmla="*/ 504725 w 5734864"/>
              <a:gd name="connsiteY76" fmla="*/ 2954519 h 6858000"/>
              <a:gd name="connsiteX77" fmla="*/ 502018 w 5734864"/>
              <a:gd name="connsiteY77" fmla="*/ 2959643 h 6858000"/>
              <a:gd name="connsiteX78" fmla="*/ 498360 w 5734864"/>
              <a:gd name="connsiteY78" fmla="*/ 2961019 h 6858000"/>
              <a:gd name="connsiteX79" fmla="*/ 498483 w 5734864"/>
              <a:gd name="connsiteY79" fmla="*/ 2962590 h 6858000"/>
              <a:gd name="connsiteX80" fmla="*/ 484403 w 5734864"/>
              <a:gd name="connsiteY80" fmla="*/ 2990538 h 6858000"/>
              <a:gd name="connsiteX81" fmla="*/ 463075 w 5734864"/>
              <a:gd name="connsiteY81" fmla="*/ 3055956 h 6858000"/>
              <a:gd name="connsiteX82" fmla="*/ 455013 w 5734864"/>
              <a:gd name="connsiteY82" fmla="*/ 3094482 h 6858000"/>
              <a:gd name="connsiteX83" fmla="*/ 428391 w 5734864"/>
              <a:gd name="connsiteY83" fmla="*/ 3198850 h 6858000"/>
              <a:gd name="connsiteX84" fmla="*/ 401440 w 5734864"/>
              <a:gd name="connsiteY84" fmla="*/ 3307560 h 6858000"/>
              <a:gd name="connsiteX85" fmla="*/ 386076 w 5734864"/>
              <a:gd name="connsiteY85" fmla="*/ 3373943 h 6858000"/>
              <a:gd name="connsiteX86" fmla="*/ 374726 w 5734864"/>
              <a:gd name="connsiteY86" fmla="*/ 3381364 h 6858000"/>
              <a:gd name="connsiteX87" fmla="*/ 369145 w 5734864"/>
              <a:gd name="connsiteY87" fmla="*/ 3383729 h 6858000"/>
              <a:gd name="connsiteX88" fmla="*/ 364294 w 5734864"/>
              <a:gd name="connsiteY88" fmla="*/ 3414159 h 6858000"/>
              <a:gd name="connsiteX89" fmla="*/ 366450 w 5734864"/>
              <a:gd name="connsiteY89" fmla="*/ 3436925 h 6858000"/>
              <a:gd name="connsiteX90" fmla="*/ 351743 w 5734864"/>
              <a:gd name="connsiteY90" fmla="*/ 3521619 h 6858000"/>
              <a:gd name="connsiteX91" fmla="*/ 345784 w 5734864"/>
              <a:gd name="connsiteY91" fmla="*/ 3603757 h 6858000"/>
              <a:gd name="connsiteX92" fmla="*/ 344198 w 5734864"/>
              <a:gd name="connsiteY92" fmla="*/ 3652424 h 6858000"/>
              <a:gd name="connsiteX93" fmla="*/ 352450 w 5734864"/>
              <a:gd name="connsiteY93" fmla="*/ 3665222 h 6858000"/>
              <a:gd name="connsiteX94" fmla="*/ 342621 w 5734864"/>
              <a:gd name="connsiteY94" fmla="*/ 3700804 h 6858000"/>
              <a:gd name="connsiteX95" fmla="*/ 341514 w 5734864"/>
              <a:gd name="connsiteY95" fmla="*/ 3734774 h 6858000"/>
              <a:gd name="connsiteX96" fmla="*/ 340607 w 5734864"/>
              <a:gd name="connsiteY96" fmla="*/ 3785153 h 6858000"/>
              <a:gd name="connsiteX97" fmla="*/ 340707 w 5734864"/>
              <a:gd name="connsiteY97" fmla="*/ 3788177 h 6858000"/>
              <a:gd name="connsiteX98" fmla="*/ 340361 w 5734864"/>
              <a:gd name="connsiteY98" fmla="*/ 3798803 h 6858000"/>
              <a:gd name="connsiteX99" fmla="*/ 339642 w 5734864"/>
              <a:gd name="connsiteY99" fmla="*/ 3838750 h 6858000"/>
              <a:gd name="connsiteX100" fmla="*/ 360295 w 5734864"/>
              <a:gd name="connsiteY100" fmla="*/ 4015196 h 6858000"/>
              <a:gd name="connsiteX101" fmla="*/ 339043 w 5734864"/>
              <a:gd name="connsiteY101" fmla="*/ 4052778 h 6858000"/>
              <a:gd name="connsiteX102" fmla="*/ 339343 w 5734864"/>
              <a:gd name="connsiteY102" fmla="*/ 4096257 h 6858000"/>
              <a:gd name="connsiteX103" fmla="*/ 340786 w 5734864"/>
              <a:gd name="connsiteY103" fmla="*/ 4321136 h 6858000"/>
              <a:gd name="connsiteX104" fmla="*/ 343158 w 5734864"/>
              <a:gd name="connsiteY104" fmla="*/ 4429174 h 6858000"/>
              <a:gd name="connsiteX105" fmla="*/ 334599 w 5734864"/>
              <a:gd name="connsiteY105" fmla="*/ 4449938 h 6858000"/>
              <a:gd name="connsiteX106" fmla="*/ 332890 w 5734864"/>
              <a:gd name="connsiteY106" fmla="*/ 4453515 h 6858000"/>
              <a:gd name="connsiteX107" fmla="*/ 331105 w 5734864"/>
              <a:gd name="connsiteY107" fmla="*/ 4467941 h 6858000"/>
              <a:gd name="connsiteX108" fmla="*/ 324289 w 5734864"/>
              <a:gd name="connsiteY108" fmla="*/ 4471861 h 6858000"/>
              <a:gd name="connsiteX109" fmla="*/ 317079 w 5734864"/>
              <a:gd name="connsiteY109" fmla="*/ 4493468 h 6858000"/>
              <a:gd name="connsiteX110" fmla="*/ 315557 w 5734864"/>
              <a:gd name="connsiteY110" fmla="*/ 4520067 h 6858000"/>
              <a:gd name="connsiteX111" fmla="*/ 315240 w 5734864"/>
              <a:gd name="connsiteY111" fmla="*/ 4536872 h 6858000"/>
              <a:gd name="connsiteX112" fmla="*/ 316200 w 5734864"/>
              <a:gd name="connsiteY112" fmla="*/ 4538297 h 6858000"/>
              <a:gd name="connsiteX113" fmla="*/ 317507 w 5734864"/>
              <a:gd name="connsiteY113" fmla="*/ 4547582 h 6858000"/>
              <a:gd name="connsiteX114" fmla="*/ 323078 w 5734864"/>
              <a:gd name="connsiteY114" fmla="*/ 4592102 h 6858000"/>
              <a:gd name="connsiteX115" fmla="*/ 328722 w 5734864"/>
              <a:gd name="connsiteY115" fmla="*/ 4667914 h 6858000"/>
              <a:gd name="connsiteX116" fmla="*/ 335597 w 5734864"/>
              <a:gd name="connsiteY116" fmla="*/ 4695035 h 6858000"/>
              <a:gd name="connsiteX117" fmla="*/ 339485 w 5734864"/>
              <a:gd name="connsiteY117" fmla="*/ 4695979 h 6858000"/>
              <a:gd name="connsiteX118" fmla="*/ 341089 w 5734864"/>
              <a:gd name="connsiteY118" fmla="*/ 4704268 h 6858000"/>
              <a:gd name="connsiteX119" fmla="*/ 342177 w 5734864"/>
              <a:gd name="connsiteY119" fmla="*/ 4706060 h 6858000"/>
              <a:gd name="connsiteX120" fmla="*/ 347751 w 5734864"/>
              <a:gd name="connsiteY120" fmla="*/ 4716754 h 6858000"/>
              <a:gd name="connsiteX121" fmla="*/ 344125 w 5734864"/>
              <a:gd name="connsiteY121" fmla="*/ 4764669 h 6858000"/>
              <a:gd name="connsiteX122" fmla="*/ 340188 w 5734864"/>
              <a:gd name="connsiteY122" fmla="*/ 4779386 h 6858000"/>
              <a:gd name="connsiteX123" fmla="*/ 335146 w 5734864"/>
              <a:gd name="connsiteY123" fmla="*/ 4787491 h 6858000"/>
              <a:gd name="connsiteX124" fmla="*/ 319124 w 5734864"/>
              <a:gd name="connsiteY124" fmla="*/ 4843514 h 6858000"/>
              <a:gd name="connsiteX125" fmla="*/ 305956 w 5734864"/>
              <a:gd name="connsiteY125" fmla="*/ 4881505 h 6858000"/>
              <a:gd name="connsiteX126" fmla="*/ 301062 w 5734864"/>
              <a:gd name="connsiteY126" fmla="*/ 4889332 h 6858000"/>
              <a:gd name="connsiteX127" fmla="*/ 302141 w 5734864"/>
              <a:gd name="connsiteY127" fmla="*/ 4899400 h 6858000"/>
              <a:gd name="connsiteX128" fmla="*/ 304424 w 5734864"/>
              <a:gd name="connsiteY128" fmla="*/ 4902664 h 6858000"/>
              <a:gd name="connsiteX129" fmla="*/ 293123 w 5734864"/>
              <a:gd name="connsiteY129" fmla="*/ 4932769 h 6858000"/>
              <a:gd name="connsiteX130" fmla="*/ 292275 w 5734864"/>
              <a:gd name="connsiteY130" fmla="*/ 4936482 h 6858000"/>
              <a:gd name="connsiteX131" fmla="*/ 288304 w 5734864"/>
              <a:gd name="connsiteY131" fmla="*/ 4962325 h 6858000"/>
              <a:gd name="connsiteX132" fmla="*/ 287420 w 5734864"/>
              <a:gd name="connsiteY132" fmla="*/ 5042193 h 6858000"/>
              <a:gd name="connsiteX133" fmla="*/ 287020 w 5734864"/>
              <a:gd name="connsiteY133" fmla="*/ 5065655 h 6858000"/>
              <a:gd name="connsiteX134" fmla="*/ 288488 w 5734864"/>
              <a:gd name="connsiteY134" fmla="*/ 5082216 h 6858000"/>
              <a:gd name="connsiteX135" fmla="*/ 282763 w 5734864"/>
              <a:gd name="connsiteY135" fmla="*/ 5127114 h 6858000"/>
              <a:gd name="connsiteX136" fmla="*/ 269316 w 5734864"/>
              <a:gd name="connsiteY136" fmla="*/ 5202682 h 6858000"/>
              <a:gd name="connsiteX137" fmla="*/ 269174 w 5734864"/>
              <a:gd name="connsiteY137" fmla="*/ 5230835 h 6858000"/>
              <a:gd name="connsiteX138" fmla="*/ 272679 w 5734864"/>
              <a:gd name="connsiteY138" fmla="*/ 5232660 h 6858000"/>
              <a:gd name="connsiteX139" fmla="*/ 272160 w 5734864"/>
              <a:gd name="connsiteY139" fmla="*/ 5241150 h 6858000"/>
              <a:gd name="connsiteX140" fmla="*/ 272760 w 5734864"/>
              <a:gd name="connsiteY140" fmla="*/ 5243156 h 6858000"/>
              <a:gd name="connsiteX141" fmla="*/ 275462 w 5734864"/>
              <a:gd name="connsiteY141" fmla="*/ 5254919 h 6858000"/>
              <a:gd name="connsiteX142" fmla="*/ 262897 w 5734864"/>
              <a:gd name="connsiteY142" fmla="*/ 5286259 h 6858000"/>
              <a:gd name="connsiteX143" fmla="*/ 252761 w 5734864"/>
              <a:gd name="connsiteY143" fmla="*/ 5357801 h 6858000"/>
              <a:gd name="connsiteX144" fmla="*/ 242360 w 5734864"/>
              <a:gd name="connsiteY144" fmla="*/ 5460080 h 6858000"/>
              <a:gd name="connsiteX145" fmla="*/ 229880 w 5734864"/>
              <a:gd name="connsiteY145" fmla="*/ 5539714 h 6858000"/>
              <a:gd name="connsiteX146" fmla="*/ 204283 w 5734864"/>
              <a:gd name="connsiteY146" fmla="*/ 5639080 h 6858000"/>
              <a:gd name="connsiteX147" fmla="*/ 198948 w 5734864"/>
              <a:gd name="connsiteY147" fmla="*/ 5710958 h 6858000"/>
              <a:gd name="connsiteX148" fmla="*/ 192367 w 5734864"/>
              <a:gd name="connsiteY148" fmla="*/ 5719859 h 6858000"/>
              <a:gd name="connsiteX149" fmla="*/ 188035 w 5734864"/>
              <a:gd name="connsiteY149" fmla="*/ 5729935 h 6858000"/>
              <a:gd name="connsiteX150" fmla="*/ 188428 w 5734864"/>
              <a:gd name="connsiteY150" fmla="*/ 5731182 h 6858000"/>
              <a:gd name="connsiteX151" fmla="*/ 181635 w 5734864"/>
              <a:gd name="connsiteY151" fmla="*/ 5753538 h 6858000"/>
              <a:gd name="connsiteX152" fmla="*/ 169744 w 5734864"/>
              <a:gd name="connsiteY152" fmla="*/ 5796307 h 6858000"/>
              <a:gd name="connsiteX153" fmla="*/ 170351 w 5734864"/>
              <a:gd name="connsiteY153" fmla="*/ 5796644 h 6858000"/>
              <a:gd name="connsiteX154" fmla="*/ 171559 w 5734864"/>
              <a:gd name="connsiteY154" fmla="*/ 5803435 h 6858000"/>
              <a:gd name="connsiteX155" fmla="*/ 172284 w 5734864"/>
              <a:gd name="connsiteY155" fmla="*/ 5816391 h 6858000"/>
              <a:gd name="connsiteX156" fmla="*/ 182542 w 5734864"/>
              <a:gd name="connsiteY156" fmla="*/ 5846382 h 6858000"/>
              <a:gd name="connsiteX157" fmla="*/ 175877 w 5734864"/>
              <a:gd name="connsiteY157" fmla="*/ 5871336 h 6858000"/>
              <a:gd name="connsiteX158" fmla="*/ 174910 w 5734864"/>
              <a:gd name="connsiteY158" fmla="*/ 5876376 h 6858000"/>
              <a:gd name="connsiteX159" fmla="*/ 175047 w 5734864"/>
              <a:gd name="connsiteY159" fmla="*/ 5876483 h 6858000"/>
              <a:gd name="connsiteX160" fmla="*/ 174335 w 5734864"/>
              <a:gd name="connsiteY160" fmla="*/ 5881814 h 6858000"/>
              <a:gd name="connsiteX161" fmla="*/ 171273 w 5734864"/>
              <a:gd name="connsiteY161" fmla="*/ 5895339 h 6858000"/>
              <a:gd name="connsiteX162" fmla="*/ 171658 w 5734864"/>
              <a:gd name="connsiteY162" fmla="*/ 5898749 h 6858000"/>
              <a:gd name="connsiteX163" fmla="*/ 174658 w 5734864"/>
              <a:gd name="connsiteY163" fmla="*/ 5919558 h 6858000"/>
              <a:gd name="connsiteX164" fmla="*/ 169099 w 5734864"/>
              <a:gd name="connsiteY164" fmla="*/ 5984417 h 6858000"/>
              <a:gd name="connsiteX165" fmla="*/ 162007 w 5734864"/>
              <a:gd name="connsiteY165" fmla="*/ 6049043 h 6858000"/>
              <a:gd name="connsiteX166" fmla="*/ 156875 w 5734864"/>
              <a:gd name="connsiteY166" fmla="*/ 6114000 h 6858000"/>
              <a:gd name="connsiteX167" fmla="*/ 165441 w 5734864"/>
              <a:gd name="connsiteY167" fmla="*/ 6146938 h 6858000"/>
              <a:gd name="connsiteX168" fmla="*/ 165177 w 5734864"/>
              <a:gd name="connsiteY168" fmla="*/ 6150658 h 6858000"/>
              <a:gd name="connsiteX169" fmla="*/ 161772 w 5734864"/>
              <a:gd name="connsiteY169" fmla="*/ 6160011 h 6858000"/>
              <a:gd name="connsiteX170" fmla="*/ 160051 w 5734864"/>
              <a:gd name="connsiteY170" fmla="*/ 6163393 h 6858000"/>
              <a:gd name="connsiteX171" fmla="*/ 158473 w 5734864"/>
              <a:gd name="connsiteY171" fmla="*/ 6168628 h 6858000"/>
              <a:gd name="connsiteX172" fmla="*/ 158573 w 5734864"/>
              <a:gd name="connsiteY172" fmla="*/ 6168799 h 6858000"/>
              <a:gd name="connsiteX173" fmla="*/ 146463 w 5734864"/>
              <a:gd name="connsiteY173" fmla="*/ 6196671 h 6858000"/>
              <a:gd name="connsiteX174" fmla="*/ 150209 w 5734864"/>
              <a:gd name="connsiteY174" fmla="*/ 6232365 h 6858000"/>
              <a:gd name="connsiteX175" fmla="*/ 148544 w 5734864"/>
              <a:gd name="connsiteY175" fmla="*/ 6246162 h 6858000"/>
              <a:gd name="connsiteX176" fmla="*/ 148403 w 5734864"/>
              <a:gd name="connsiteY176" fmla="*/ 6253754 h 6858000"/>
              <a:gd name="connsiteX177" fmla="*/ 138880 w 5734864"/>
              <a:gd name="connsiteY177" fmla="*/ 6276449 h 6858000"/>
              <a:gd name="connsiteX178" fmla="*/ 138683 w 5734864"/>
              <a:gd name="connsiteY178" fmla="*/ 6279721 h 6858000"/>
              <a:gd name="connsiteX179" fmla="*/ 130721 w 5734864"/>
              <a:gd name="connsiteY179" fmla="*/ 6293675 h 6858000"/>
              <a:gd name="connsiteX180" fmla="*/ 120717 w 5734864"/>
              <a:gd name="connsiteY180" fmla="*/ 6313967 h 6858000"/>
              <a:gd name="connsiteX181" fmla="*/ 120841 w 5734864"/>
              <a:gd name="connsiteY181" fmla="*/ 6315437 h 6858000"/>
              <a:gd name="connsiteX182" fmla="*/ 115208 w 5734864"/>
              <a:gd name="connsiteY182" fmla="*/ 6324024 h 6858000"/>
              <a:gd name="connsiteX183" fmla="*/ 101217 w 5734864"/>
              <a:gd name="connsiteY183" fmla="*/ 6365923 h 6858000"/>
              <a:gd name="connsiteX184" fmla="*/ 74946 w 5734864"/>
              <a:gd name="connsiteY184" fmla="*/ 6556817 h 6858000"/>
              <a:gd name="connsiteX185" fmla="*/ 16001 w 5734864"/>
              <a:gd name="connsiteY185" fmla="*/ 6808678 h 6858000"/>
              <a:gd name="connsiteX186" fmla="*/ 0 w 5734864"/>
              <a:gd name="connsiteY186" fmla="*/ 6858000 h 6858000"/>
              <a:gd name="connsiteX187" fmla="*/ 5734864 w 5734864"/>
              <a:gd name="connsiteY187" fmla="*/ 6858000 h 6858000"/>
              <a:gd name="connsiteX188" fmla="*/ 5734864 w 5734864"/>
              <a:gd name="connsiteY188" fmla="*/ 0 h 6858000"/>
              <a:gd name="connsiteX0" fmla="*/ 5734864 w 5734864"/>
              <a:gd name="connsiteY0" fmla="*/ 0 h 6858000"/>
              <a:gd name="connsiteX1" fmla="*/ 771611 w 5734864"/>
              <a:gd name="connsiteY1" fmla="*/ 0 h 6858000"/>
              <a:gd name="connsiteX2" fmla="*/ 771679 w 5734864"/>
              <a:gd name="connsiteY2" fmla="*/ 49108 h 6858000"/>
              <a:gd name="connsiteX3" fmla="*/ 794248 w 5734864"/>
              <a:gd name="connsiteY3" fmla="*/ 200968 h 6858000"/>
              <a:gd name="connsiteX4" fmla="*/ 801749 w 5734864"/>
              <a:gd name="connsiteY4" fmla="*/ 414071 h 6858000"/>
              <a:gd name="connsiteX5" fmla="*/ 818548 w 5734864"/>
              <a:gd name="connsiteY5" fmla="*/ 585467 h 6858000"/>
              <a:gd name="connsiteX6" fmla="*/ 857476 w 5734864"/>
              <a:gd name="connsiteY6" fmla="*/ 800623 h 6858000"/>
              <a:gd name="connsiteX7" fmla="*/ 851083 w 5734864"/>
              <a:gd name="connsiteY7" fmla="*/ 878903 h 6858000"/>
              <a:gd name="connsiteX8" fmla="*/ 873564 w 5734864"/>
              <a:gd name="connsiteY8" fmla="*/ 943826 h 6858000"/>
              <a:gd name="connsiteX9" fmla="*/ 864705 w 5734864"/>
              <a:gd name="connsiteY9" fmla="*/ 973328 h 6858000"/>
              <a:gd name="connsiteX10" fmla="*/ 862869 w 5734864"/>
              <a:gd name="connsiteY10" fmla="*/ 978457 h 6858000"/>
              <a:gd name="connsiteX11" fmla="*/ 862233 w 5734864"/>
              <a:gd name="connsiteY11" fmla="*/ 998041 h 6858000"/>
              <a:gd name="connsiteX12" fmla="*/ 853665 w 5734864"/>
              <a:gd name="connsiteY12" fmla="*/ 1004750 h 6858000"/>
              <a:gd name="connsiteX13" fmla="*/ 847865 w 5734864"/>
              <a:gd name="connsiteY13" fmla="*/ 1070795 h 6858000"/>
              <a:gd name="connsiteX14" fmla="*/ 862786 w 5734864"/>
              <a:gd name="connsiteY14" fmla="*/ 1238994 h 6858000"/>
              <a:gd name="connsiteX15" fmla="*/ 859345 w 5734864"/>
              <a:gd name="connsiteY15" fmla="*/ 1380427 h 6858000"/>
              <a:gd name="connsiteX16" fmla="*/ 855172 w 5734864"/>
              <a:gd name="connsiteY16" fmla="*/ 1435262 h 6858000"/>
              <a:gd name="connsiteX17" fmla="*/ 860494 w 5734864"/>
              <a:gd name="connsiteY17" fmla="*/ 1453861 h 6858000"/>
              <a:gd name="connsiteX18" fmla="*/ 853731 w 5734864"/>
              <a:gd name="connsiteY18" fmla="*/ 1467047 h 6858000"/>
              <a:gd name="connsiteX19" fmla="*/ 845847 w 5734864"/>
              <a:gd name="connsiteY19" fmla="*/ 1502307 h 6858000"/>
              <a:gd name="connsiteX20" fmla="*/ 817613 w 5734864"/>
              <a:gd name="connsiteY20" fmla="*/ 1565166 h 6858000"/>
              <a:gd name="connsiteX21" fmla="*/ 804223 w 5734864"/>
              <a:gd name="connsiteY21" fmla="*/ 1601941 h 6858000"/>
              <a:gd name="connsiteX22" fmla="*/ 791773 w 5734864"/>
              <a:gd name="connsiteY22" fmla="*/ 1627005 h 6858000"/>
              <a:gd name="connsiteX23" fmla="*/ 774645 w 5734864"/>
              <a:gd name="connsiteY23" fmla="*/ 1699922 h 6858000"/>
              <a:gd name="connsiteX24" fmla="*/ 752343 w 5734864"/>
              <a:gd name="connsiteY24" fmla="*/ 1824604 h 6858000"/>
              <a:gd name="connsiteX25" fmla="*/ 746254 w 5734864"/>
              <a:gd name="connsiteY25" fmla="*/ 1850222 h 6858000"/>
              <a:gd name="connsiteX26" fmla="*/ 728600 w 5734864"/>
              <a:gd name="connsiteY26" fmla="*/ 1869603 h 6858000"/>
              <a:gd name="connsiteX27" fmla="*/ 724396 w 5734864"/>
              <a:gd name="connsiteY27" fmla="*/ 1883104 h 6858000"/>
              <a:gd name="connsiteX28" fmla="*/ 722165 w 5734864"/>
              <a:gd name="connsiteY28" fmla="*/ 1885924 h 6858000"/>
              <a:gd name="connsiteX29" fmla="*/ 721338 w 5734864"/>
              <a:gd name="connsiteY29" fmla="*/ 1887123 h 6858000"/>
              <a:gd name="connsiteX30" fmla="*/ 714840 w 5734864"/>
              <a:gd name="connsiteY30" fmla="*/ 1902274 h 6858000"/>
              <a:gd name="connsiteX31" fmla="*/ 722847 w 5734864"/>
              <a:gd name="connsiteY31" fmla="*/ 1929891 h 6858000"/>
              <a:gd name="connsiteX32" fmla="*/ 714660 w 5734864"/>
              <a:gd name="connsiteY32" fmla="*/ 1982709 h 6858000"/>
              <a:gd name="connsiteX33" fmla="*/ 710759 w 5734864"/>
              <a:gd name="connsiteY33" fmla="*/ 2013010 h 6858000"/>
              <a:gd name="connsiteX34" fmla="*/ 697927 w 5734864"/>
              <a:gd name="connsiteY34" fmla="*/ 2069833 h 6858000"/>
              <a:gd name="connsiteX35" fmla="*/ 693594 w 5734864"/>
              <a:gd name="connsiteY35" fmla="*/ 2103731 h 6858000"/>
              <a:gd name="connsiteX36" fmla="*/ 691109 w 5734864"/>
              <a:gd name="connsiteY36" fmla="*/ 2124027 h 6858000"/>
              <a:gd name="connsiteX37" fmla="*/ 676593 w 5734864"/>
              <a:gd name="connsiteY37" fmla="*/ 2176182 h 6858000"/>
              <a:gd name="connsiteX38" fmla="*/ 633227 w 5734864"/>
              <a:gd name="connsiteY38" fmla="*/ 2258036 h 6858000"/>
              <a:gd name="connsiteX39" fmla="*/ 625564 w 5734864"/>
              <a:gd name="connsiteY39" fmla="*/ 2284567 h 6858000"/>
              <a:gd name="connsiteX40" fmla="*/ 627074 w 5734864"/>
              <a:gd name="connsiteY40" fmla="*/ 2289605 h 6858000"/>
              <a:gd name="connsiteX41" fmla="*/ 614574 w 5734864"/>
              <a:gd name="connsiteY41" fmla="*/ 2308717 h 6858000"/>
              <a:gd name="connsiteX42" fmla="*/ 606890 w 5734864"/>
              <a:gd name="connsiteY42" fmla="*/ 2320662 h 6858000"/>
              <a:gd name="connsiteX43" fmla="*/ 605558 w 5734864"/>
              <a:gd name="connsiteY43" fmla="*/ 2327897 h 6858000"/>
              <a:gd name="connsiteX44" fmla="*/ 602202 w 5734864"/>
              <a:gd name="connsiteY44" fmla="*/ 2357749 h 6858000"/>
              <a:gd name="connsiteX45" fmla="*/ 600213 w 5734864"/>
              <a:gd name="connsiteY45" fmla="*/ 2364905 h 6858000"/>
              <a:gd name="connsiteX46" fmla="*/ 597160 w 5734864"/>
              <a:gd name="connsiteY46" fmla="*/ 2388351 h 6858000"/>
              <a:gd name="connsiteX47" fmla="*/ 597982 w 5734864"/>
              <a:gd name="connsiteY47" fmla="*/ 2402296 h 6858000"/>
              <a:gd name="connsiteX48" fmla="*/ 593150 w 5734864"/>
              <a:gd name="connsiteY48" fmla="*/ 2420015 h 6858000"/>
              <a:gd name="connsiteX49" fmla="*/ 592833 w 5734864"/>
              <a:gd name="connsiteY49" fmla="*/ 2422749 h 6858000"/>
              <a:gd name="connsiteX50" fmla="*/ 594479 w 5734864"/>
              <a:gd name="connsiteY50" fmla="*/ 2426002 h 6858000"/>
              <a:gd name="connsiteX51" fmla="*/ 591963 w 5734864"/>
              <a:gd name="connsiteY51" fmla="*/ 2431950 h 6858000"/>
              <a:gd name="connsiteX52" fmla="*/ 591544 w 5734864"/>
              <a:gd name="connsiteY52" fmla="*/ 2433897 h 6858000"/>
              <a:gd name="connsiteX53" fmla="*/ 589519 w 5734864"/>
              <a:gd name="connsiteY53" fmla="*/ 2451398 h 6858000"/>
              <a:gd name="connsiteX54" fmla="*/ 590037 w 5734864"/>
              <a:gd name="connsiteY54" fmla="*/ 2455536 h 6858000"/>
              <a:gd name="connsiteX55" fmla="*/ 588179 w 5734864"/>
              <a:gd name="connsiteY55" fmla="*/ 2462981 h 6858000"/>
              <a:gd name="connsiteX56" fmla="*/ 583434 w 5734864"/>
              <a:gd name="connsiteY56" fmla="*/ 2503991 h 6858000"/>
              <a:gd name="connsiteX57" fmla="*/ 567942 w 5734864"/>
              <a:gd name="connsiteY57" fmla="*/ 2652936 h 6858000"/>
              <a:gd name="connsiteX58" fmla="*/ 573869 w 5734864"/>
              <a:gd name="connsiteY58" fmla="*/ 2670188 h 6858000"/>
              <a:gd name="connsiteX59" fmla="*/ 575243 w 5734864"/>
              <a:gd name="connsiteY59" fmla="*/ 2688114 h 6858000"/>
              <a:gd name="connsiteX60" fmla="*/ 573824 w 5734864"/>
              <a:gd name="connsiteY60" fmla="*/ 2689856 h 6858000"/>
              <a:gd name="connsiteX61" fmla="*/ 570699 w 5734864"/>
              <a:gd name="connsiteY61" fmla="*/ 2709353 h 6858000"/>
              <a:gd name="connsiteX62" fmla="*/ 573192 w 5734864"/>
              <a:gd name="connsiteY62" fmla="*/ 2714527 h 6858000"/>
              <a:gd name="connsiteX63" fmla="*/ 572044 w 5734864"/>
              <a:gd name="connsiteY63" fmla="*/ 2728187 h 6858000"/>
              <a:gd name="connsiteX64" fmla="*/ 572465 w 5734864"/>
              <a:gd name="connsiteY64" fmla="*/ 2755863 h 6858000"/>
              <a:gd name="connsiteX65" fmla="*/ 570028 w 5734864"/>
              <a:gd name="connsiteY65" fmla="*/ 2760324 h 6858000"/>
              <a:gd name="connsiteX66" fmla="*/ 566748 w 5734864"/>
              <a:gd name="connsiteY66" fmla="*/ 2800948 h 6858000"/>
              <a:gd name="connsiteX67" fmla="*/ 565509 w 5734864"/>
              <a:gd name="connsiteY67" fmla="*/ 2801167 h 6858000"/>
              <a:gd name="connsiteX68" fmla="*/ 559367 w 5734864"/>
              <a:gd name="connsiteY68" fmla="*/ 2811129 h 6858000"/>
              <a:gd name="connsiteX69" fmla="*/ 550354 w 5734864"/>
              <a:gd name="connsiteY69" fmla="*/ 2830949 h 6858000"/>
              <a:gd name="connsiteX70" fmla="*/ 514795 w 5734864"/>
              <a:gd name="connsiteY70" fmla="*/ 2872433 h 6858000"/>
              <a:gd name="connsiteX71" fmla="*/ 509875 w 5734864"/>
              <a:gd name="connsiteY71" fmla="*/ 2923099 h 6858000"/>
              <a:gd name="connsiteX72" fmla="*/ 509577 w 5734864"/>
              <a:gd name="connsiteY72" fmla="*/ 2923197 h 6858000"/>
              <a:gd name="connsiteX73" fmla="*/ 507597 w 5734864"/>
              <a:gd name="connsiteY73" fmla="*/ 2931868 h 6858000"/>
              <a:gd name="connsiteX74" fmla="*/ 507379 w 5734864"/>
              <a:gd name="connsiteY74" fmla="*/ 2938322 h 6858000"/>
              <a:gd name="connsiteX75" fmla="*/ 504725 w 5734864"/>
              <a:gd name="connsiteY75" fmla="*/ 2954519 h 6858000"/>
              <a:gd name="connsiteX76" fmla="*/ 502018 w 5734864"/>
              <a:gd name="connsiteY76" fmla="*/ 2959643 h 6858000"/>
              <a:gd name="connsiteX77" fmla="*/ 498360 w 5734864"/>
              <a:gd name="connsiteY77" fmla="*/ 2961019 h 6858000"/>
              <a:gd name="connsiteX78" fmla="*/ 498483 w 5734864"/>
              <a:gd name="connsiteY78" fmla="*/ 2962590 h 6858000"/>
              <a:gd name="connsiteX79" fmla="*/ 484403 w 5734864"/>
              <a:gd name="connsiteY79" fmla="*/ 2990538 h 6858000"/>
              <a:gd name="connsiteX80" fmla="*/ 463075 w 5734864"/>
              <a:gd name="connsiteY80" fmla="*/ 3055956 h 6858000"/>
              <a:gd name="connsiteX81" fmla="*/ 455013 w 5734864"/>
              <a:gd name="connsiteY81" fmla="*/ 3094482 h 6858000"/>
              <a:gd name="connsiteX82" fmla="*/ 428391 w 5734864"/>
              <a:gd name="connsiteY82" fmla="*/ 3198850 h 6858000"/>
              <a:gd name="connsiteX83" fmla="*/ 401440 w 5734864"/>
              <a:gd name="connsiteY83" fmla="*/ 3307560 h 6858000"/>
              <a:gd name="connsiteX84" fmla="*/ 386076 w 5734864"/>
              <a:gd name="connsiteY84" fmla="*/ 3373943 h 6858000"/>
              <a:gd name="connsiteX85" fmla="*/ 374726 w 5734864"/>
              <a:gd name="connsiteY85" fmla="*/ 3381364 h 6858000"/>
              <a:gd name="connsiteX86" fmla="*/ 369145 w 5734864"/>
              <a:gd name="connsiteY86" fmla="*/ 3383729 h 6858000"/>
              <a:gd name="connsiteX87" fmla="*/ 364294 w 5734864"/>
              <a:gd name="connsiteY87" fmla="*/ 3414159 h 6858000"/>
              <a:gd name="connsiteX88" fmla="*/ 366450 w 5734864"/>
              <a:gd name="connsiteY88" fmla="*/ 3436925 h 6858000"/>
              <a:gd name="connsiteX89" fmla="*/ 351743 w 5734864"/>
              <a:gd name="connsiteY89" fmla="*/ 3521619 h 6858000"/>
              <a:gd name="connsiteX90" fmla="*/ 345784 w 5734864"/>
              <a:gd name="connsiteY90" fmla="*/ 3603757 h 6858000"/>
              <a:gd name="connsiteX91" fmla="*/ 344198 w 5734864"/>
              <a:gd name="connsiteY91" fmla="*/ 3652424 h 6858000"/>
              <a:gd name="connsiteX92" fmla="*/ 352450 w 5734864"/>
              <a:gd name="connsiteY92" fmla="*/ 3665222 h 6858000"/>
              <a:gd name="connsiteX93" fmla="*/ 342621 w 5734864"/>
              <a:gd name="connsiteY93" fmla="*/ 3700804 h 6858000"/>
              <a:gd name="connsiteX94" fmla="*/ 341514 w 5734864"/>
              <a:gd name="connsiteY94" fmla="*/ 3734774 h 6858000"/>
              <a:gd name="connsiteX95" fmla="*/ 340607 w 5734864"/>
              <a:gd name="connsiteY95" fmla="*/ 3785153 h 6858000"/>
              <a:gd name="connsiteX96" fmla="*/ 340707 w 5734864"/>
              <a:gd name="connsiteY96" fmla="*/ 3788177 h 6858000"/>
              <a:gd name="connsiteX97" fmla="*/ 340361 w 5734864"/>
              <a:gd name="connsiteY97" fmla="*/ 3798803 h 6858000"/>
              <a:gd name="connsiteX98" fmla="*/ 339642 w 5734864"/>
              <a:gd name="connsiteY98" fmla="*/ 3838750 h 6858000"/>
              <a:gd name="connsiteX99" fmla="*/ 360295 w 5734864"/>
              <a:gd name="connsiteY99" fmla="*/ 4015196 h 6858000"/>
              <a:gd name="connsiteX100" fmla="*/ 339043 w 5734864"/>
              <a:gd name="connsiteY100" fmla="*/ 4052778 h 6858000"/>
              <a:gd name="connsiteX101" fmla="*/ 339343 w 5734864"/>
              <a:gd name="connsiteY101" fmla="*/ 4096257 h 6858000"/>
              <a:gd name="connsiteX102" fmla="*/ 340786 w 5734864"/>
              <a:gd name="connsiteY102" fmla="*/ 4321136 h 6858000"/>
              <a:gd name="connsiteX103" fmla="*/ 343158 w 5734864"/>
              <a:gd name="connsiteY103" fmla="*/ 4429174 h 6858000"/>
              <a:gd name="connsiteX104" fmla="*/ 334599 w 5734864"/>
              <a:gd name="connsiteY104" fmla="*/ 4449938 h 6858000"/>
              <a:gd name="connsiteX105" fmla="*/ 332890 w 5734864"/>
              <a:gd name="connsiteY105" fmla="*/ 4453515 h 6858000"/>
              <a:gd name="connsiteX106" fmla="*/ 331105 w 5734864"/>
              <a:gd name="connsiteY106" fmla="*/ 4467941 h 6858000"/>
              <a:gd name="connsiteX107" fmla="*/ 324289 w 5734864"/>
              <a:gd name="connsiteY107" fmla="*/ 4471861 h 6858000"/>
              <a:gd name="connsiteX108" fmla="*/ 317079 w 5734864"/>
              <a:gd name="connsiteY108" fmla="*/ 4493468 h 6858000"/>
              <a:gd name="connsiteX109" fmla="*/ 315557 w 5734864"/>
              <a:gd name="connsiteY109" fmla="*/ 4520067 h 6858000"/>
              <a:gd name="connsiteX110" fmla="*/ 315240 w 5734864"/>
              <a:gd name="connsiteY110" fmla="*/ 4536872 h 6858000"/>
              <a:gd name="connsiteX111" fmla="*/ 316200 w 5734864"/>
              <a:gd name="connsiteY111" fmla="*/ 4538297 h 6858000"/>
              <a:gd name="connsiteX112" fmla="*/ 317507 w 5734864"/>
              <a:gd name="connsiteY112" fmla="*/ 4547582 h 6858000"/>
              <a:gd name="connsiteX113" fmla="*/ 323078 w 5734864"/>
              <a:gd name="connsiteY113" fmla="*/ 4592102 h 6858000"/>
              <a:gd name="connsiteX114" fmla="*/ 328722 w 5734864"/>
              <a:gd name="connsiteY114" fmla="*/ 4667914 h 6858000"/>
              <a:gd name="connsiteX115" fmla="*/ 335597 w 5734864"/>
              <a:gd name="connsiteY115" fmla="*/ 4695035 h 6858000"/>
              <a:gd name="connsiteX116" fmla="*/ 339485 w 5734864"/>
              <a:gd name="connsiteY116" fmla="*/ 4695979 h 6858000"/>
              <a:gd name="connsiteX117" fmla="*/ 341089 w 5734864"/>
              <a:gd name="connsiteY117" fmla="*/ 4704268 h 6858000"/>
              <a:gd name="connsiteX118" fmla="*/ 342177 w 5734864"/>
              <a:gd name="connsiteY118" fmla="*/ 4706060 h 6858000"/>
              <a:gd name="connsiteX119" fmla="*/ 347751 w 5734864"/>
              <a:gd name="connsiteY119" fmla="*/ 4716754 h 6858000"/>
              <a:gd name="connsiteX120" fmla="*/ 344125 w 5734864"/>
              <a:gd name="connsiteY120" fmla="*/ 4764669 h 6858000"/>
              <a:gd name="connsiteX121" fmla="*/ 340188 w 5734864"/>
              <a:gd name="connsiteY121" fmla="*/ 4779386 h 6858000"/>
              <a:gd name="connsiteX122" fmla="*/ 335146 w 5734864"/>
              <a:gd name="connsiteY122" fmla="*/ 4787491 h 6858000"/>
              <a:gd name="connsiteX123" fmla="*/ 319124 w 5734864"/>
              <a:gd name="connsiteY123" fmla="*/ 4843514 h 6858000"/>
              <a:gd name="connsiteX124" fmla="*/ 305956 w 5734864"/>
              <a:gd name="connsiteY124" fmla="*/ 4881505 h 6858000"/>
              <a:gd name="connsiteX125" fmla="*/ 301062 w 5734864"/>
              <a:gd name="connsiteY125" fmla="*/ 4889332 h 6858000"/>
              <a:gd name="connsiteX126" fmla="*/ 302141 w 5734864"/>
              <a:gd name="connsiteY126" fmla="*/ 4899400 h 6858000"/>
              <a:gd name="connsiteX127" fmla="*/ 304424 w 5734864"/>
              <a:gd name="connsiteY127" fmla="*/ 4902664 h 6858000"/>
              <a:gd name="connsiteX128" fmla="*/ 293123 w 5734864"/>
              <a:gd name="connsiteY128" fmla="*/ 4932769 h 6858000"/>
              <a:gd name="connsiteX129" fmla="*/ 292275 w 5734864"/>
              <a:gd name="connsiteY129" fmla="*/ 4936482 h 6858000"/>
              <a:gd name="connsiteX130" fmla="*/ 288304 w 5734864"/>
              <a:gd name="connsiteY130" fmla="*/ 4962325 h 6858000"/>
              <a:gd name="connsiteX131" fmla="*/ 287420 w 5734864"/>
              <a:gd name="connsiteY131" fmla="*/ 5042193 h 6858000"/>
              <a:gd name="connsiteX132" fmla="*/ 287020 w 5734864"/>
              <a:gd name="connsiteY132" fmla="*/ 5065655 h 6858000"/>
              <a:gd name="connsiteX133" fmla="*/ 288488 w 5734864"/>
              <a:gd name="connsiteY133" fmla="*/ 5082216 h 6858000"/>
              <a:gd name="connsiteX134" fmla="*/ 282763 w 5734864"/>
              <a:gd name="connsiteY134" fmla="*/ 5127114 h 6858000"/>
              <a:gd name="connsiteX135" fmla="*/ 269316 w 5734864"/>
              <a:gd name="connsiteY135" fmla="*/ 5202682 h 6858000"/>
              <a:gd name="connsiteX136" fmla="*/ 269174 w 5734864"/>
              <a:gd name="connsiteY136" fmla="*/ 5230835 h 6858000"/>
              <a:gd name="connsiteX137" fmla="*/ 272679 w 5734864"/>
              <a:gd name="connsiteY137" fmla="*/ 5232660 h 6858000"/>
              <a:gd name="connsiteX138" fmla="*/ 272160 w 5734864"/>
              <a:gd name="connsiteY138" fmla="*/ 5241150 h 6858000"/>
              <a:gd name="connsiteX139" fmla="*/ 272760 w 5734864"/>
              <a:gd name="connsiteY139" fmla="*/ 5243156 h 6858000"/>
              <a:gd name="connsiteX140" fmla="*/ 275462 w 5734864"/>
              <a:gd name="connsiteY140" fmla="*/ 5254919 h 6858000"/>
              <a:gd name="connsiteX141" fmla="*/ 262897 w 5734864"/>
              <a:gd name="connsiteY141" fmla="*/ 5286259 h 6858000"/>
              <a:gd name="connsiteX142" fmla="*/ 252761 w 5734864"/>
              <a:gd name="connsiteY142" fmla="*/ 5357801 h 6858000"/>
              <a:gd name="connsiteX143" fmla="*/ 242360 w 5734864"/>
              <a:gd name="connsiteY143" fmla="*/ 5460080 h 6858000"/>
              <a:gd name="connsiteX144" fmla="*/ 229880 w 5734864"/>
              <a:gd name="connsiteY144" fmla="*/ 5539714 h 6858000"/>
              <a:gd name="connsiteX145" fmla="*/ 204283 w 5734864"/>
              <a:gd name="connsiteY145" fmla="*/ 5639080 h 6858000"/>
              <a:gd name="connsiteX146" fmla="*/ 198948 w 5734864"/>
              <a:gd name="connsiteY146" fmla="*/ 5710958 h 6858000"/>
              <a:gd name="connsiteX147" fmla="*/ 192367 w 5734864"/>
              <a:gd name="connsiteY147" fmla="*/ 5719859 h 6858000"/>
              <a:gd name="connsiteX148" fmla="*/ 188035 w 5734864"/>
              <a:gd name="connsiteY148" fmla="*/ 5729935 h 6858000"/>
              <a:gd name="connsiteX149" fmla="*/ 188428 w 5734864"/>
              <a:gd name="connsiteY149" fmla="*/ 5731182 h 6858000"/>
              <a:gd name="connsiteX150" fmla="*/ 181635 w 5734864"/>
              <a:gd name="connsiteY150" fmla="*/ 5753538 h 6858000"/>
              <a:gd name="connsiteX151" fmla="*/ 169744 w 5734864"/>
              <a:gd name="connsiteY151" fmla="*/ 5796307 h 6858000"/>
              <a:gd name="connsiteX152" fmla="*/ 170351 w 5734864"/>
              <a:gd name="connsiteY152" fmla="*/ 5796644 h 6858000"/>
              <a:gd name="connsiteX153" fmla="*/ 171559 w 5734864"/>
              <a:gd name="connsiteY153" fmla="*/ 5803435 h 6858000"/>
              <a:gd name="connsiteX154" fmla="*/ 172284 w 5734864"/>
              <a:gd name="connsiteY154" fmla="*/ 5816391 h 6858000"/>
              <a:gd name="connsiteX155" fmla="*/ 182542 w 5734864"/>
              <a:gd name="connsiteY155" fmla="*/ 5846382 h 6858000"/>
              <a:gd name="connsiteX156" fmla="*/ 175877 w 5734864"/>
              <a:gd name="connsiteY156" fmla="*/ 5871336 h 6858000"/>
              <a:gd name="connsiteX157" fmla="*/ 174910 w 5734864"/>
              <a:gd name="connsiteY157" fmla="*/ 5876376 h 6858000"/>
              <a:gd name="connsiteX158" fmla="*/ 175047 w 5734864"/>
              <a:gd name="connsiteY158" fmla="*/ 5876483 h 6858000"/>
              <a:gd name="connsiteX159" fmla="*/ 174335 w 5734864"/>
              <a:gd name="connsiteY159" fmla="*/ 5881814 h 6858000"/>
              <a:gd name="connsiteX160" fmla="*/ 171273 w 5734864"/>
              <a:gd name="connsiteY160" fmla="*/ 5895339 h 6858000"/>
              <a:gd name="connsiteX161" fmla="*/ 171658 w 5734864"/>
              <a:gd name="connsiteY161" fmla="*/ 5898749 h 6858000"/>
              <a:gd name="connsiteX162" fmla="*/ 174658 w 5734864"/>
              <a:gd name="connsiteY162" fmla="*/ 5919558 h 6858000"/>
              <a:gd name="connsiteX163" fmla="*/ 169099 w 5734864"/>
              <a:gd name="connsiteY163" fmla="*/ 5984417 h 6858000"/>
              <a:gd name="connsiteX164" fmla="*/ 162007 w 5734864"/>
              <a:gd name="connsiteY164" fmla="*/ 6049043 h 6858000"/>
              <a:gd name="connsiteX165" fmla="*/ 156875 w 5734864"/>
              <a:gd name="connsiteY165" fmla="*/ 6114000 h 6858000"/>
              <a:gd name="connsiteX166" fmla="*/ 165441 w 5734864"/>
              <a:gd name="connsiteY166" fmla="*/ 6146938 h 6858000"/>
              <a:gd name="connsiteX167" fmla="*/ 165177 w 5734864"/>
              <a:gd name="connsiteY167" fmla="*/ 6150658 h 6858000"/>
              <a:gd name="connsiteX168" fmla="*/ 161772 w 5734864"/>
              <a:gd name="connsiteY168" fmla="*/ 6160011 h 6858000"/>
              <a:gd name="connsiteX169" fmla="*/ 160051 w 5734864"/>
              <a:gd name="connsiteY169" fmla="*/ 6163393 h 6858000"/>
              <a:gd name="connsiteX170" fmla="*/ 158473 w 5734864"/>
              <a:gd name="connsiteY170" fmla="*/ 6168628 h 6858000"/>
              <a:gd name="connsiteX171" fmla="*/ 158573 w 5734864"/>
              <a:gd name="connsiteY171" fmla="*/ 6168799 h 6858000"/>
              <a:gd name="connsiteX172" fmla="*/ 146463 w 5734864"/>
              <a:gd name="connsiteY172" fmla="*/ 6196671 h 6858000"/>
              <a:gd name="connsiteX173" fmla="*/ 150209 w 5734864"/>
              <a:gd name="connsiteY173" fmla="*/ 6232365 h 6858000"/>
              <a:gd name="connsiteX174" fmla="*/ 148544 w 5734864"/>
              <a:gd name="connsiteY174" fmla="*/ 6246162 h 6858000"/>
              <a:gd name="connsiteX175" fmla="*/ 148403 w 5734864"/>
              <a:gd name="connsiteY175" fmla="*/ 6253754 h 6858000"/>
              <a:gd name="connsiteX176" fmla="*/ 138880 w 5734864"/>
              <a:gd name="connsiteY176" fmla="*/ 6276449 h 6858000"/>
              <a:gd name="connsiteX177" fmla="*/ 138683 w 5734864"/>
              <a:gd name="connsiteY177" fmla="*/ 6279721 h 6858000"/>
              <a:gd name="connsiteX178" fmla="*/ 130721 w 5734864"/>
              <a:gd name="connsiteY178" fmla="*/ 6293675 h 6858000"/>
              <a:gd name="connsiteX179" fmla="*/ 120717 w 5734864"/>
              <a:gd name="connsiteY179" fmla="*/ 6313967 h 6858000"/>
              <a:gd name="connsiteX180" fmla="*/ 120841 w 5734864"/>
              <a:gd name="connsiteY180" fmla="*/ 6315437 h 6858000"/>
              <a:gd name="connsiteX181" fmla="*/ 115208 w 5734864"/>
              <a:gd name="connsiteY181" fmla="*/ 6324024 h 6858000"/>
              <a:gd name="connsiteX182" fmla="*/ 101217 w 5734864"/>
              <a:gd name="connsiteY182" fmla="*/ 6365923 h 6858000"/>
              <a:gd name="connsiteX183" fmla="*/ 74946 w 5734864"/>
              <a:gd name="connsiteY183" fmla="*/ 6556817 h 6858000"/>
              <a:gd name="connsiteX184" fmla="*/ 16001 w 5734864"/>
              <a:gd name="connsiteY184" fmla="*/ 6808678 h 6858000"/>
              <a:gd name="connsiteX185" fmla="*/ 0 w 5734864"/>
              <a:gd name="connsiteY185" fmla="*/ 6858000 h 6858000"/>
              <a:gd name="connsiteX186" fmla="*/ 5734864 w 5734864"/>
              <a:gd name="connsiteY186" fmla="*/ 6858000 h 6858000"/>
              <a:gd name="connsiteX187" fmla="*/ 5734864 w 5734864"/>
              <a:gd name="connsiteY187"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Lst>
            <a:rect l="l" t="t" r="r" b="b"/>
            <a:pathLst>
              <a:path w="5734864" h="6858000">
                <a:moveTo>
                  <a:pt x="5734864" y="0"/>
                </a:moveTo>
                <a:lnTo>
                  <a:pt x="771611" y="0"/>
                </a:lnTo>
                <a:cubicBezTo>
                  <a:pt x="771634" y="16369"/>
                  <a:pt x="771656" y="32739"/>
                  <a:pt x="771679" y="49108"/>
                </a:cubicBezTo>
                <a:cubicBezTo>
                  <a:pt x="775201" y="55622"/>
                  <a:pt x="788724" y="196721"/>
                  <a:pt x="794248" y="200968"/>
                </a:cubicBezTo>
                <a:lnTo>
                  <a:pt x="801749" y="414071"/>
                </a:lnTo>
                <a:cubicBezTo>
                  <a:pt x="807329" y="440933"/>
                  <a:pt x="835107" y="598697"/>
                  <a:pt x="818548" y="585467"/>
                </a:cubicBezTo>
                <a:cubicBezTo>
                  <a:pt x="856197" y="664140"/>
                  <a:pt x="837895" y="708473"/>
                  <a:pt x="857476" y="800623"/>
                </a:cubicBezTo>
                <a:cubicBezTo>
                  <a:pt x="822401" y="857344"/>
                  <a:pt x="855723" y="824571"/>
                  <a:pt x="851083" y="878903"/>
                </a:cubicBezTo>
                <a:cubicBezTo>
                  <a:pt x="884811" y="859448"/>
                  <a:pt x="834648" y="946397"/>
                  <a:pt x="873564" y="943826"/>
                </a:cubicBezTo>
                <a:cubicBezTo>
                  <a:pt x="871487" y="953795"/>
                  <a:pt x="868248" y="963533"/>
                  <a:pt x="864705" y="973328"/>
                </a:cubicBezTo>
                <a:lnTo>
                  <a:pt x="862869" y="978457"/>
                </a:lnTo>
                <a:lnTo>
                  <a:pt x="862233" y="998041"/>
                </a:lnTo>
                <a:lnTo>
                  <a:pt x="853665" y="1004750"/>
                </a:lnTo>
                <a:lnTo>
                  <a:pt x="847865" y="1070795"/>
                </a:lnTo>
                <a:cubicBezTo>
                  <a:pt x="870234" y="1110486"/>
                  <a:pt x="833172" y="1190441"/>
                  <a:pt x="862786" y="1238994"/>
                </a:cubicBezTo>
                <a:cubicBezTo>
                  <a:pt x="864699" y="1290599"/>
                  <a:pt x="860615" y="1347716"/>
                  <a:pt x="859345" y="1380427"/>
                </a:cubicBezTo>
                <a:cubicBezTo>
                  <a:pt x="845703" y="1396391"/>
                  <a:pt x="873184" y="1435525"/>
                  <a:pt x="855172" y="1435262"/>
                </a:cubicBezTo>
                <a:lnTo>
                  <a:pt x="860494" y="1453861"/>
                </a:lnTo>
                <a:lnTo>
                  <a:pt x="853731" y="1467047"/>
                </a:lnTo>
                <a:cubicBezTo>
                  <a:pt x="846549" y="1480528"/>
                  <a:pt x="841728" y="1491093"/>
                  <a:pt x="845847" y="1502307"/>
                </a:cubicBezTo>
                <a:lnTo>
                  <a:pt x="817613" y="1565166"/>
                </a:lnTo>
                <a:cubicBezTo>
                  <a:pt x="805468" y="1557258"/>
                  <a:pt x="816534" y="1596564"/>
                  <a:pt x="804223" y="1601941"/>
                </a:cubicBezTo>
                <a:cubicBezTo>
                  <a:pt x="794287" y="1604654"/>
                  <a:pt x="795328" y="1617209"/>
                  <a:pt x="791773" y="1627005"/>
                </a:cubicBezTo>
                <a:cubicBezTo>
                  <a:pt x="781684" y="1634393"/>
                  <a:pt x="772978" y="1683187"/>
                  <a:pt x="774645" y="1699922"/>
                </a:cubicBezTo>
                <a:cubicBezTo>
                  <a:pt x="785341" y="1746767"/>
                  <a:pt x="744845" y="1787099"/>
                  <a:pt x="752343" y="1824604"/>
                </a:cubicBezTo>
                <a:cubicBezTo>
                  <a:pt x="751502" y="1834578"/>
                  <a:pt x="749297" y="1842929"/>
                  <a:pt x="746254" y="1850222"/>
                </a:cubicBezTo>
                <a:lnTo>
                  <a:pt x="728600" y="1869603"/>
                </a:lnTo>
                <a:lnTo>
                  <a:pt x="724396" y="1883104"/>
                </a:lnTo>
                <a:lnTo>
                  <a:pt x="722165" y="1885924"/>
                </a:lnTo>
                <a:lnTo>
                  <a:pt x="721338" y="1887123"/>
                </a:lnTo>
                <a:lnTo>
                  <a:pt x="714840" y="1902274"/>
                </a:lnTo>
                <a:lnTo>
                  <a:pt x="722847" y="1929891"/>
                </a:lnTo>
                <a:lnTo>
                  <a:pt x="714660" y="1982709"/>
                </a:lnTo>
                <a:cubicBezTo>
                  <a:pt x="727725" y="2006201"/>
                  <a:pt x="714739" y="1997091"/>
                  <a:pt x="710759" y="2013010"/>
                </a:cubicBezTo>
                <a:cubicBezTo>
                  <a:pt x="707970" y="2027531"/>
                  <a:pt x="700788" y="2054714"/>
                  <a:pt x="697927" y="2069833"/>
                </a:cubicBezTo>
                <a:cubicBezTo>
                  <a:pt x="685211" y="2080229"/>
                  <a:pt x="698762" y="2088241"/>
                  <a:pt x="693594" y="2103731"/>
                </a:cubicBezTo>
                <a:cubicBezTo>
                  <a:pt x="688481" y="2110649"/>
                  <a:pt x="687183" y="2115973"/>
                  <a:pt x="691109" y="2124027"/>
                </a:cubicBezTo>
                <a:cubicBezTo>
                  <a:pt x="666413" y="2155740"/>
                  <a:pt x="688031" y="2144874"/>
                  <a:pt x="676593" y="2176182"/>
                </a:cubicBezTo>
                <a:cubicBezTo>
                  <a:pt x="665190" y="2202944"/>
                  <a:pt x="656416" y="2233857"/>
                  <a:pt x="633227" y="2258036"/>
                </a:cubicBezTo>
                <a:cubicBezTo>
                  <a:pt x="626930" y="2262191"/>
                  <a:pt x="623498" y="2274069"/>
                  <a:pt x="625564" y="2284567"/>
                </a:cubicBezTo>
                <a:cubicBezTo>
                  <a:pt x="625918" y="2286374"/>
                  <a:pt x="626427" y="2288071"/>
                  <a:pt x="627074" y="2289605"/>
                </a:cubicBezTo>
                <a:cubicBezTo>
                  <a:pt x="619029" y="2296628"/>
                  <a:pt x="616453" y="2303188"/>
                  <a:pt x="614574" y="2308717"/>
                </a:cubicBezTo>
                <a:lnTo>
                  <a:pt x="606890" y="2320662"/>
                </a:lnTo>
                <a:lnTo>
                  <a:pt x="605558" y="2327897"/>
                </a:lnTo>
                <a:lnTo>
                  <a:pt x="602202" y="2357749"/>
                </a:lnTo>
                <a:lnTo>
                  <a:pt x="600213" y="2364905"/>
                </a:lnTo>
                <a:lnTo>
                  <a:pt x="597160" y="2388351"/>
                </a:lnTo>
                <a:lnTo>
                  <a:pt x="597982" y="2402296"/>
                </a:lnTo>
                <a:lnTo>
                  <a:pt x="593150" y="2420015"/>
                </a:lnTo>
                <a:cubicBezTo>
                  <a:pt x="593044" y="2420926"/>
                  <a:pt x="592939" y="2421838"/>
                  <a:pt x="592833" y="2422749"/>
                </a:cubicBezTo>
                <a:lnTo>
                  <a:pt x="594479" y="2426002"/>
                </a:lnTo>
                <a:cubicBezTo>
                  <a:pt x="594168" y="2427683"/>
                  <a:pt x="593118" y="2429721"/>
                  <a:pt x="591963" y="2431950"/>
                </a:cubicBezTo>
                <a:cubicBezTo>
                  <a:pt x="591823" y="2432599"/>
                  <a:pt x="591684" y="2433248"/>
                  <a:pt x="591544" y="2433897"/>
                </a:cubicBezTo>
                <a:lnTo>
                  <a:pt x="589519" y="2451398"/>
                </a:lnTo>
                <a:cubicBezTo>
                  <a:pt x="589692" y="2452777"/>
                  <a:pt x="589864" y="2454157"/>
                  <a:pt x="590037" y="2455536"/>
                </a:cubicBezTo>
                <a:lnTo>
                  <a:pt x="588179" y="2462981"/>
                </a:lnTo>
                <a:lnTo>
                  <a:pt x="583434" y="2503991"/>
                </a:lnTo>
                <a:cubicBezTo>
                  <a:pt x="576530" y="2566058"/>
                  <a:pt x="570433" y="2625224"/>
                  <a:pt x="567942" y="2652936"/>
                </a:cubicBezTo>
                <a:cubicBezTo>
                  <a:pt x="570864" y="2658290"/>
                  <a:pt x="572739" y="2664095"/>
                  <a:pt x="573869" y="2670188"/>
                </a:cubicBezTo>
                <a:lnTo>
                  <a:pt x="575243" y="2688114"/>
                </a:lnTo>
                <a:lnTo>
                  <a:pt x="573824" y="2689856"/>
                </a:lnTo>
                <a:cubicBezTo>
                  <a:pt x="569972" y="2698471"/>
                  <a:pt x="569572" y="2704494"/>
                  <a:pt x="570699" y="2709353"/>
                </a:cubicBezTo>
                <a:lnTo>
                  <a:pt x="573192" y="2714527"/>
                </a:lnTo>
                <a:cubicBezTo>
                  <a:pt x="572809" y="2719080"/>
                  <a:pt x="572427" y="2723634"/>
                  <a:pt x="572044" y="2728187"/>
                </a:cubicBezTo>
                <a:cubicBezTo>
                  <a:pt x="572184" y="2737412"/>
                  <a:pt x="572325" y="2746638"/>
                  <a:pt x="572465" y="2755863"/>
                </a:cubicBezTo>
                <a:lnTo>
                  <a:pt x="570028" y="2760324"/>
                </a:lnTo>
                <a:lnTo>
                  <a:pt x="566748" y="2800948"/>
                </a:lnTo>
                <a:lnTo>
                  <a:pt x="565509" y="2801167"/>
                </a:lnTo>
                <a:cubicBezTo>
                  <a:pt x="562655" y="2802587"/>
                  <a:pt x="560408" y="2805381"/>
                  <a:pt x="559367" y="2811129"/>
                </a:cubicBezTo>
                <a:cubicBezTo>
                  <a:pt x="543471" y="2797318"/>
                  <a:pt x="552020" y="2812773"/>
                  <a:pt x="550354" y="2830949"/>
                </a:cubicBezTo>
                <a:cubicBezTo>
                  <a:pt x="525292" y="2813553"/>
                  <a:pt x="531129" y="2868192"/>
                  <a:pt x="514795" y="2872433"/>
                </a:cubicBezTo>
                <a:lnTo>
                  <a:pt x="509875" y="2923099"/>
                </a:lnTo>
                <a:lnTo>
                  <a:pt x="509577" y="2923197"/>
                </a:lnTo>
                <a:cubicBezTo>
                  <a:pt x="508704" y="2924865"/>
                  <a:pt x="508038" y="2927556"/>
                  <a:pt x="507597" y="2931868"/>
                </a:cubicBezTo>
                <a:cubicBezTo>
                  <a:pt x="507524" y="2934019"/>
                  <a:pt x="507452" y="2936171"/>
                  <a:pt x="507379" y="2938322"/>
                </a:cubicBezTo>
                <a:lnTo>
                  <a:pt x="504725" y="2954519"/>
                </a:lnTo>
                <a:lnTo>
                  <a:pt x="502018" y="2959643"/>
                </a:lnTo>
                <a:lnTo>
                  <a:pt x="498360" y="2961019"/>
                </a:lnTo>
                <a:lnTo>
                  <a:pt x="498483" y="2962590"/>
                </a:lnTo>
                <a:cubicBezTo>
                  <a:pt x="502388" y="2975027"/>
                  <a:pt x="510202" y="2980016"/>
                  <a:pt x="484403" y="2990538"/>
                </a:cubicBezTo>
                <a:cubicBezTo>
                  <a:pt x="489425" y="3018352"/>
                  <a:pt x="474337" y="3021029"/>
                  <a:pt x="463075" y="3055956"/>
                </a:cubicBezTo>
                <a:cubicBezTo>
                  <a:pt x="469487" y="3072485"/>
                  <a:pt x="464165" y="3083955"/>
                  <a:pt x="455013" y="3094482"/>
                </a:cubicBezTo>
                <a:cubicBezTo>
                  <a:pt x="453131" y="3130054"/>
                  <a:pt x="437643" y="3160106"/>
                  <a:pt x="428391" y="3198850"/>
                </a:cubicBezTo>
                <a:lnTo>
                  <a:pt x="401440" y="3307560"/>
                </a:lnTo>
                <a:lnTo>
                  <a:pt x="386076" y="3373943"/>
                </a:lnTo>
                <a:cubicBezTo>
                  <a:pt x="386236" y="3376061"/>
                  <a:pt x="380537" y="3378856"/>
                  <a:pt x="374726" y="3381364"/>
                </a:cubicBezTo>
                <a:lnTo>
                  <a:pt x="369145" y="3383729"/>
                </a:lnTo>
                <a:lnTo>
                  <a:pt x="364294" y="3414159"/>
                </a:lnTo>
                <a:lnTo>
                  <a:pt x="366450" y="3436925"/>
                </a:lnTo>
                <a:lnTo>
                  <a:pt x="351743" y="3521619"/>
                </a:lnTo>
                <a:lnTo>
                  <a:pt x="345784" y="3603757"/>
                </a:lnTo>
                <a:cubicBezTo>
                  <a:pt x="345255" y="3619979"/>
                  <a:pt x="344727" y="3636202"/>
                  <a:pt x="344198" y="3652424"/>
                </a:cubicBezTo>
                <a:lnTo>
                  <a:pt x="352450" y="3665222"/>
                </a:lnTo>
                <a:lnTo>
                  <a:pt x="342621" y="3700804"/>
                </a:lnTo>
                <a:lnTo>
                  <a:pt x="341514" y="3734774"/>
                </a:lnTo>
                <a:cubicBezTo>
                  <a:pt x="341212" y="3751567"/>
                  <a:pt x="340909" y="3768360"/>
                  <a:pt x="340607" y="3785153"/>
                </a:cubicBezTo>
                <a:cubicBezTo>
                  <a:pt x="340640" y="3786161"/>
                  <a:pt x="340674" y="3787169"/>
                  <a:pt x="340707" y="3788177"/>
                </a:cubicBezTo>
                <a:cubicBezTo>
                  <a:pt x="340592" y="3791719"/>
                  <a:pt x="340476" y="3795261"/>
                  <a:pt x="340361" y="3798803"/>
                </a:cubicBezTo>
                <a:cubicBezTo>
                  <a:pt x="340121" y="3812119"/>
                  <a:pt x="339882" y="3825434"/>
                  <a:pt x="339642" y="3838750"/>
                </a:cubicBezTo>
                <a:cubicBezTo>
                  <a:pt x="337363" y="3949044"/>
                  <a:pt x="361794" y="3960437"/>
                  <a:pt x="360295" y="4015196"/>
                </a:cubicBezTo>
                <a:lnTo>
                  <a:pt x="339043" y="4052778"/>
                </a:lnTo>
                <a:lnTo>
                  <a:pt x="339343" y="4096257"/>
                </a:lnTo>
                <a:cubicBezTo>
                  <a:pt x="362058" y="4159145"/>
                  <a:pt x="332404" y="4250479"/>
                  <a:pt x="340786" y="4321136"/>
                </a:cubicBezTo>
                <a:cubicBezTo>
                  <a:pt x="341421" y="4376624"/>
                  <a:pt x="344189" y="4407708"/>
                  <a:pt x="343158" y="4429174"/>
                </a:cubicBezTo>
                <a:cubicBezTo>
                  <a:pt x="340948" y="4436304"/>
                  <a:pt x="337887" y="4443121"/>
                  <a:pt x="334599" y="4449938"/>
                </a:cubicBezTo>
                <a:lnTo>
                  <a:pt x="332890" y="4453515"/>
                </a:lnTo>
                <a:lnTo>
                  <a:pt x="331105" y="4467941"/>
                </a:lnTo>
                <a:lnTo>
                  <a:pt x="324289" y="4471861"/>
                </a:lnTo>
                <a:lnTo>
                  <a:pt x="317079" y="4493468"/>
                </a:lnTo>
                <a:cubicBezTo>
                  <a:pt x="315353" y="4501584"/>
                  <a:pt x="314639" y="4510343"/>
                  <a:pt x="315557" y="4520067"/>
                </a:cubicBezTo>
                <a:cubicBezTo>
                  <a:pt x="315451" y="4525669"/>
                  <a:pt x="315346" y="4531270"/>
                  <a:pt x="315240" y="4536872"/>
                </a:cubicBezTo>
                <a:lnTo>
                  <a:pt x="316200" y="4538297"/>
                </a:lnTo>
                <a:cubicBezTo>
                  <a:pt x="316738" y="4541182"/>
                  <a:pt x="316785" y="4544563"/>
                  <a:pt x="317507" y="4547582"/>
                </a:cubicBezTo>
                <a:cubicBezTo>
                  <a:pt x="322716" y="4552468"/>
                  <a:pt x="324912" y="4582137"/>
                  <a:pt x="323078" y="4592102"/>
                </a:cubicBezTo>
                <a:cubicBezTo>
                  <a:pt x="314597" y="4619728"/>
                  <a:pt x="334923" y="4645745"/>
                  <a:pt x="328722" y="4667914"/>
                </a:cubicBezTo>
                <a:cubicBezTo>
                  <a:pt x="330810" y="4685069"/>
                  <a:pt x="333803" y="4690356"/>
                  <a:pt x="335597" y="4695035"/>
                </a:cubicBezTo>
                <a:lnTo>
                  <a:pt x="339485" y="4695979"/>
                </a:lnTo>
                <a:lnTo>
                  <a:pt x="341089" y="4704268"/>
                </a:lnTo>
                <a:lnTo>
                  <a:pt x="342177" y="4706060"/>
                </a:lnTo>
                <a:cubicBezTo>
                  <a:pt x="344268" y="4709474"/>
                  <a:pt x="346234" y="4712931"/>
                  <a:pt x="347751" y="4716754"/>
                </a:cubicBezTo>
                <a:lnTo>
                  <a:pt x="344125" y="4764669"/>
                </a:lnTo>
                <a:lnTo>
                  <a:pt x="340188" y="4779386"/>
                </a:lnTo>
                <a:lnTo>
                  <a:pt x="335146" y="4787491"/>
                </a:lnTo>
                <a:lnTo>
                  <a:pt x="319124" y="4843514"/>
                </a:lnTo>
                <a:lnTo>
                  <a:pt x="305956" y="4881505"/>
                </a:lnTo>
                <a:lnTo>
                  <a:pt x="301062" y="4889332"/>
                </a:lnTo>
                <a:lnTo>
                  <a:pt x="302141" y="4899400"/>
                </a:lnTo>
                <a:cubicBezTo>
                  <a:pt x="302767" y="4900706"/>
                  <a:pt x="303536" y="4901803"/>
                  <a:pt x="304424" y="4902664"/>
                </a:cubicBezTo>
                <a:lnTo>
                  <a:pt x="293123" y="4932769"/>
                </a:lnTo>
                <a:lnTo>
                  <a:pt x="292275" y="4936482"/>
                </a:lnTo>
                <a:lnTo>
                  <a:pt x="288304" y="4962325"/>
                </a:lnTo>
                <a:cubicBezTo>
                  <a:pt x="288009" y="4988948"/>
                  <a:pt x="287715" y="5015570"/>
                  <a:pt x="287420" y="5042193"/>
                </a:cubicBezTo>
                <a:cubicBezTo>
                  <a:pt x="295373" y="5039737"/>
                  <a:pt x="281659" y="5060438"/>
                  <a:pt x="287020" y="5065655"/>
                </a:cubicBezTo>
                <a:cubicBezTo>
                  <a:pt x="291675" y="5068928"/>
                  <a:pt x="288601" y="5075970"/>
                  <a:pt x="288488" y="5082216"/>
                </a:cubicBezTo>
                <a:cubicBezTo>
                  <a:pt x="292282" y="5088207"/>
                  <a:pt x="287008" y="5117775"/>
                  <a:pt x="282763" y="5127114"/>
                </a:cubicBezTo>
                <a:cubicBezTo>
                  <a:pt x="267723" y="5152218"/>
                  <a:pt x="280799" y="5182399"/>
                  <a:pt x="269316" y="5202682"/>
                </a:cubicBezTo>
                <a:cubicBezTo>
                  <a:pt x="267050" y="5219969"/>
                  <a:pt x="268614" y="5225841"/>
                  <a:pt x="269174" y="5230835"/>
                </a:cubicBezTo>
                <a:lnTo>
                  <a:pt x="272679" y="5232660"/>
                </a:lnTo>
                <a:lnTo>
                  <a:pt x="272160" y="5241150"/>
                </a:lnTo>
                <a:lnTo>
                  <a:pt x="272760" y="5243156"/>
                </a:lnTo>
                <a:cubicBezTo>
                  <a:pt x="273922" y="5246984"/>
                  <a:pt x="274952" y="5250824"/>
                  <a:pt x="275462" y="5254919"/>
                </a:cubicBezTo>
                <a:cubicBezTo>
                  <a:pt x="258407" y="5258851"/>
                  <a:pt x="276976" y="5290392"/>
                  <a:pt x="262897" y="5286259"/>
                </a:cubicBezTo>
                <a:cubicBezTo>
                  <a:pt x="262724" y="5309439"/>
                  <a:pt x="239612" y="5337531"/>
                  <a:pt x="252761" y="5357801"/>
                </a:cubicBezTo>
                <a:cubicBezTo>
                  <a:pt x="248775" y="5392256"/>
                  <a:pt x="247799" y="5423412"/>
                  <a:pt x="242360" y="5460080"/>
                </a:cubicBezTo>
                <a:cubicBezTo>
                  <a:pt x="232632" y="5488478"/>
                  <a:pt x="242025" y="5519143"/>
                  <a:pt x="229880" y="5539714"/>
                </a:cubicBezTo>
                <a:cubicBezTo>
                  <a:pt x="230558" y="5572454"/>
                  <a:pt x="222150" y="5613340"/>
                  <a:pt x="204283" y="5639080"/>
                </a:cubicBezTo>
                <a:cubicBezTo>
                  <a:pt x="201596" y="5674226"/>
                  <a:pt x="191051" y="5680198"/>
                  <a:pt x="198948" y="5710958"/>
                </a:cubicBezTo>
                <a:cubicBezTo>
                  <a:pt x="196338" y="5713534"/>
                  <a:pt x="194185" y="5716550"/>
                  <a:pt x="192367" y="5719859"/>
                </a:cubicBezTo>
                <a:lnTo>
                  <a:pt x="188035" y="5729935"/>
                </a:lnTo>
                <a:lnTo>
                  <a:pt x="188428" y="5731182"/>
                </a:lnTo>
                <a:lnTo>
                  <a:pt x="181635" y="5753538"/>
                </a:lnTo>
                <a:lnTo>
                  <a:pt x="169744" y="5796307"/>
                </a:lnTo>
                <a:lnTo>
                  <a:pt x="170351" y="5796644"/>
                </a:lnTo>
                <a:cubicBezTo>
                  <a:pt x="171558" y="5797954"/>
                  <a:pt x="172173" y="5799948"/>
                  <a:pt x="171559" y="5803435"/>
                </a:cubicBezTo>
                <a:cubicBezTo>
                  <a:pt x="182664" y="5798231"/>
                  <a:pt x="175075" y="5805646"/>
                  <a:pt x="172284" y="5816391"/>
                </a:cubicBezTo>
                <a:cubicBezTo>
                  <a:pt x="188911" y="5810703"/>
                  <a:pt x="174844" y="5841128"/>
                  <a:pt x="182542" y="5846382"/>
                </a:cubicBezTo>
                <a:cubicBezTo>
                  <a:pt x="180118" y="5854404"/>
                  <a:pt x="177856" y="5862781"/>
                  <a:pt x="175877" y="5871336"/>
                </a:cubicBezTo>
                <a:lnTo>
                  <a:pt x="174910" y="5876376"/>
                </a:lnTo>
                <a:lnTo>
                  <a:pt x="175047" y="5876483"/>
                </a:lnTo>
                <a:cubicBezTo>
                  <a:pt x="175167" y="5877594"/>
                  <a:pt x="174973" y="5879257"/>
                  <a:pt x="174335" y="5881814"/>
                </a:cubicBezTo>
                <a:lnTo>
                  <a:pt x="171273" y="5895339"/>
                </a:lnTo>
                <a:cubicBezTo>
                  <a:pt x="171401" y="5896476"/>
                  <a:pt x="171530" y="5897612"/>
                  <a:pt x="171658" y="5898749"/>
                </a:cubicBezTo>
                <a:lnTo>
                  <a:pt x="174658" y="5919558"/>
                </a:lnTo>
                <a:cubicBezTo>
                  <a:pt x="173958" y="5933601"/>
                  <a:pt x="171208" y="5962838"/>
                  <a:pt x="169099" y="5984417"/>
                </a:cubicBezTo>
                <a:cubicBezTo>
                  <a:pt x="162916" y="6005205"/>
                  <a:pt x="164971" y="6025162"/>
                  <a:pt x="162007" y="6049043"/>
                </a:cubicBezTo>
                <a:cubicBezTo>
                  <a:pt x="150795" y="6073830"/>
                  <a:pt x="160091" y="6088483"/>
                  <a:pt x="156875" y="6114000"/>
                </a:cubicBezTo>
                <a:cubicBezTo>
                  <a:pt x="141597" y="6134477"/>
                  <a:pt x="163381" y="6133378"/>
                  <a:pt x="165441" y="6146938"/>
                </a:cubicBezTo>
                <a:lnTo>
                  <a:pt x="165177" y="6150658"/>
                </a:lnTo>
                <a:lnTo>
                  <a:pt x="161772" y="6160011"/>
                </a:lnTo>
                <a:lnTo>
                  <a:pt x="160051" y="6163393"/>
                </a:lnTo>
                <a:cubicBezTo>
                  <a:pt x="159032" y="6165775"/>
                  <a:pt x="158564" y="6167421"/>
                  <a:pt x="158473" y="6168628"/>
                </a:cubicBezTo>
                <a:cubicBezTo>
                  <a:pt x="158506" y="6168685"/>
                  <a:pt x="158540" y="6168742"/>
                  <a:pt x="158573" y="6168799"/>
                </a:cubicBezTo>
                <a:lnTo>
                  <a:pt x="146463" y="6196671"/>
                </a:lnTo>
                <a:cubicBezTo>
                  <a:pt x="152348" y="6205503"/>
                  <a:pt x="134460" y="6231012"/>
                  <a:pt x="150209" y="6232365"/>
                </a:cubicBezTo>
                <a:cubicBezTo>
                  <a:pt x="145821" y="6242321"/>
                  <a:pt x="137774" y="6246719"/>
                  <a:pt x="148544" y="6246162"/>
                </a:cubicBezTo>
                <a:cubicBezTo>
                  <a:pt x="147378" y="6249522"/>
                  <a:pt x="147566" y="6251866"/>
                  <a:pt x="148403" y="6253754"/>
                </a:cubicBezTo>
                <a:lnTo>
                  <a:pt x="138880" y="6276449"/>
                </a:lnTo>
                <a:cubicBezTo>
                  <a:pt x="138814" y="6277540"/>
                  <a:pt x="138749" y="6278630"/>
                  <a:pt x="138683" y="6279721"/>
                </a:cubicBezTo>
                <a:lnTo>
                  <a:pt x="130721" y="6293675"/>
                </a:lnTo>
                <a:lnTo>
                  <a:pt x="120717" y="6313967"/>
                </a:lnTo>
                <a:cubicBezTo>
                  <a:pt x="120758" y="6314457"/>
                  <a:pt x="120800" y="6314947"/>
                  <a:pt x="120841" y="6315437"/>
                </a:cubicBezTo>
                <a:lnTo>
                  <a:pt x="115208" y="6324024"/>
                </a:lnTo>
                <a:cubicBezTo>
                  <a:pt x="113007" y="6326672"/>
                  <a:pt x="103991" y="6364381"/>
                  <a:pt x="101217" y="6365923"/>
                </a:cubicBezTo>
                <a:lnTo>
                  <a:pt x="74946" y="6556817"/>
                </a:lnTo>
                <a:cubicBezTo>
                  <a:pt x="55357" y="6665926"/>
                  <a:pt x="35695" y="6744075"/>
                  <a:pt x="16001" y="6808678"/>
                </a:cubicBezTo>
                <a:lnTo>
                  <a:pt x="0" y="6858000"/>
                </a:lnTo>
                <a:lnTo>
                  <a:pt x="5734864" y="6858000"/>
                </a:lnTo>
                <a:lnTo>
                  <a:pt x="5734864"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4E7CFB35-956C-F2C2-5C81-A5D38C813FEF}"/>
              </a:ext>
            </a:extLst>
          </p:cNvPr>
          <p:cNvSpPr>
            <a:spLocks noGrp="1"/>
          </p:cNvSpPr>
          <p:nvPr>
            <p:ph type="title"/>
          </p:nvPr>
        </p:nvSpPr>
        <p:spPr>
          <a:xfrm>
            <a:off x="773408" y="992094"/>
            <a:ext cx="3616913" cy="2795160"/>
          </a:xfrm>
        </p:spPr>
        <p:txBody>
          <a:bodyPr vert="horz" lIns="91440" tIns="45720" rIns="91440" bIns="45720" rtlCol="0" anchor="b">
            <a:normAutofit/>
          </a:bodyPr>
          <a:lstStyle/>
          <a:p>
            <a:pPr algn="ctr"/>
            <a:r>
              <a:rPr lang="en-US" kern="1200">
                <a:solidFill>
                  <a:schemeClr val="tx1"/>
                </a:solidFill>
                <a:latin typeface="+mj-lt"/>
                <a:ea typeface="+mj-ea"/>
                <a:cs typeface="+mj-cs"/>
              </a:rPr>
              <a:t>Tone</a:t>
            </a:r>
          </a:p>
        </p:txBody>
      </p:sp>
      <p:sp>
        <p:nvSpPr>
          <p:cNvPr id="3" name="Content Placeholder 2">
            <a:extLst>
              <a:ext uri="{FF2B5EF4-FFF2-40B4-BE49-F238E27FC236}">
                <a16:creationId xmlns:a16="http://schemas.microsoft.com/office/drawing/2014/main" id="{8B4CEFB1-A769-C7C0-214E-A3CFA3EF5584}"/>
              </a:ext>
            </a:extLst>
          </p:cNvPr>
          <p:cNvSpPr>
            <a:spLocks noGrp="1"/>
          </p:cNvSpPr>
          <p:nvPr>
            <p:ph idx="1"/>
          </p:nvPr>
        </p:nvSpPr>
        <p:spPr>
          <a:xfrm>
            <a:off x="996287" y="4121253"/>
            <a:ext cx="3125337" cy="1136843"/>
          </a:xfrm>
        </p:spPr>
        <p:txBody>
          <a:bodyPr vert="horz" lIns="91440" tIns="45720" rIns="91440" bIns="45720" rtlCol="0">
            <a:normAutofit/>
          </a:bodyPr>
          <a:lstStyle/>
          <a:p>
            <a:pPr marL="0" indent="0" algn="ctr">
              <a:buNone/>
            </a:pPr>
            <a:r>
              <a:rPr lang="en-US" sz="1800" kern="1200">
                <a:solidFill>
                  <a:schemeClr val="tx1"/>
                </a:solidFill>
                <a:latin typeface="+mn-lt"/>
                <a:ea typeface="+mn-ea"/>
                <a:cs typeface="+mn-cs"/>
              </a:rPr>
              <a:t>Late Night DJ Voice</a:t>
            </a:r>
          </a:p>
        </p:txBody>
      </p:sp>
      <p:pic>
        <p:nvPicPr>
          <p:cNvPr id="5" name="Picture 4">
            <a:extLst>
              <a:ext uri="{FF2B5EF4-FFF2-40B4-BE49-F238E27FC236}">
                <a16:creationId xmlns:a16="http://schemas.microsoft.com/office/drawing/2014/main" id="{2DAFDDF9-68C2-F330-72BA-D0EA160BE24D}"/>
              </a:ext>
            </a:extLst>
          </p:cNvPr>
          <p:cNvPicPr>
            <a:picLocks noChangeAspect="1"/>
          </p:cNvPicPr>
          <p:nvPr/>
        </p:nvPicPr>
        <p:blipFill>
          <a:blip r:embed="rId3"/>
          <a:stretch>
            <a:fillRect/>
          </a:stretch>
        </p:blipFill>
        <p:spPr>
          <a:xfrm>
            <a:off x="5895751" y="588232"/>
            <a:ext cx="5708649" cy="5651561"/>
          </a:xfrm>
          <a:prstGeom prst="rect">
            <a:avLst/>
          </a:prstGeom>
        </p:spPr>
      </p:pic>
    </p:spTree>
    <p:extLst>
      <p:ext uri="{BB962C8B-B14F-4D97-AF65-F5344CB8AC3E}">
        <p14:creationId xmlns:p14="http://schemas.microsoft.com/office/powerpoint/2010/main" val="2237713687"/>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80" name="Rectangle 2079">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3B7C7FB-1D4C-1B37-0A7B-32D9B813F801}"/>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US" sz="3200" kern="1200" dirty="0">
                <a:solidFill>
                  <a:schemeClr val="bg1"/>
                </a:solidFill>
                <a:latin typeface="+mj-lt"/>
                <a:ea typeface="+mj-ea"/>
                <a:cs typeface="+mj-cs"/>
              </a:rPr>
              <a:t>Mirrors</a:t>
            </a:r>
          </a:p>
        </p:txBody>
      </p:sp>
      <p:pic>
        <p:nvPicPr>
          <p:cNvPr id="2050" name="Picture 2">
            <a:extLst>
              <a:ext uri="{FF2B5EF4-FFF2-40B4-BE49-F238E27FC236}">
                <a16:creationId xmlns:a16="http://schemas.microsoft.com/office/drawing/2014/main" id="{0C7AA050-829D-2303-9079-3753E60C8006}"/>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tretch>
            <a:fillRect/>
          </a:stretch>
        </p:blipFill>
        <p:spPr bwMode="auto">
          <a:xfrm>
            <a:off x="1834385" y="1675227"/>
            <a:ext cx="8523230" cy="43941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13793775"/>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3" name="Rectangle 72">
            <a:extLst>
              <a:ext uri="{FF2B5EF4-FFF2-40B4-BE49-F238E27FC236}">
                <a16:creationId xmlns:a16="http://schemas.microsoft.com/office/drawing/2014/main" id="{AAAE94E3-A7DB-4868-B1E3-E49703488B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135DBCC-3F1B-B418-8647-2CDA81696385}"/>
              </a:ext>
            </a:extLst>
          </p:cNvPr>
          <p:cNvSpPr>
            <a:spLocks noGrp="1"/>
          </p:cNvSpPr>
          <p:nvPr>
            <p:ph type="title"/>
          </p:nvPr>
        </p:nvSpPr>
        <p:spPr>
          <a:xfrm>
            <a:off x="589560" y="856180"/>
            <a:ext cx="5279408" cy="1128068"/>
          </a:xfrm>
        </p:spPr>
        <p:txBody>
          <a:bodyPr anchor="ctr">
            <a:normAutofit/>
          </a:bodyPr>
          <a:lstStyle/>
          <a:p>
            <a:r>
              <a:rPr lang="en-US" sz="4000" dirty="0">
                <a:cs typeface="Calibri Light"/>
              </a:rPr>
              <a:t>Mirrors</a:t>
            </a:r>
            <a:endParaRPr lang="en-US" sz="4000" dirty="0"/>
          </a:p>
        </p:txBody>
      </p:sp>
      <p:grpSp>
        <p:nvGrpSpPr>
          <p:cNvPr id="75" name="Group 74">
            <a:extLst>
              <a:ext uri="{FF2B5EF4-FFF2-40B4-BE49-F238E27FC236}">
                <a16:creationId xmlns:a16="http://schemas.microsoft.com/office/drawing/2014/main" id="{1DE889C7-FAD6-4397-98E2-05D50348445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083484"/>
            <a:ext cx="355196" cy="673460"/>
            <a:chOff x="0" y="823811"/>
            <a:chExt cx="355196" cy="673460"/>
          </a:xfrm>
        </p:grpSpPr>
        <p:sp>
          <p:nvSpPr>
            <p:cNvPr id="65" name="Rectangle 64">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Rectangle 65">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6" name="Rectangle 75">
            <a:extLst>
              <a:ext uri="{FF2B5EF4-FFF2-40B4-BE49-F238E27FC236}">
                <a16:creationId xmlns:a16="http://schemas.microsoft.com/office/drawing/2014/main" id="{3873B707-463F-40B0-8227-E8CC6C67EB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65085" y="2123821"/>
            <a:ext cx="4975066"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Content Placeholder 30">
            <a:extLst>
              <a:ext uri="{FF2B5EF4-FFF2-40B4-BE49-F238E27FC236}">
                <a16:creationId xmlns:a16="http://schemas.microsoft.com/office/drawing/2014/main" id="{8925DD8B-BE3F-A922-1F7C-57C8EF785655}"/>
              </a:ext>
            </a:extLst>
          </p:cNvPr>
          <p:cNvSpPr>
            <a:spLocks noGrp="1"/>
          </p:cNvSpPr>
          <p:nvPr>
            <p:ph idx="1"/>
          </p:nvPr>
        </p:nvSpPr>
        <p:spPr>
          <a:xfrm>
            <a:off x="590719" y="2330505"/>
            <a:ext cx="5278066" cy="3979585"/>
          </a:xfrm>
        </p:spPr>
        <p:txBody>
          <a:bodyPr anchor="ctr">
            <a:normAutofit/>
          </a:bodyPr>
          <a:lstStyle/>
          <a:p>
            <a:r>
              <a:rPr lang="en-US" sz="2000" dirty="0">
                <a:cs typeface="Calibri"/>
              </a:rPr>
              <a:t>A "mirror" is when you repeat the last three words (or the critical ones to three words) of what someone has just said.</a:t>
            </a:r>
            <a:endParaRPr lang="en-US" sz="2000" dirty="0"/>
          </a:p>
        </p:txBody>
      </p:sp>
      <p:sp>
        <p:nvSpPr>
          <p:cNvPr id="77" name="Rectangle 76">
            <a:extLst>
              <a:ext uri="{FF2B5EF4-FFF2-40B4-BE49-F238E27FC236}">
                <a16:creationId xmlns:a16="http://schemas.microsoft.com/office/drawing/2014/main" id="{C13237C8-E62C-4F0D-A318-BD6FB6C2D1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Rectangle 71">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9687" y="357447"/>
            <a:ext cx="4845488" cy="292358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Content Placeholder 3" descr="A collage of several men&#10;&#10;Description automatically generated">
            <a:extLst>
              <a:ext uri="{FF2B5EF4-FFF2-40B4-BE49-F238E27FC236}">
                <a16:creationId xmlns:a16="http://schemas.microsoft.com/office/drawing/2014/main" id="{70ECD314-0069-6230-50F2-9768B5ECABCA}"/>
              </a:ext>
            </a:extLst>
          </p:cNvPr>
          <p:cNvPicPr>
            <a:picLocks noChangeAspect="1"/>
          </p:cNvPicPr>
          <p:nvPr/>
        </p:nvPicPr>
        <p:blipFill rotWithShape="1">
          <a:blip r:embed="rId3"/>
          <a:srcRect r="13616"/>
          <a:stretch/>
        </p:blipFill>
        <p:spPr>
          <a:xfrm>
            <a:off x="7084360" y="581892"/>
            <a:ext cx="4395559" cy="2518756"/>
          </a:xfrm>
          <a:prstGeom prst="rect">
            <a:avLst/>
          </a:prstGeom>
        </p:spPr>
      </p:pic>
      <p:sp>
        <p:nvSpPr>
          <p:cNvPr id="74" name="Rectangle 73">
            <a:extLst>
              <a:ext uri="{FF2B5EF4-FFF2-40B4-BE49-F238E27FC236}">
                <a16:creationId xmlns:a16="http://schemas.microsoft.com/office/drawing/2014/main" id="{8CB5D2D7-DF65-4E86-BFBA-FFB9B5ACEB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9687" y="3505479"/>
            <a:ext cx="4845488" cy="292358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How to Use Mirroring as a Negotiation Tactic - 2024 - MasterClass">
            <a:extLst>
              <a:ext uri="{FF2B5EF4-FFF2-40B4-BE49-F238E27FC236}">
                <a16:creationId xmlns:a16="http://schemas.microsoft.com/office/drawing/2014/main" id="{7CA081DD-194F-0CCC-522B-19A53E060E73}"/>
              </a:ext>
            </a:extLst>
          </p:cNvPr>
          <p:cNvPicPr>
            <a:picLocks noChangeAspect="1"/>
          </p:cNvPicPr>
          <p:nvPr/>
        </p:nvPicPr>
        <p:blipFill rotWithShape="1">
          <a:blip r:embed="rId4"/>
          <a:srcRect l="1795" r="-4" b="-4"/>
          <a:stretch/>
        </p:blipFill>
        <p:spPr>
          <a:xfrm>
            <a:off x="7083423" y="3708423"/>
            <a:ext cx="4395569" cy="2517697"/>
          </a:xfrm>
          <a:prstGeom prst="rect">
            <a:avLst/>
          </a:prstGeom>
        </p:spPr>
      </p:pic>
    </p:spTree>
    <p:extLst>
      <p:ext uri="{BB962C8B-B14F-4D97-AF65-F5344CB8AC3E}">
        <p14:creationId xmlns:p14="http://schemas.microsoft.com/office/powerpoint/2010/main" val="1851660506"/>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53B021B3-DE93-4AB7-8A18-CF5F1CED8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21DA12B-9EAE-14C4-DAD5-5E59A139B6B6}"/>
              </a:ext>
            </a:extLst>
          </p:cNvPr>
          <p:cNvSpPr>
            <a:spLocks noGrp="1"/>
          </p:cNvSpPr>
          <p:nvPr>
            <p:ph type="title"/>
          </p:nvPr>
        </p:nvSpPr>
        <p:spPr>
          <a:xfrm>
            <a:off x="841248" y="256032"/>
            <a:ext cx="10506456" cy="1014984"/>
          </a:xfrm>
        </p:spPr>
        <p:txBody>
          <a:bodyPr vert="horz" lIns="91440" tIns="45720" rIns="91440" bIns="45720" rtlCol="0" anchor="b">
            <a:normAutofit/>
          </a:bodyPr>
          <a:lstStyle/>
          <a:p>
            <a:r>
              <a:rPr lang="en-US" kern="1200">
                <a:solidFill>
                  <a:schemeClr val="tx1"/>
                </a:solidFill>
                <a:latin typeface="+mj-lt"/>
                <a:ea typeface="+mj-ea"/>
                <a:cs typeface="+mj-cs"/>
              </a:rPr>
              <a:t>Calibrated Questions</a:t>
            </a:r>
          </a:p>
        </p:txBody>
      </p:sp>
      <p:sp>
        <p:nvSpPr>
          <p:cNvPr id="14" name="Rectangle 13">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5953" y="1634502"/>
            <a:ext cx="1045159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6" name="Rectangle 15">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41248" y="1538176"/>
            <a:ext cx="1873457" cy="1098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4" name="Text Placeholder 3">
            <a:extLst>
              <a:ext uri="{FF2B5EF4-FFF2-40B4-BE49-F238E27FC236}">
                <a16:creationId xmlns:a16="http://schemas.microsoft.com/office/drawing/2014/main" id="{DC32924A-601E-BDF2-1CF0-2C4ADCAB6B83}"/>
              </a:ext>
            </a:extLst>
          </p:cNvPr>
          <p:cNvSpPr>
            <a:spLocks/>
          </p:cNvSpPr>
          <p:nvPr/>
        </p:nvSpPr>
        <p:spPr>
          <a:xfrm>
            <a:off x="1014268" y="1926266"/>
            <a:ext cx="4985068" cy="796322"/>
          </a:xfrm>
          <a:prstGeom prst="rect">
            <a:avLst/>
          </a:prstGeom>
        </p:spPr>
        <p:txBody>
          <a:bodyPr/>
          <a:lstStyle/>
          <a:p>
            <a:pPr defTabSz="877824">
              <a:spcAft>
                <a:spcPts val="600"/>
              </a:spcAft>
            </a:pPr>
            <a:r>
              <a:rPr lang="en-US" sz="1728" i="1" kern="1200">
                <a:solidFill>
                  <a:schemeClr val="tx1"/>
                </a:solidFill>
                <a:latin typeface="+mn-lt"/>
                <a:ea typeface="+mn-ea"/>
                <a:cs typeface="+mn-cs"/>
              </a:rPr>
              <a:t>What</a:t>
            </a:r>
            <a:r>
              <a:rPr lang="en-US" sz="1728" kern="1200">
                <a:solidFill>
                  <a:schemeClr val="tx1"/>
                </a:solidFill>
                <a:latin typeface="+mn-lt"/>
                <a:ea typeface="+mn-ea"/>
                <a:cs typeface="+mn-cs"/>
              </a:rPr>
              <a:t> Questions</a:t>
            </a:r>
          </a:p>
          <a:p>
            <a:pPr>
              <a:spcAft>
                <a:spcPts val="600"/>
              </a:spcAft>
            </a:pPr>
            <a:endParaRPr lang="en-US"/>
          </a:p>
        </p:txBody>
      </p:sp>
      <p:sp>
        <p:nvSpPr>
          <p:cNvPr id="3" name="Content Placeholder 2">
            <a:extLst>
              <a:ext uri="{FF2B5EF4-FFF2-40B4-BE49-F238E27FC236}">
                <a16:creationId xmlns:a16="http://schemas.microsoft.com/office/drawing/2014/main" id="{47E64320-F6F8-4D2F-03C8-E7FFF3AE4CB3}"/>
              </a:ext>
            </a:extLst>
          </p:cNvPr>
          <p:cNvSpPr>
            <a:spLocks/>
          </p:cNvSpPr>
          <p:nvPr/>
        </p:nvSpPr>
        <p:spPr>
          <a:xfrm>
            <a:off x="1014268" y="2722588"/>
            <a:ext cx="4985068" cy="3561202"/>
          </a:xfrm>
          <a:prstGeom prst="rect">
            <a:avLst/>
          </a:prstGeom>
        </p:spPr>
        <p:txBody>
          <a:bodyPr/>
          <a:lstStyle/>
          <a:p>
            <a:pPr defTabSz="877824">
              <a:spcAft>
                <a:spcPts val="600"/>
              </a:spcAft>
              <a:buFont typeface="Arial" panose="020B0604020202020204" pitchFamily="34" charset="0"/>
              <a:buChar char="•"/>
            </a:pPr>
            <a:r>
              <a:rPr lang="en-AU" sz="2000" kern="1200" dirty="0">
                <a:solidFill>
                  <a:srgbClr val="555555"/>
                </a:solidFill>
                <a:latin typeface="Raleway" panose="020F0502020204030204" pitchFamily="34" charset="0"/>
                <a:ea typeface="+mn-ea"/>
                <a:cs typeface="+mn-cs"/>
              </a:rPr>
              <a:t>What is the core issue here?</a:t>
            </a:r>
          </a:p>
          <a:p>
            <a:pPr defTabSz="877824">
              <a:spcAft>
                <a:spcPts val="600"/>
              </a:spcAft>
              <a:buFont typeface="Arial" panose="020B0604020202020204" pitchFamily="34" charset="0"/>
              <a:buChar char="•"/>
            </a:pPr>
            <a:r>
              <a:rPr lang="en-AU" sz="2000" kern="1200" dirty="0">
                <a:solidFill>
                  <a:srgbClr val="555555"/>
                </a:solidFill>
                <a:latin typeface="Raleway" panose="020F0502020204030204" pitchFamily="34" charset="0"/>
                <a:ea typeface="+mn-ea"/>
                <a:cs typeface="+mn-cs"/>
              </a:rPr>
              <a:t>What is the biggest challenge you face?</a:t>
            </a:r>
          </a:p>
          <a:p>
            <a:pPr defTabSz="877824">
              <a:spcAft>
                <a:spcPts val="600"/>
              </a:spcAft>
              <a:buFont typeface="Arial" panose="020B0604020202020204" pitchFamily="34" charset="0"/>
              <a:buChar char="•"/>
            </a:pPr>
            <a:r>
              <a:rPr lang="en-AU" sz="2000" kern="1200" dirty="0">
                <a:solidFill>
                  <a:srgbClr val="555555"/>
                </a:solidFill>
                <a:latin typeface="Raleway" panose="020F0502020204030204" pitchFamily="34" charset="0"/>
                <a:ea typeface="+mn-ea"/>
                <a:cs typeface="+mn-cs"/>
              </a:rPr>
              <a:t>What happens if we fail?</a:t>
            </a:r>
          </a:p>
          <a:p>
            <a:pPr defTabSz="877824">
              <a:spcAft>
                <a:spcPts val="600"/>
              </a:spcAft>
              <a:buFont typeface="Arial" panose="020B0604020202020204" pitchFamily="34" charset="0"/>
              <a:buChar char="•"/>
            </a:pPr>
            <a:r>
              <a:rPr lang="en-AU" sz="2000" kern="1200" dirty="0">
                <a:solidFill>
                  <a:srgbClr val="555555"/>
                </a:solidFill>
                <a:latin typeface="Raleway" panose="020F0502020204030204" pitchFamily="34" charset="0"/>
                <a:ea typeface="+mn-ea"/>
                <a:cs typeface="+mn-cs"/>
              </a:rPr>
              <a:t>What position are you in if this doesn’t change?</a:t>
            </a:r>
          </a:p>
          <a:p>
            <a:pPr defTabSz="877824">
              <a:spcAft>
                <a:spcPts val="600"/>
              </a:spcAft>
              <a:buFont typeface="Arial" panose="020B0604020202020204" pitchFamily="34" charset="0"/>
              <a:buChar char="•"/>
            </a:pPr>
            <a:r>
              <a:rPr lang="en-AU" sz="2000" kern="1200" dirty="0">
                <a:solidFill>
                  <a:srgbClr val="555555"/>
                </a:solidFill>
                <a:latin typeface="Raleway" panose="020F0502020204030204" pitchFamily="34" charset="0"/>
                <a:ea typeface="+mn-ea"/>
                <a:cs typeface="+mn-cs"/>
              </a:rPr>
              <a:t>What happens if you do nothing?</a:t>
            </a:r>
            <a:endParaRPr lang="en-AU" sz="2000" b="0" i="0" dirty="0">
              <a:solidFill>
                <a:srgbClr val="555555"/>
              </a:solidFill>
              <a:effectLst/>
              <a:latin typeface="Raleway" panose="020F0502020204030204" pitchFamily="34" charset="0"/>
            </a:endParaRPr>
          </a:p>
          <a:p>
            <a:pPr defTabSz="877824">
              <a:spcAft>
                <a:spcPts val="600"/>
              </a:spcAft>
              <a:buFont typeface="Arial" panose="020B0604020202020204" pitchFamily="34" charset="0"/>
              <a:buChar char="•"/>
            </a:pPr>
            <a:r>
              <a:rPr lang="en-AU" sz="2000" b="0" i="0" dirty="0">
                <a:solidFill>
                  <a:srgbClr val="555555"/>
                </a:solidFill>
                <a:effectLst/>
                <a:latin typeface="Raleway" panose="020F0502020204030204" pitchFamily="34" charset="0"/>
              </a:rPr>
              <a:t>What about this is important for you?</a:t>
            </a:r>
            <a:endParaRPr lang="en-AU" sz="2400" b="0" i="0" dirty="0">
              <a:solidFill>
                <a:srgbClr val="676767"/>
              </a:solidFill>
              <a:effectLst/>
              <a:latin typeface="Raleway" panose="020F0502020204030204" pitchFamily="34" charset="0"/>
            </a:endParaRPr>
          </a:p>
        </p:txBody>
      </p:sp>
      <p:sp>
        <p:nvSpPr>
          <p:cNvPr id="5" name="Text Placeholder 4">
            <a:extLst>
              <a:ext uri="{FF2B5EF4-FFF2-40B4-BE49-F238E27FC236}">
                <a16:creationId xmlns:a16="http://schemas.microsoft.com/office/drawing/2014/main" id="{A3FD08AB-E7D6-84DA-511E-15394D8DEACD}"/>
              </a:ext>
            </a:extLst>
          </p:cNvPr>
          <p:cNvSpPr>
            <a:spLocks/>
          </p:cNvSpPr>
          <p:nvPr/>
        </p:nvSpPr>
        <p:spPr>
          <a:xfrm>
            <a:off x="6168113" y="1926266"/>
            <a:ext cx="5009619" cy="796322"/>
          </a:xfrm>
          <a:prstGeom prst="rect">
            <a:avLst/>
          </a:prstGeom>
        </p:spPr>
        <p:txBody>
          <a:bodyPr/>
          <a:lstStyle/>
          <a:p>
            <a:pPr defTabSz="877824">
              <a:spcAft>
                <a:spcPts val="600"/>
              </a:spcAft>
            </a:pPr>
            <a:r>
              <a:rPr lang="en-US" sz="1728" i="1" kern="1200">
                <a:solidFill>
                  <a:schemeClr val="tx1"/>
                </a:solidFill>
                <a:latin typeface="+mn-lt"/>
                <a:ea typeface="+mn-ea"/>
                <a:cs typeface="+mn-cs"/>
              </a:rPr>
              <a:t>How</a:t>
            </a:r>
            <a:r>
              <a:rPr lang="en-US" sz="1728" kern="1200">
                <a:solidFill>
                  <a:schemeClr val="tx1"/>
                </a:solidFill>
                <a:latin typeface="+mn-lt"/>
                <a:ea typeface="+mn-ea"/>
                <a:cs typeface="+mn-cs"/>
              </a:rPr>
              <a:t> Questions</a:t>
            </a:r>
          </a:p>
          <a:p>
            <a:pPr>
              <a:spcAft>
                <a:spcPts val="600"/>
              </a:spcAft>
            </a:pPr>
            <a:endParaRPr lang="en-US"/>
          </a:p>
        </p:txBody>
      </p:sp>
      <p:sp>
        <p:nvSpPr>
          <p:cNvPr id="6" name="Content Placeholder 5">
            <a:extLst>
              <a:ext uri="{FF2B5EF4-FFF2-40B4-BE49-F238E27FC236}">
                <a16:creationId xmlns:a16="http://schemas.microsoft.com/office/drawing/2014/main" id="{94E1D439-0B5E-3A7D-87B2-B81291D336E7}"/>
              </a:ext>
            </a:extLst>
          </p:cNvPr>
          <p:cNvSpPr>
            <a:spLocks/>
          </p:cNvSpPr>
          <p:nvPr/>
        </p:nvSpPr>
        <p:spPr>
          <a:xfrm>
            <a:off x="6168113" y="2722588"/>
            <a:ext cx="5009619" cy="3561202"/>
          </a:xfrm>
          <a:prstGeom prst="rect">
            <a:avLst/>
          </a:prstGeom>
        </p:spPr>
        <p:txBody>
          <a:bodyPr/>
          <a:lstStyle/>
          <a:p>
            <a:pPr defTabSz="877824">
              <a:spcAft>
                <a:spcPts val="600"/>
              </a:spcAft>
              <a:buFont typeface="Arial" panose="020B0604020202020204" pitchFamily="34" charset="0"/>
              <a:buChar char="•"/>
            </a:pPr>
            <a:r>
              <a:rPr lang="en-AU" sz="2000" kern="1200" dirty="0">
                <a:solidFill>
                  <a:srgbClr val="555555"/>
                </a:solidFill>
                <a:latin typeface="Raleway" pitchFamily="2" charset="77"/>
                <a:ea typeface="+mn-ea"/>
                <a:cs typeface="+mn-cs"/>
              </a:rPr>
              <a:t>How is that worthwhile?</a:t>
            </a:r>
          </a:p>
          <a:p>
            <a:pPr defTabSz="877824">
              <a:spcAft>
                <a:spcPts val="600"/>
              </a:spcAft>
              <a:buFont typeface="Arial" panose="020B0604020202020204" pitchFamily="34" charset="0"/>
              <a:buChar char="•"/>
            </a:pPr>
            <a:r>
              <a:rPr lang="en-AU" sz="2000" kern="1200" dirty="0">
                <a:solidFill>
                  <a:srgbClr val="555555"/>
                </a:solidFill>
                <a:latin typeface="Raleway" pitchFamily="2" charset="77"/>
                <a:ea typeface="+mn-ea"/>
                <a:cs typeface="+mn-cs"/>
              </a:rPr>
              <a:t>How have you handled this in the past?</a:t>
            </a:r>
          </a:p>
          <a:p>
            <a:pPr defTabSz="877824">
              <a:spcAft>
                <a:spcPts val="600"/>
              </a:spcAft>
              <a:buFont typeface="Arial" panose="020B0604020202020204" pitchFamily="34" charset="0"/>
              <a:buChar char="•"/>
            </a:pPr>
            <a:r>
              <a:rPr lang="en-AU" sz="2000" kern="1200" dirty="0">
                <a:solidFill>
                  <a:srgbClr val="555555"/>
                </a:solidFill>
                <a:latin typeface="Raleway" pitchFamily="2" charset="77"/>
                <a:ea typeface="+mn-ea"/>
                <a:cs typeface="+mn-cs"/>
              </a:rPr>
              <a:t>How long are you willing to wait?</a:t>
            </a:r>
          </a:p>
          <a:p>
            <a:pPr defTabSz="877824">
              <a:spcAft>
                <a:spcPts val="600"/>
              </a:spcAft>
              <a:buFont typeface="Arial" panose="020B0604020202020204" pitchFamily="34" charset="0"/>
              <a:buChar char="•"/>
            </a:pPr>
            <a:r>
              <a:rPr lang="en-AU" sz="2000" kern="1200" dirty="0">
                <a:solidFill>
                  <a:srgbClr val="555555"/>
                </a:solidFill>
                <a:latin typeface="Raleway" pitchFamily="2" charset="77"/>
                <a:ea typeface="+mn-ea"/>
                <a:cs typeface="+mn-cs"/>
              </a:rPr>
              <a:t>How does that affect things?</a:t>
            </a:r>
            <a:endParaRPr lang="en-AU" sz="2000" dirty="0">
              <a:solidFill>
                <a:srgbClr val="555555"/>
              </a:solidFill>
              <a:latin typeface="Raleway" pitchFamily="2" charset="77"/>
            </a:endParaRPr>
          </a:p>
          <a:p>
            <a:pPr defTabSz="877824">
              <a:spcAft>
                <a:spcPts val="600"/>
              </a:spcAft>
              <a:buFont typeface="Arial" panose="020B0604020202020204" pitchFamily="34" charset="0"/>
              <a:buChar char="•"/>
            </a:pPr>
            <a:r>
              <a:rPr lang="en-AU" sz="2000" dirty="0">
                <a:solidFill>
                  <a:srgbClr val="555555"/>
                </a:solidFill>
                <a:latin typeface="Raleway" pitchFamily="2" charset="77"/>
              </a:rPr>
              <a:t>How would you like me to proceed?</a:t>
            </a:r>
            <a:endParaRPr lang="en-AU" sz="2000" kern="1200" dirty="0">
              <a:solidFill>
                <a:srgbClr val="555555"/>
              </a:solidFill>
              <a:latin typeface="Raleway" pitchFamily="2" charset="77"/>
              <a:ea typeface="+mn-ea"/>
              <a:cs typeface="+mn-cs"/>
            </a:endParaRPr>
          </a:p>
          <a:p>
            <a:pPr defTabSz="877824">
              <a:spcAft>
                <a:spcPts val="600"/>
              </a:spcAft>
              <a:buFont typeface="Arial" panose="020B0604020202020204" pitchFamily="34" charset="0"/>
              <a:buChar char="•"/>
            </a:pPr>
            <a:r>
              <a:rPr lang="en-AU" sz="2000" kern="1200" dirty="0">
                <a:solidFill>
                  <a:srgbClr val="555555"/>
                </a:solidFill>
                <a:latin typeface="Raleway" pitchFamily="2" charset="77"/>
                <a:ea typeface="+mn-ea"/>
                <a:cs typeface="+mn-cs"/>
              </a:rPr>
              <a:t>How can I help make this better for you?</a:t>
            </a:r>
          </a:p>
          <a:p>
            <a:pPr defTabSz="877824">
              <a:spcAft>
                <a:spcPts val="600"/>
              </a:spcAft>
              <a:buFont typeface="Arial" panose="020B0604020202020204" pitchFamily="34" charset="0"/>
              <a:buChar char="•"/>
            </a:pPr>
            <a:endParaRPr lang="en-AU" sz="2000" kern="1200" dirty="0">
              <a:solidFill>
                <a:srgbClr val="555555"/>
              </a:solidFill>
              <a:latin typeface="Raleway" pitchFamily="2" charset="77"/>
              <a:ea typeface="+mn-ea"/>
              <a:cs typeface="+mn-cs"/>
            </a:endParaRPr>
          </a:p>
          <a:p>
            <a:pPr defTabSz="877824">
              <a:spcAft>
                <a:spcPts val="600"/>
              </a:spcAft>
              <a:buFont typeface="Arial" panose="020B0604020202020204" pitchFamily="34" charset="0"/>
              <a:buChar char="•"/>
            </a:pPr>
            <a:r>
              <a:rPr lang="en-AU" sz="2000" b="0" i="1" dirty="0">
                <a:solidFill>
                  <a:srgbClr val="555555"/>
                </a:solidFill>
                <a:effectLst/>
                <a:latin typeface="Raleway" pitchFamily="2" charset="77"/>
              </a:rPr>
              <a:t>How am I supposed to do that?</a:t>
            </a:r>
            <a:endParaRPr lang="en-AU" sz="2400" b="0" i="1" dirty="0">
              <a:solidFill>
                <a:srgbClr val="676767"/>
              </a:solidFill>
              <a:effectLst/>
              <a:latin typeface="Raleway" pitchFamily="2" charset="77"/>
            </a:endParaRPr>
          </a:p>
        </p:txBody>
      </p:sp>
    </p:spTree>
    <p:extLst>
      <p:ext uri="{BB962C8B-B14F-4D97-AF65-F5344CB8AC3E}">
        <p14:creationId xmlns:p14="http://schemas.microsoft.com/office/powerpoint/2010/main" val="4033976010"/>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93" name="Rectangle 3092">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145BADE-E105-D2CC-5599-2A6FF21779C9}"/>
              </a:ext>
            </a:extLst>
          </p:cNvPr>
          <p:cNvSpPr>
            <a:spLocks noGrp="1"/>
          </p:cNvSpPr>
          <p:nvPr>
            <p:ph type="title"/>
          </p:nvPr>
        </p:nvSpPr>
        <p:spPr>
          <a:xfrm>
            <a:off x="630936" y="639520"/>
            <a:ext cx="3429000" cy="1719072"/>
          </a:xfrm>
        </p:spPr>
        <p:txBody>
          <a:bodyPr vert="horz" lIns="91440" tIns="45720" rIns="91440" bIns="45720" rtlCol="0" anchor="b">
            <a:normAutofit/>
          </a:bodyPr>
          <a:lstStyle/>
          <a:p>
            <a:r>
              <a:rPr lang="en-US" sz="5400" dirty="0"/>
              <a:t>L</a:t>
            </a:r>
            <a:r>
              <a:rPr lang="en-US" sz="5400" kern="1200" dirty="0">
                <a:latin typeface="+mj-lt"/>
                <a:ea typeface="+mj-ea"/>
                <a:cs typeface="+mj-cs"/>
              </a:rPr>
              <a:t>abels</a:t>
            </a:r>
          </a:p>
        </p:txBody>
      </p:sp>
      <p:sp>
        <p:nvSpPr>
          <p:cNvPr id="3095" name="sketch line">
            <a:extLst>
              <a:ext uri="{FF2B5EF4-FFF2-40B4-BE49-F238E27FC236}">
                <a16:creationId xmlns:a16="http://schemas.microsoft.com/office/drawing/2014/main" id="{CD8B4F24-440B-49E9-B85D-733523DC0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83" name="Content Placeholder 3082">
            <a:extLst>
              <a:ext uri="{FF2B5EF4-FFF2-40B4-BE49-F238E27FC236}">
                <a16:creationId xmlns:a16="http://schemas.microsoft.com/office/drawing/2014/main" id="{40D9D76F-E711-23B9-92DD-51B92A1DD8F2}"/>
              </a:ext>
            </a:extLst>
          </p:cNvPr>
          <p:cNvSpPr>
            <a:spLocks noGrp="1"/>
          </p:cNvSpPr>
          <p:nvPr>
            <p:ph idx="1"/>
          </p:nvPr>
        </p:nvSpPr>
        <p:spPr>
          <a:xfrm>
            <a:off x="630936" y="2807208"/>
            <a:ext cx="3838588" cy="3410712"/>
          </a:xfrm>
        </p:spPr>
        <p:txBody>
          <a:bodyPr anchor="t">
            <a:normAutofit/>
          </a:bodyPr>
          <a:lstStyle/>
          <a:p>
            <a:r>
              <a:rPr lang="en-US" sz="2200" dirty="0"/>
              <a:t>Verbal observation of feelings</a:t>
            </a:r>
          </a:p>
          <a:p>
            <a:r>
              <a:rPr lang="en-US" sz="2200" dirty="0"/>
              <a:t>It seems/sounds/looks</a:t>
            </a:r>
          </a:p>
        </p:txBody>
      </p:sp>
      <p:pic>
        <p:nvPicPr>
          <p:cNvPr id="3074" name="Picture 2">
            <a:extLst>
              <a:ext uri="{FF2B5EF4-FFF2-40B4-BE49-F238E27FC236}">
                <a16:creationId xmlns:a16="http://schemas.microsoft.com/office/drawing/2014/main" id="{860D2538-801A-4354-4712-E70DCDC7142B}"/>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4654296" y="960921"/>
            <a:ext cx="6903720" cy="49361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16619302"/>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C541B88-1AE9-40C3-AFD5-967787C197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E5F17139-31EE-46AC-B04F-DBBD852DD6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890596"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9806B56-B4C5-4F9E-C158-6FCDF8D74E6D}"/>
              </a:ext>
            </a:extLst>
          </p:cNvPr>
          <p:cNvSpPr>
            <a:spLocks noGrp="1"/>
          </p:cNvSpPr>
          <p:nvPr>
            <p:ph type="title"/>
          </p:nvPr>
        </p:nvSpPr>
        <p:spPr>
          <a:xfrm>
            <a:off x="838200" y="1195697"/>
            <a:ext cx="3200400" cy="4238118"/>
          </a:xfrm>
        </p:spPr>
        <p:txBody>
          <a:bodyPr>
            <a:normAutofit/>
          </a:bodyPr>
          <a:lstStyle/>
          <a:p>
            <a:r>
              <a:rPr lang="en-AU">
                <a:solidFill>
                  <a:schemeClr val="bg1"/>
                </a:solidFill>
              </a:rPr>
              <a:t>“No” Oriented Questions</a:t>
            </a:r>
          </a:p>
        </p:txBody>
      </p:sp>
      <p:grpSp>
        <p:nvGrpSpPr>
          <p:cNvPr id="13" name="Graphic 38">
            <a:extLst>
              <a:ext uri="{FF2B5EF4-FFF2-40B4-BE49-F238E27FC236}">
                <a16:creationId xmlns:a16="http://schemas.microsoft.com/office/drawing/2014/main" id="{7CF625D3-71A3-4F30-A096-8EF334E959D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02912"/>
            <a:ext cx="1910252" cy="709660"/>
            <a:chOff x="2267504" y="2540250"/>
            <a:chExt cx="1990951" cy="739640"/>
          </a:xfrm>
          <a:solidFill>
            <a:schemeClr val="bg1"/>
          </a:solidFill>
        </p:grpSpPr>
        <p:sp>
          <p:nvSpPr>
            <p:cNvPr id="14" name="Freeform: Shape 13">
              <a:extLst>
                <a:ext uri="{FF2B5EF4-FFF2-40B4-BE49-F238E27FC236}">
                  <a16:creationId xmlns:a16="http://schemas.microsoft.com/office/drawing/2014/main" id="{C6754E2F-F56E-4BA3-99DD-8EBF110E34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267504" y="2540250"/>
              <a:ext cx="1990951" cy="286230"/>
            </a:xfrm>
            <a:custGeom>
              <a:avLst/>
              <a:gdLst>
                <a:gd name="connsiteX0" fmla="*/ 1489414 w 1990951"/>
                <a:gd name="connsiteY0" fmla="*/ 286231 h 286230"/>
                <a:gd name="connsiteX1" fmla="*/ 1243712 w 1990951"/>
                <a:gd name="connsiteY1" fmla="*/ 40528 h 286230"/>
                <a:gd name="connsiteX2" fmla="*/ 995476 w 1990951"/>
                <a:gd name="connsiteY2" fmla="*/ 286231 h 286230"/>
                <a:gd name="connsiteX3" fmla="*/ 749773 w 1990951"/>
                <a:gd name="connsiteY3" fmla="*/ 40528 h 286230"/>
                <a:gd name="connsiteX4" fmla="*/ 504071 w 1990951"/>
                <a:gd name="connsiteY4" fmla="*/ 286231 h 286230"/>
                <a:gd name="connsiteX5" fmla="*/ 255835 w 1990951"/>
                <a:gd name="connsiteY5" fmla="*/ 40528 h 286230"/>
                <a:gd name="connsiteX6" fmla="*/ 20264 w 1990951"/>
                <a:gd name="connsiteY6" fmla="*/ 276099 h 286230"/>
                <a:gd name="connsiteX7" fmla="*/ 0 w 1990951"/>
                <a:gd name="connsiteY7" fmla="*/ 255835 h 286230"/>
                <a:gd name="connsiteX8" fmla="*/ 255835 w 1990951"/>
                <a:gd name="connsiteY8" fmla="*/ 0 h 286230"/>
                <a:gd name="connsiteX9" fmla="*/ 504071 w 1990951"/>
                <a:gd name="connsiteY9" fmla="*/ 245703 h 286230"/>
                <a:gd name="connsiteX10" fmla="*/ 749773 w 1990951"/>
                <a:gd name="connsiteY10" fmla="*/ 0 h 286230"/>
                <a:gd name="connsiteX11" fmla="*/ 995476 w 1990951"/>
                <a:gd name="connsiteY11" fmla="*/ 245703 h 286230"/>
                <a:gd name="connsiteX12" fmla="*/ 1243712 w 1990951"/>
                <a:gd name="connsiteY12" fmla="*/ 0 h 286230"/>
                <a:gd name="connsiteX13" fmla="*/ 1489414 w 1990951"/>
                <a:gd name="connsiteY13" fmla="*/ 245703 h 286230"/>
                <a:gd name="connsiteX14" fmla="*/ 1735117 w 1990951"/>
                <a:gd name="connsiteY14" fmla="*/ 0 h 286230"/>
                <a:gd name="connsiteX15" fmla="*/ 1990952 w 1990951"/>
                <a:gd name="connsiteY15" fmla="*/ 255835 h 286230"/>
                <a:gd name="connsiteX16" fmla="*/ 1973221 w 1990951"/>
                <a:gd name="connsiteY16" fmla="*/ 276099 h 286230"/>
                <a:gd name="connsiteX17" fmla="*/ 1735117 w 1990951"/>
                <a:gd name="connsiteY17" fmla="*/ 40528 h 2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90951" h="286230">
                  <a:moveTo>
                    <a:pt x="1489414" y="286231"/>
                  </a:moveTo>
                  <a:lnTo>
                    <a:pt x="1243712" y="40528"/>
                  </a:lnTo>
                  <a:lnTo>
                    <a:pt x="995476" y="286231"/>
                  </a:lnTo>
                  <a:lnTo>
                    <a:pt x="749773" y="40528"/>
                  </a:lnTo>
                  <a:lnTo>
                    <a:pt x="504071" y="286231"/>
                  </a:lnTo>
                  <a:lnTo>
                    <a:pt x="255835" y="40528"/>
                  </a:lnTo>
                  <a:lnTo>
                    <a:pt x="20264" y="276099"/>
                  </a:lnTo>
                  <a:lnTo>
                    <a:pt x="0" y="255835"/>
                  </a:lnTo>
                  <a:lnTo>
                    <a:pt x="255835" y="0"/>
                  </a:lnTo>
                  <a:lnTo>
                    <a:pt x="504071" y="245703"/>
                  </a:lnTo>
                  <a:lnTo>
                    <a:pt x="749773" y="0"/>
                  </a:lnTo>
                  <a:lnTo>
                    <a:pt x="995476" y="245703"/>
                  </a:lnTo>
                  <a:lnTo>
                    <a:pt x="1243712" y="0"/>
                  </a:lnTo>
                  <a:lnTo>
                    <a:pt x="1489414" y="245703"/>
                  </a:lnTo>
                  <a:lnTo>
                    <a:pt x="1735117" y="0"/>
                  </a:lnTo>
                  <a:lnTo>
                    <a:pt x="1990952" y="255835"/>
                  </a:lnTo>
                  <a:lnTo>
                    <a:pt x="1973221" y="276099"/>
                  </a:lnTo>
                  <a:lnTo>
                    <a:pt x="1735117" y="40528"/>
                  </a:lnTo>
                  <a:close/>
                </a:path>
              </a:pathLst>
            </a:custGeom>
            <a:grpFill/>
            <a:ln w="25320" cap="flat">
              <a:noFill/>
              <a:prstDash val="solid"/>
              <a:miter/>
            </a:ln>
          </p:spPr>
          <p:txBody>
            <a:bodyPr rtlCol="0" anchor="ctr"/>
            <a:lstStyle/>
            <a:p>
              <a:endParaRPr lang="en-US" dirty="0"/>
            </a:p>
          </p:txBody>
        </p:sp>
        <p:sp>
          <p:nvSpPr>
            <p:cNvPr id="15" name="Freeform: Shape 14">
              <a:extLst>
                <a:ext uri="{FF2B5EF4-FFF2-40B4-BE49-F238E27FC236}">
                  <a16:creationId xmlns:a16="http://schemas.microsoft.com/office/drawing/2014/main" id="{24A69059-7C49-49C6-B071-F2A9B558E0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267504" y="2993660"/>
              <a:ext cx="1990951" cy="286230"/>
            </a:xfrm>
            <a:custGeom>
              <a:avLst/>
              <a:gdLst>
                <a:gd name="connsiteX0" fmla="*/ 1489414 w 1990951"/>
                <a:gd name="connsiteY0" fmla="*/ 286231 h 286230"/>
                <a:gd name="connsiteX1" fmla="*/ 1243712 w 1990951"/>
                <a:gd name="connsiteY1" fmla="*/ 40528 h 286230"/>
                <a:gd name="connsiteX2" fmla="*/ 995476 w 1990951"/>
                <a:gd name="connsiteY2" fmla="*/ 286231 h 286230"/>
                <a:gd name="connsiteX3" fmla="*/ 749773 w 1990951"/>
                <a:gd name="connsiteY3" fmla="*/ 40528 h 286230"/>
                <a:gd name="connsiteX4" fmla="*/ 504071 w 1990951"/>
                <a:gd name="connsiteY4" fmla="*/ 286231 h 286230"/>
                <a:gd name="connsiteX5" fmla="*/ 255835 w 1990951"/>
                <a:gd name="connsiteY5" fmla="*/ 40528 h 286230"/>
                <a:gd name="connsiteX6" fmla="*/ 20264 w 1990951"/>
                <a:gd name="connsiteY6" fmla="*/ 276099 h 286230"/>
                <a:gd name="connsiteX7" fmla="*/ 0 w 1990951"/>
                <a:gd name="connsiteY7" fmla="*/ 258368 h 286230"/>
                <a:gd name="connsiteX8" fmla="*/ 255835 w 1990951"/>
                <a:gd name="connsiteY8" fmla="*/ 0 h 286230"/>
                <a:gd name="connsiteX9" fmla="*/ 504071 w 1990951"/>
                <a:gd name="connsiteY9" fmla="*/ 248236 h 286230"/>
                <a:gd name="connsiteX10" fmla="*/ 749773 w 1990951"/>
                <a:gd name="connsiteY10" fmla="*/ 0 h 286230"/>
                <a:gd name="connsiteX11" fmla="*/ 995476 w 1990951"/>
                <a:gd name="connsiteY11" fmla="*/ 248236 h 286230"/>
                <a:gd name="connsiteX12" fmla="*/ 1243712 w 1990951"/>
                <a:gd name="connsiteY12" fmla="*/ 0 h 286230"/>
                <a:gd name="connsiteX13" fmla="*/ 1489414 w 1990951"/>
                <a:gd name="connsiteY13" fmla="*/ 248236 h 286230"/>
                <a:gd name="connsiteX14" fmla="*/ 1735117 w 1990951"/>
                <a:gd name="connsiteY14" fmla="*/ 0 h 286230"/>
                <a:gd name="connsiteX15" fmla="*/ 1990952 w 1990951"/>
                <a:gd name="connsiteY15" fmla="*/ 258368 h 286230"/>
                <a:gd name="connsiteX16" fmla="*/ 1973221 w 1990951"/>
                <a:gd name="connsiteY16" fmla="*/ 276099 h 286230"/>
                <a:gd name="connsiteX17" fmla="*/ 1735117 w 1990951"/>
                <a:gd name="connsiteY17" fmla="*/ 40528 h 2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90951" h="286230">
                  <a:moveTo>
                    <a:pt x="1489414" y="286231"/>
                  </a:moveTo>
                  <a:lnTo>
                    <a:pt x="1243712" y="40528"/>
                  </a:lnTo>
                  <a:lnTo>
                    <a:pt x="995476" y="286231"/>
                  </a:lnTo>
                  <a:lnTo>
                    <a:pt x="749773" y="40528"/>
                  </a:lnTo>
                  <a:lnTo>
                    <a:pt x="504071" y="286231"/>
                  </a:lnTo>
                  <a:lnTo>
                    <a:pt x="255835" y="40528"/>
                  </a:lnTo>
                  <a:lnTo>
                    <a:pt x="20264" y="276099"/>
                  </a:lnTo>
                  <a:lnTo>
                    <a:pt x="0" y="258368"/>
                  </a:lnTo>
                  <a:lnTo>
                    <a:pt x="255835" y="0"/>
                  </a:lnTo>
                  <a:lnTo>
                    <a:pt x="504071" y="248236"/>
                  </a:lnTo>
                  <a:lnTo>
                    <a:pt x="749773" y="0"/>
                  </a:lnTo>
                  <a:lnTo>
                    <a:pt x="995476" y="248236"/>
                  </a:lnTo>
                  <a:lnTo>
                    <a:pt x="1243712" y="0"/>
                  </a:lnTo>
                  <a:lnTo>
                    <a:pt x="1489414" y="248236"/>
                  </a:lnTo>
                  <a:lnTo>
                    <a:pt x="1735117" y="0"/>
                  </a:lnTo>
                  <a:lnTo>
                    <a:pt x="1990952" y="258368"/>
                  </a:lnTo>
                  <a:lnTo>
                    <a:pt x="1973221" y="276099"/>
                  </a:lnTo>
                  <a:lnTo>
                    <a:pt x="1735117" y="40528"/>
                  </a:lnTo>
                  <a:close/>
                </a:path>
              </a:pathLst>
            </a:custGeom>
            <a:grpFill/>
            <a:ln w="25320" cap="flat">
              <a:noFill/>
              <a:prstDash val="solid"/>
              <a:miter/>
            </a:ln>
          </p:spPr>
          <p:txBody>
            <a:bodyPr rtlCol="0" anchor="ctr"/>
            <a:lstStyle/>
            <a:p>
              <a:endParaRPr lang="en-US"/>
            </a:p>
          </p:txBody>
        </p:sp>
      </p:grpSp>
      <p:sp>
        <p:nvSpPr>
          <p:cNvPr id="17" name="Oval 16">
            <a:extLst>
              <a:ext uri="{FF2B5EF4-FFF2-40B4-BE49-F238E27FC236}">
                <a16:creationId xmlns:a16="http://schemas.microsoft.com/office/drawing/2014/main" id="{89D16701-DA76-4F72-BB63-E2C3FFBDFE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6260" y="4752208"/>
            <a:ext cx="365021" cy="365021"/>
          </a:xfrm>
          <a:prstGeom prst="ellipse">
            <a:avLst/>
          </a:prstGeom>
          <a:solidFill>
            <a:srgbClr val="FFFFFF"/>
          </a:solidFill>
          <a:ln w="28575">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9" name="Oval 18">
            <a:extLst>
              <a:ext uri="{FF2B5EF4-FFF2-40B4-BE49-F238E27FC236}">
                <a16:creationId xmlns:a16="http://schemas.microsoft.com/office/drawing/2014/main" id="{1CC28BE1-9DC6-43FE-9582-39F091098D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6260" y="4752208"/>
            <a:ext cx="365021" cy="365021"/>
          </a:xfrm>
          <a:prstGeom prst="ellipse">
            <a:avLst/>
          </a:prstGeom>
          <a:solidFill>
            <a:schemeClr val="accent6">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21" name="Graphic 4">
            <a:extLst>
              <a:ext uri="{FF2B5EF4-FFF2-40B4-BE49-F238E27FC236}">
                <a16:creationId xmlns:a16="http://schemas.microsoft.com/office/drawing/2014/main" id="{AF9AF3F3-CE0C-4125-BDD7-346487FA0B4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109667" y="5539935"/>
            <a:ext cx="975169" cy="975171"/>
            <a:chOff x="5829300" y="3162300"/>
            <a:chExt cx="532256" cy="532257"/>
          </a:xfrm>
          <a:solidFill>
            <a:schemeClr val="bg1"/>
          </a:solidFill>
        </p:grpSpPr>
        <p:sp>
          <p:nvSpPr>
            <p:cNvPr id="22" name="Freeform: Shape 21">
              <a:extLst>
                <a:ext uri="{FF2B5EF4-FFF2-40B4-BE49-F238E27FC236}">
                  <a16:creationId xmlns:a16="http://schemas.microsoft.com/office/drawing/2014/main" id="{B31DFBFA-CF4D-4940-9086-26F83E5C6B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9208" y="3192208"/>
              <a:ext cx="112966" cy="112966"/>
            </a:xfrm>
            <a:custGeom>
              <a:avLst/>
              <a:gdLst>
                <a:gd name="connsiteX0" fmla="*/ 112967 w 112966"/>
                <a:gd name="connsiteY0" fmla="*/ 0 h 112966"/>
                <a:gd name="connsiteX1" fmla="*/ 0 w 112966"/>
                <a:gd name="connsiteY1" fmla="*/ 112967 h 112966"/>
                <a:gd name="connsiteX2" fmla="*/ 112967 w 112966"/>
                <a:gd name="connsiteY2" fmla="*/ 0 h 112966"/>
              </a:gdLst>
              <a:ahLst/>
              <a:cxnLst>
                <a:cxn ang="0">
                  <a:pos x="connsiteX0" y="connsiteY0"/>
                </a:cxn>
                <a:cxn ang="0">
                  <a:pos x="connsiteX1" y="connsiteY1"/>
                </a:cxn>
                <a:cxn ang="0">
                  <a:pos x="connsiteX2" y="connsiteY2"/>
                </a:cxn>
              </a:cxnLst>
              <a:rect l="l" t="t" r="r" b="b"/>
              <a:pathLst>
                <a:path w="112966" h="112966">
                  <a:moveTo>
                    <a:pt x="112967" y="0"/>
                  </a:moveTo>
                  <a:lnTo>
                    <a:pt x="0" y="112967"/>
                  </a:lnTo>
                  <a:cubicBezTo>
                    <a:pt x="25356" y="64747"/>
                    <a:pt x="64747" y="25356"/>
                    <a:pt x="112967" y="0"/>
                  </a:cubicBezTo>
                  <a:close/>
                </a:path>
              </a:pathLst>
            </a:custGeom>
            <a:grp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27854033-BD20-4C77-8C5B-048F4B3BDD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31205" y="3164205"/>
              <a:ext cx="230314" cy="230314"/>
            </a:xfrm>
            <a:custGeom>
              <a:avLst/>
              <a:gdLst>
                <a:gd name="connsiteX0" fmla="*/ 230314 w 230314"/>
                <a:gd name="connsiteY0" fmla="*/ 0 h 230314"/>
                <a:gd name="connsiteX1" fmla="*/ 0 w 230314"/>
                <a:gd name="connsiteY1" fmla="*/ 230314 h 230314"/>
                <a:gd name="connsiteX2" fmla="*/ 3524 w 230314"/>
                <a:gd name="connsiteY2" fmla="*/ 209550 h 230314"/>
                <a:gd name="connsiteX3" fmla="*/ 209550 w 230314"/>
                <a:gd name="connsiteY3" fmla="*/ 3524 h 230314"/>
                <a:gd name="connsiteX4" fmla="*/ 230314 w 230314"/>
                <a:gd name="connsiteY4" fmla="*/ 0 h 230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314" h="230314">
                  <a:moveTo>
                    <a:pt x="230314" y="0"/>
                  </a:moveTo>
                  <a:lnTo>
                    <a:pt x="0" y="230314"/>
                  </a:lnTo>
                  <a:cubicBezTo>
                    <a:pt x="953" y="223361"/>
                    <a:pt x="2095" y="216408"/>
                    <a:pt x="3524" y="209550"/>
                  </a:cubicBezTo>
                  <a:lnTo>
                    <a:pt x="209550" y="3524"/>
                  </a:lnTo>
                  <a:cubicBezTo>
                    <a:pt x="216408" y="2095"/>
                    <a:pt x="223361" y="953"/>
                    <a:pt x="230314" y="0"/>
                  </a:cubicBezTo>
                  <a:close/>
                </a:path>
              </a:pathLst>
            </a:custGeom>
            <a:grp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BC93AA74-BEB3-444F-835B-7AA6ECE617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29300" y="3162300"/>
              <a:ext cx="294131" cy="294131"/>
            </a:xfrm>
            <a:custGeom>
              <a:avLst/>
              <a:gdLst>
                <a:gd name="connsiteX0" fmla="*/ 294132 w 294131"/>
                <a:gd name="connsiteY0" fmla="*/ 1238 h 294131"/>
                <a:gd name="connsiteX1" fmla="*/ 1238 w 294131"/>
                <a:gd name="connsiteY1" fmla="*/ 294132 h 294131"/>
                <a:gd name="connsiteX2" fmla="*/ 0 w 294131"/>
                <a:gd name="connsiteY2" fmla="*/ 278225 h 294131"/>
                <a:gd name="connsiteX3" fmla="*/ 278225 w 294131"/>
                <a:gd name="connsiteY3" fmla="*/ 0 h 294131"/>
                <a:gd name="connsiteX4" fmla="*/ 294132 w 294131"/>
                <a:gd name="connsiteY4" fmla="*/ 1238 h 2941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4131" h="294131">
                  <a:moveTo>
                    <a:pt x="294132" y="1238"/>
                  </a:moveTo>
                  <a:lnTo>
                    <a:pt x="1238" y="294132"/>
                  </a:lnTo>
                  <a:cubicBezTo>
                    <a:pt x="667" y="288893"/>
                    <a:pt x="0" y="283559"/>
                    <a:pt x="0" y="278225"/>
                  </a:cubicBezTo>
                  <a:lnTo>
                    <a:pt x="278225" y="0"/>
                  </a:lnTo>
                  <a:cubicBezTo>
                    <a:pt x="283559" y="0"/>
                    <a:pt x="288893" y="667"/>
                    <a:pt x="294132" y="1238"/>
                  </a:cubicBezTo>
                  <a:close/>
                </a:path>
              </a:pathLst>
            </a:custGeom>
            <a:grp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F00DF1C9-6952-4704-B8B3-95406E18E4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37205" y="3170110"/>
              <a:ext cx="337184" cy="337280"/>
            </a:xfrm>
            <a:custGeom>
              <a:avLst/>
              <a:gdLst>
                <a:gd name="connsiteX0" fmla="*/ 337185 w 337184"/>
                <a:gd name="connsiteY0" fmla="*/ 3905 h 337280"/>
                <a:gd name="connsiteX1" fmla="*/ 3810 w 337184"/>
                <a:gd name="connsiteY1" fmla="*/ 337280 h 337280"/>
                <a:gd name="connsiteX2" fmla="*/ 0 w 337184"/>
                <a:gd name="connsiteY2" fmla="*/ 323850 h 337280"/>
                <a:gd name="connsiteX3" fmla="*/ 323850 w 337184"/>
                <a:gd name="connsiteY3" fmla="*/ 0 h 337280"/>
                <a:gd name="connsiteX4" fmla="*/ 337185 w 337184"/>
                <a:gd name="connsiteY4" fmla="*/ 3905 h 3372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7184" h="337280">
                  <a:moveTo>
                    <a:pt x="337185" y="3905"/>
                  </a:moveTo>
                  <a:lnTo>
                    <a:pt x="3810" y="337280"/>
                  </a:lnTo>
                  <a:cubicBezTo>
                    <a:pt x="2381" y="332899"/>
                    <a:pt x="1143" y="328422"/>
                    <a:pt x="0" y="323850"/>
                  </a:cubicBezTo>
                  <a:lnTo>
                    <a:pt x="323850" y="0"/>
                  </a:lnTo>
                  <a:cubicBezTo>
                    <a:pt x="328327" y="1715"/>
                    <a:pt x="332804" y="2477"/>
                    <a:pt x="337185" y="3905"/>
                  </a:cubicBezTo>
                  <a:close/>
                </a:path>
              </a:pathLst>
            </a:custGeom>
            <a:grpFill/>
            <a:ln w="9525"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B34783FD-297C-40D2-964B-DBAE4DE283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3207" y="3186207"/>
              <a:ext cx="364617" cy="364617"/>
            </a:xfrm>
            <a:custGeom>
              <a:avLst/>
              <a:gdLst>
                <a:gd name="connsiteX0" fmla="*/ 364617 w 364617"/>
                <a:gd name="connsiteY0" fmla="*/ 5620 h 364617"/>
                <a:gd name="connsiteX1" fmla="*/ 5620 w 364617"/>
                <a:gd name="connsiteY1" fmla="*/ 364617 h 364617"/>
                <a:gd name="connsiteX2" fmla="*/ 0 w 364617"/>
                <a:gd name="connsiteY2" fmla="*/ 353187 h 364617"/>
                <a:gd name="connsiteX3" fmla="*/ 353187 w 364617"/>
                <a:gd name="connsiteY3" fmla="*/ 0 h 364617"/>
                <a:gd name="connsiteX4" fmla="*/ 364617 w 364617"/>
                <a:gd name="connsiteY4" fmla="*/ 5620 h 36461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4617" h="364617">
                  <a:moveTo>
                    <a:pt x="364617" y="5620"/>
                  </a:moveTo>
                  <a:lnTo>
                    <a:pt x="5620" y="364617"/>
                  </a:lnTo>
                  <a:cubicBezTo>
                    <a:pt x="3620" y="360902"/>
                    <a:pt x="1715" y="357092"/>
                    <a:pt x="0" y="353187"/>
                  </a:cubicBezTo>
                  <a:lnTo>
                    <a:pt x="353187" y="0"/>
                  </a:lnTo>
                  <a:cubicBezTo>
                    <a:pt x="357092" y="1715"/>
                    <a:pt x="360902" y="3715"/>
                    <a:pt x="364617" y="5620"/>
                  </a:cubicBezTo>
                  <a:close/>
                </a:path>
              </a:pathLst>
            </a:custGeom>
            <a:grpFill/>
            <a:ln w="9525"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DE621623-0357-4FD5-A1AC-4005010259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75305" y="3208305"/>
              <a:ext cx="380238" cy="380238"/>
            </a:xfrm>
            <a:custGeom>
              <a:avLst/>
              <a:gdLst>
                <a:gd name="connsiteX0" fmla="*/ 380238 w 380238"/>
                <a:gd name="connsiteY0" fmla="*/ 7239 h 380238"/>
                <a:gd name="connsiteX1" fmla="*/ 7239 w 380238"/>
                <a:gd name="connsiteY1" fmla="*/ 380238 h 380238"/>
                <a:gd name="connsiteX2" fmla="*/ 0 w 380238"/>
                <a:gd name="connsiteY2" fmla="*/ 370713 h 380238"/>
                <a:gd name="connsiteX3" fmla="*/ 370237 w 380238"/>
                <a:gd name="connsiteY3" fmla="*/ 0 h 380238"/>
                <a:gd name="connsiteX4" fmla="*/ 380238 w 380238"/>
                <a:gd name="connsiteY4" fmla="*/ 7239 h 380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238" h="380238">
                  <a:moveTo>
                    <a:pt x="380238" y="7239"/>
                  </a:moveTo>
                  <a:lnTo>
                    <a:pt x="7239" y="380238"/>
                  </a:lnTo>
                  <a:cubicBezTo>
                    <a:pt x="4763" y="377000"/>
                    <a:pt x="2381" y="373571"/>
                    <a:pt x="0" y="370713"/>
                  </a:cubicBezTo>
                  <a:lnTo>
                    <a:pt x="370237" y="0"/>
                  </a:lnTo>
                  <a:cubicBezTo>
                    <a:pt x="373571" y="2381"/>
                    <a:pt x="377000" y="4763"/>
                    <a:pt x="380238" y="7239"/>
                  </a:cubicBezTo>
                  <a:close/>
                </a:path>
              </a:pathLst>
            </a:custGeom>
            <a:grpFill/>
            <a:ln w="9525"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024F346E-10A0-458F-A9CA-8C0079472F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02832" y="3235832"/>
              <a:ext cx="385191" cy="385191"/>
            </a:xfrm>
            <a:custGeom>
              <a:avLst/>
              <a:gdLst>
                <a:gd name="connsiteX0" fmla="*/ 380905 w 385191"/>
                <a:gd name="connsiteY0" fmla="*/ 4286 h 385191"/>
                <a:gd name="connsiteX1" fmla="*/ 385191 w 385191"/>
                <a:gd name="connsiteY1" fmla="*/ 8573 h 385191"/>
                <a:gd name="connsiteX2" fmla="*/ 8573 w 385191"/>
                <a:gd name="connsiteY2" fmla="*/ 385191 h 385191"/>
                <a:gd name="connsiteX3" fmla="*/ 4286 w 385191"/>
                <a:gd name="connsiteY3" fmla="*/ 380905 h 385191"/>
                <a:gd name="connsiteX4" fmla="*/ 0 w 385191"/>
                <a:gd name="connsiteY4" fmla="*/ 376523 h 385191"/>
                <a:gd name="connsiteX5" fmla="*/ 376523 w 385191"/>
                <a:gd name="connsiteY5" fmla="*/ 0 h 385191"/>
                <a:gd name="connsiteX6" fmla="*/ 380905 w 385191"/>
                <a:gd name="connsiteY6" fmla="*/ 4286 h 3851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5191" h="385191">
                  <a:moveTo>
                    <a:pt x="380905" y="4286"/>
                  </a:moveTo>
                  <a:lnTo>
                    <a:pt x="385191" y="8573"/>
                  </a:lnTo>
                  <a:lnTo>
                    <a:pt x="8573" y="385191"/>
                  </a:lnTo>
                  <a:lnTo>
                    <a:pt x="4286" y="380905"/>
                  </a:lnTo>
                  <a:cubicBezTo>
                    <a:pt x="2762" y="379476"/>
                    <a:pt x="1334" y="377952"/>
                    <a:pt x="0" y="376523"/>
                  </a:cubicBezTo>
                  <a:lnTo>
                    <a:pt x="376523" y="0"/>
                  </a:lnTo>
                  <a:cubicBezTo>
                    <a:pt x="377952" y="1334"/>
                    <a:pt x="379476" y="2667"/>
                    <a:pt x="380905" y="4286"/>
                  </a:cubicBezTo>
                  <a:close/>
                </a:path>
              </a:pathLst>
            </a:custGeom>
            <a:grpFill/>
            <a:ln w="9525"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7937A2F7-01A9-47F3-BED6-B61D998408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35789" y="3268313"/>
              <a:ext cx="379761" cy="380237"/>
            </a:xfrm>
            <a:custGeom>
              <a:avLst/>
              <a:gdLst>
                <a:gd name="connsiteX0" fmla="*/ 372428 w 379761"/>
                <a:gd name="connsiteY0" fmla="*/ 0 h 380237"/>
                <a:gd name="connsiteX1" fmla="*/ 379762 w 379761"/>
                <a:gd name="connsiteY1" fmla="*/ 9525 h 380237"/>
                <a:gd name="connsiteX2" fmla="*/ 9525 w 379761"/>
                <a:gd name="connsiteY2" fmla="*/ 380238 h 380237"/>
                <a:gd name="connsiteX3" fmla="*/ 0 w 379761"/>
                <a:gd name="connsiteY3" fmla="*/ 372904 h 380237"/>
              </a:gdLst>
              <a:ahLst/>
              <a:cxnLst>
                <a:cxn ang="0">
                  <a:pos x="connsiteX0" y="connsiteY0"/>
                </a:cxn>
                <a:cxn ang="0">
                  <a:pos x="connsiteX1" y="connsiteY1"/>
                </a:cxn>
                <a:cxn ang="0">
                  <a:pos x="connsiteX2" y="connsiteY2"/>
                </a:cxn>
                <a:cxn ang="0">
                  <a:pos x="connsiteX3" y="connsiteY3"/>
                </a:cxn>
              </a:cxnLst>
              <a:rect l="l" t="t" r="r" b="b"/>
              <a:pathLst>
                <a:path w="379761" h="380237">
                  <a:moveTo>
                    <a:pt x="372428" y="0"/>
                  </a:moveTo>
                  <a:cubicBezTo>
                    <a:pt x="374999" y="3239"/>
                    <a:pt x="377381" y="6572"/>
                    <a:pt x="379762" y="9525"/>
                  </a:cubicBezTo>
                  <a:lnTo>
                    <a:pt x="9525" y="380238"/>
                  </a:lnTo>
                  <a:cubicBezTo>
                    <a:pt x="6096" y="377857"/>
                    <a:pt x="2762" y="375476"/>
                    <a:pt x="0" y="372904"/>
                  </a:cubicBezTo>
                  <a:close/>
                </a:path>
              </a:pathLst>
            </a:custGeom>
            <a:grpFill/>
            <a:ln w="9525"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5B44DAF8-5073-441A-82E1-180385D35F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2841" y="3305841"/>
              <a:ext cx="364807" cy="364807"/>
            </a:xfrm>
            <a:custGeom>
              <a:avLst/>
              <a:gdLst>
                <a:gd name="connsiteX0" fmla="*/ 359188 w 364807"/>
                <a:gd name="connsiteY0" fmla="*/ 0 h 364807"/>
                <a:gd name="connsiteX1" fmla="*/ 364808 w 364807"/>
                <a:gd name="connsiteY1" fmla="*/ 11621 h 364807"/>
                <a:gd name="connsiteX2" fmla="*/ 11621 w 364807"/>
                <a:gd name="connsiteY2" fmla="*/ 364808 h 364807"/>
                <a:gd name="connsiteX3" fmla="*/ 0 w 364807"/>
                <a:gd name="connsiteY3" fmla="*/ 359188 h 364807"/>
              </a:gdLst>
              <a:ahLst/>
              <a:cxnLst>
                <a:cxn ang="0">
                  <a:pos x="connsiteX0" y="connsiteY0"/>
                </a:cxn>
                <a:cxn ang="0">
                  <a:pos x="connsiteX1" y="connsiteY1"/>
                </a:cxn>
                <a:cxn ang="0">
                  <a:pos x="connsiteX2" y="connsiteY2"/>
                </a:cxn>
                <a:cxn ang="0">
                  <a:pos x="connsiteX3" y="connsiteY3"/>
                </a:cxn>
              </a:cxnLst>
              <a:rect l="l" t="t" r="r" b="b"/>
              <a:pathLst>
                <a:path w="364807" h="364807">
                  <a:moveTo>
                    <a:pt x="359188" y="0"/>
                  </a:moveTo>
                  <a:cubicBezTo>
                    <a:pt x="361188" y="3905"/>
                    <a:pt x="362998" y="7715"/>
                    <a:pt x="364808" y="11621"/>
                  </a:cubicBezTo>
                  <a:lnTo>
                    <a:pt x="11621" y="364808"/>
                  </a:lnTo>
                  <a:cubicBezTo>
                    <a:pt x="7715" y="362998"/>
                    <a:pt x="3905" y="361188"/>
                    <a:pt x="0" y="359188"/>
                  </a:cubicBezTo>
                  <a:close/>
                </a:path>
              </a:pathLst>
            </a:custGeom>
            <a:grpFill/>
            <a:ln w="9525"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52B0413D-0E36-4A90-8E6A-9EDC676A60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16370" y="3349466"/>
              <a:ext cx="337280" cy="337280"/>
            </a:xfrm>
            <a:custGeom>
              <a:avLst/>
              <a:gdLst>
                <a:gd name="connsiteX0" fmla="*/ 333470 w 337280"/>
                <a:gd name="connsiteY0" fmla="*/ 0 h 337280"/>
                <a:gd name="connsiteX1" fmla="*/ 337280 w 337280"/>
                <a:gd name="connsiteY1" fmla="*/ 13430 h 337280"/>
                <a:gd name="connsiteX2" fmla="*/ 13430 w 337280"/>
                <a:gd name="connsiteY2" fmla="*/ 337280 h 337280"/>
                <a:gd name="connsiteX3" fmla="*/ 0 w 337280"/>
                <a:gd name="connsiteY3" fmla="*/ 333470 h 337280"/>
              </a:gdLst>
              <a:ahLst/>
              <a:cxnLst>
                <a:cxn ang="0">
                  <a:pos x="connsiteX0" y="connsiteY0"/>
                </a:cxn>
                <a:cxn ang="0">
                  <a:pos x="connsiteX1" y="connsiteY1"/>
                </a:cxn>
                <a:cxn ang="0">
                  <a:pos x="connsiteX2" y="connsiteY2"/>
                </a:cxn>
                <a:cxn ang="0">
                  <a:pos x="connsiteX3" y="connsiteY3"/>
                </a:cxn>
              </a:cxnLst>
              <a:rect l="l" t="t" r="r" b="b"/>
              <a:pathLst>
                <a:path w="337280" h="337280">
                  <a:moveTo>
                    <a:pt x="333470" y="0"/>
                  </a:moveTo>
                  <a:cubicBezTo>
                    <a:pt x="334899" y="4382"/>
                    <a:pt x="336137" y="8858"/>
                    <a:pt x="337280" y="13430"/>
                  </a:cubicBezTo>
                  <a:lnTo>
                    <a:pt x="13430" y="337280"/>
                  </a:lnTo>
                  <a:cubicBezTo>
                    <a:pt x="8858" y="336137"/>
                    <a:pt x="4382" y="334899"/>
                    <a:pt x="0" y="333470"/>
                  </a:cubicBezTo>
                  <a:close/>
                </a:path>
              </a:pathLst>
            </a:custGeom>
            <a:grpFill/>
            <a:ln w="9525"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86059ECF-0D50-48AD-B67A-645EC29D33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67329" y="3400425"/>
              <a:ext cx="294227" cy="294132"/>
            </a:xfrm>
            <a:custGeom>
              <a:avLst/>
              <a:gdLst>
                <a:gd name="connsiteX0" fmla="*/ 292989 w 294227"/>
                <a:gd name="connsiteY0" fmla="*/ 0 h 294132"/>
                <a:gd name="connsiteX1" fmla="*/ 294227 w 294227"/>
                <a:gd name="connsiteY1" fmla="*/ 15907 h 294132"/>
                <a:gd name="connsiteX2" fmla="*/ 15907 w 294227"/>
                <a:gd name="connsiteY2" fmla="*/ 294132 h 294132"/>
                <a:gd name="connsiteX3" fmla="*/ 0 w 294227"/>
                <a:gd name="connsiteY3" fmla="*/ 292894 h 294132"/>
              </a:gdLst>
              <a:ahLst/>
              <a:cxnLst>
                <a:cxn ang="0">
                  <a:pos x="connsiteX0" y="connsiteY0"/>
                </a:cxn>
                <a:cxn ang="0">
                  <a:pos x="connsiteX1" y="connsiteY1"/>
                </a:cxn>
                <a:cxn ang="0">
                  <a:pos x="connsiteX2" y="connsiteY2"/>
                </a:cxn>
                <a:cxn ang="0">
                  <a:pos x="connsiteX3" y="connsiteY3"/>
                </a:cxn>
              </a:cxnLst>
              <a:rect l="l" t="t" r="r" b="b"/>
              <a:pathLst>
                <a:path w="294227" h="294132">
                  <a:moveTo>
                    <a:pt x="292989" y="0"/>
                  </a:moveTo>
                  <a:cubicBezTo>
                    <a:pt x="293561" y="5334"/>
                    <a:pt x="293942" y="10668"/>
                    <a:pt x="294227" y="15907"/>
                  </a:cubicBezTo>
                  <a:lnTo>
                    <a:pt x="15907" y="294132"/>
                  </a:lnTo>
                  <a:cubicBezTo>
                    <a:pt x="10668" y="294132"/>
                    <a:pt x="5334" y="293465"/>
                    <a:pt x="0" y="292894"/>
                  </a:cubicBezTo>
                  <a:close/>
                </a:path>
              </a:pathLst>
            </a:custGeom>
            <a:grpFill/>
            <a:ln w="9525"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B394906F-6BF2-447E-9886-F12708E128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29337" y="3462337"/>
              <a:ext cx="230314" cy="230314"/>
            </a:xfrm>
            <a:custGeom>
              <a:avLst/>
              <a:gdLst>
                <a:gd name="connsiteX0" fmla="*/ 230315 w 230314"/>
                <a:gd name="connsiteY0" fmla="*/ 0 h 230314"/>
                <a:gd name="connsiteX1" fmla="*/ 226886 w 230314"/>
                <a:gd name="connsiteY1" fmla="*/ 20574 h 230314"/>
                <a:gd name="connsiteX2" fmla="*/ 20669 w 230314"/>
                <a:gd name="connsiteY2" fmla="*/ 226790 h 230314"/>
                <a:gd name="connsiteX3" fmla="*/ 0 w 230314"/>
                <a:gd name="connsiteY3" fmla="*/ 230315 h 230314"/>
              </a:gdLst>
              <a:ahLst/>
              <a:cxnLst>
                <a:cxn ang="0">
                  <a:pos x="connsiteX0" y="connsiteY0"/>
                </a:cxn>
                <a:cxn ang="0">
                  <a:pos x="connsiteX1" y="connsiteY1"/>
                </a:cxn>
                <a:cxn ang="0">
                  <a:pos x="connsiteX2" y="connsiteY2"/>
                </a:cxn>
                <a:cxn ang="0">
                  <a:pos x="connsiteX3" y="connsiteY3"/>
                </a:cxn>
              </a:cxnLst>
              <a:rect l="l" t="t" r="r" b="b"/>
              <a:pathLst>
                <a:path w="230314" h="230314">
                  <a:moveTo>
                    <a:pt x="230315" y="0"/>
                  </a:moveTo>
                  <a:cubicBezTo>
                    <a:pt x="229457" y="6953"/>
                    <a:pt x="228314" y="13716"/>
                    <a:pt x="226886" y="20574"/>
                  </a:cubicBezTo>
                  <a:lnTo>
                    <a:pt x="20669" y="226790"/>
                  </a:lnTo>
                  <a:cubicBezTo>
                    <a:pt x="13811" y="228314"/>
                    <a:pt x="6953" y="229457"/>
                    <a:pt x="0" y="230315"/>
                  </a:cubicBezTo>
                  <a:close/>
                </a:path>
              </a:pathLst>
            </a:custGeom>
            <a:grpFill/>
            <a:ln w="9525"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A45EB96B-215A-4EBF-A594-2B08222339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18682" y="3551682"/>
              <a:ext cx="112871" cy="112871"/>
            </a:xfrm>
            <a:custGeom>
              <a:avLst/>
              <a:gdLst>
                <a:gd name="connsiteX0" fmla="*/ 112871 w 112871"/>
                <a:gd name="connsiteY0" fmla="*/ 0 h 112871"/>
                <a:gd name="connsiteX1" fmla="*/ 0 w 112871"/>
                <a:gd name="connsiteY1" fmla="*/ 112871 h 112871"/>
              </a:gdLst>
              <a:ahLst/>
              <a:cxnLst>
                <a:cxn ang="0">
                  <a:pos x="connsiteX0" y="connsiteY0"/>
                </a:cxn>
                <a:cxn ang="0">
                  <a:pos x="connsiteX1" y="connsiteY1"/>
                </a:cxn>
              </a:cxnLst>
              <a:rect l="l" t="t" r="r" b="b"/>
              <a:pathLst>
                <a:path w="112871" h="112871">
                  <a:moveTo>
                    <a:pt x="112871" y="0"/>
                  </a:moveTo>
                  <a:cubicBezTo>
                    <a:pt x="87618" y="48239"/>
                    <a:pt x="48239" y="87618"/>
                    <a:pt x="0" y="112871"/>
                  </a:cubicBezTo>
                  <a:close/>
                </a:path>
              </a:pathLst>
            </a:custGeom>
            <a:grpFill/>
            <a:ln w="9525" cap="flat">
              <a:noFill/>
              <a:prstDash val="solid"/>
              <a:miter/>
            </a:ln>
          </p:spPr>
          <p:txBody>
            <a:bodyPr rtlCol="0" anchor="ctr"/>
            <a:lstStyle/>
            <a:p>
              <a:endParaRPr lang="en-US" dirty="0"/>
            </a:p>
          </p:txBody>
        </p:sp>
      </p:grpSp>
      <p:graphicFrame>
        <p:nvGraphicFramePr>
          <p:cNvPr id="5" name="Content Placeholder 2">
            <a:extLst>
              <a:ext uri="{FF2B5EF4-FFF2-40B4-BE49-F238E27FC236}">
                <a16:creationId xmlns:a16="http://schemas.microsoft.com/office/drawing/2014/main" id="{803F3670-0913-A080-CEDA-0BB4E963D1E2}"/>
              </a:ext>
            </a:extLst>
          </p:cNvPr>
          <p:cNvGraphicFramePr>
            <a:graphicFrameLocks noGrp="1"/>
          </p:cNvGraphicFramePr>
          <p:nvPr>
            <p:ph idx="1"/>
            <p:extLst>
              <p:ext uri="{D42A27DB-BD31-4B8C-83A1-F6EECF244321}">
                <p14:modId xmlns:p14="http://schemas.microsoft.com/office/powerpoint/2010/main" val="806149147"/>
              </p:ext>
            </p:extLst>
          </p:nvPr>
        </p:nvGraphicFramePr>
        <p:xfrm>
          <a:off x="5484139" y="477540"/>
          <a:ext cx="6301601" cy="587880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155849773"/>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C5E6CFF1-2F42-4E10-9A97-F116F46F53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Sticky notes with question marks">
            <a:extLst>
              <a:ext uri="{FF2B5EF4-FFF2-40B4-BE49-F238E27FC236}">
                <a16:creationId xmlns:a16="http://schemas.microsoft.com/office/drawing/2014/main" id="{ED0A3D34-3466-1667-4023-C579C1D2EEF3}"/>
              </a:ext>
            </a:extLst>
          </p:cNvPr>
          <p:cNvPicPr>
            <a:picLocks noChangeAspect="1"/>
          </p:cNvPicPr>
          <p:nvPr/>
        </p:nvPicPr>
        <p:blipFill rotWithShape="1">
          <a:blip r:embed="rId3">
            <a:alphaModFix amt="35000"/>
          </a:blip>
          <a:srcRect t="8477" b="7253"/>
          <a:stretch/>
        </p:blipFill>
        <p:spPr>
          <a:xfrm>
            <a:off x="20" y="1"/>
            <a:ext cx="12191980" cy="6857999"/>
          </a:xfrm>
          <a:prstGeom prst="rect">
            <a:avLst/>
          </a:prstGeom>
        </p:spPr>
      </p:pic>
      <p:sp>
        <p:nvSpPr>
          <p:cNvPr id="2" name="Title 1">
            <a:extLst>
              <a:ext uri="{FF2B5EF4-FFF2-40B4-BE49-F238E27FC236}">
                <a16:creationId xmlns:a16="http://schemas.microsoft.com/office/drawing/2014/main" id="{DA799854-F636-B788-B4EE-707EB702C1F6}"/>
              </a:ext>
            </a:extLst>
          </p:cNvPr>
          <p:cNvSpPr>
            <a:spLocks noGrp="1"/>
          </p:cNvSpPr>
          <p:nvPr>
            <p:ph type="title"/>
          </p:nvPr>
        </p:nvSpPr>
        <p:spPr>
          <a:xfrm>
            <a:off x="838199" y="1065862"/>
            <a:ext cx="6052955" cy="4726276"/>
          </a:xfrm>
        </p:spPr>
        <p:txBody>
          <a:bodyPr>
            <a:normAutofit/>
          </a:bodyPr>
          <a:lstStyle/>
          <a:p>
            <a:pPr algn="r"/>
            <a:r>
              <a:rPr lang="en-US" sz="8000" dirty="0">
                <a:ln w="22225">
                  <a:solidFill>
                    <a:srgbClr val="FFFFFF"/>
                  </a:solidFill>
                </a:ln>
                <a:noFill/>
              </a:rPr>
              <a:t>“No” Oriented Questions</a:t>
            </a:r>
          </a:p>
        </p:txBody>
      </p:sp>
      <p:cxnSp>
        <p:nvCxnSpPr>
          <p:cNvPr id="23" name="Straight Connector 22">
            <a:extLst>
              <a:ext uri="{FF2B5EF4-FFF2-40B4-BE49-F238E27FC236}">
                <a16:creationId xmlns:a16="http://schemas.microsoft.com/office/drawing/2014/main" id="{96A8629B-8289-498B-939B-1CA0C106182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212899" y="2286000"/>
            <a:ext cx="0" cy="2286000"/>
          </a:xfrm>
          <a:prstGeom prst="line">
            <a:avLst/>
          </a:prstGeom>
          <a:ln w="15875">
            <a:solidFill>
              <a:srgbClr val="FFFFFF"/>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3934430C-B6A2-EED1-8ABE-DF33516E1A96}"/>
              </a:ext>
            </a:extLst>
          </p:cNvPr>
          <p:cNvSpPr>
            <a:spLocks noGrp="1"/>
          </p:cNvSpPr>
          <p:nvPr>
            <p:ph idx="1"/>
          </p:nvPr>
        </p:nvSpPr>
        <p:spPr>
          <a:xfrm>
            <a:off x="7534640" y="1065862"/>
            <a:ext cx="4161172" cy="4726276"/>
          </a:xfrm>
        </p:spPr>
        <p:txBody>
          <a:bodyPr anchor="ctr">
            <a:normAutofit/>
          </a:bodyPr>
          <a:lstStyle/>
          <a:p>
            <a:pPr>
              <a:buFont typeface="Arial" panose="020B0604020202020204" pitchFamily="34" charset="0"/>
              <a:buChar char="•"/>
            </a:pPr>
            <a:r>
              <a:rPr lang="en-AU" sz="2400" b="0" i="0" dirty="0">
                <a:solidFill>
                  <a:srgbClr val="FFFFFF"/>
                </a:solidFill>
                <a:effectLst/>
                <a:latin typeface="system-ui"/>
              </a:rPr>
              <a:t>Have you given up on... ?</a:t>
            </a:r>
          </a:p>
          <a:p>
            <a:pPr>
              <a:buFont typeface="Arial" panose="020B0604020202020204" pitchFamily="34" charset="0"/>
              <a:buChar char="•"/>
            </a:pPr>
            <a:r>
              <a:rPr lang="en-AU" sz="2400" b="0" i="0" dirty="0">
                <a:solidFill>
                  <a:srgbClr val="FFFFFF"/>
                </a:solidFill>
                <a:effectLst/>
                <a:latin typeface="system-ui"/>
              </a:rPr>
              <a:t>Is it ridiculous... ?</a:t>
            </a:r>
          </a:p>
          <a:p>
            <a:pPr>
              <a:buFont typeface="Arial" panose="020B0604020202020204" pitchFamily="34" charset="0"/>
              <a:buChar char="•"/>
            </a:pPr>
            <a:r>
              <a:rPr lang="en-AU" sz="2400" b="0" i="0" dirty="0">
                <a:solidFill>
                  <a:srgbClr val="FFFFFF"/>
                </a:solidFill>
                <a:effectLst/>
                <a:latin typeface="system-ui"/>
              </a:rPr>
              <a:t>Would it be horrible... ?</a:t>
            </a:r>
          </a:p>
          <a:p>
            <a:pPr>
              <a:buFont typeface="Arial" panose="020B0604020202020204" pitchFamily="34" charset="0"/>
              <a:buChar char="•"/>
            </a:pPr>
            <a:r>
              <a:rPr lang="en-AU" sz="2400" b="0" i="0" dirty="0">
                <a:solidFill>
                  <a:srgbClr val="FFFFFF"/>
                </a:solidFill>
                <a:effectLst/>
                <a:latin typeface="system-ui"/>
              </a:rPr>
              <a:t>Is it a bad idea... ?</a:t>
            </a:r>
          </a:p>
          <a:p>
            <a:pPr marL="0" indent="0">
              <a:buNone/>
            </a:pPr>
            <a:endParaRPr lang="en-AU" sz="2400" dirty="0">
              <a:solidFill>
                <a:srgbClr val="FFFFFF"/>
              </a:solidFill>
              <a:latin typeface="system-ui"/>
            </a:endParaRPr>
          </a:p>
          <a:p>
            <a:r>
              <a:rPr lang="en-AU" sz="2400" b="0" i="0" dirty="0">
                <a:solidFill>
                  <a:srgbClr val="FFFFFF"/>
                </a:solidFill>
                <a:effectLst/>
                <a:latin typeface="system-ui"/>
              </a:rPr>
              <a:t>Is now a bad time to talk… ?</a:t>
            </a:r>
          </a:p>
        </p:txBody>
      </p:sp>
    </p:spTree>
    <p:extLst>
      <p:ext uri="{BB962C8B-B14F-4D97-AF65-F5344CB8AC3E}">
        <p14:creationId xmlns:p14="http://schemas.microsoft.com/office/powerpoint/2010/main" val="418232828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86" name="!!Rectangle">
            <a:extLst>
              <a:ext uri="{FF2B5EF4-FFF2-40B4-BE49-F238E27FC236}">
                <a16:creationId xmlns:a16="http://schemas.microsoft.com/office/drawing/2014/main" id="{7C432AFE-B3D2-4BFF-BF8F-96C27AFF1A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descr="6 Reasons To Stop Being Afraid of Tax Audits">
            <a:extLst>
              <a:ext uri="{FF2B5EF4-FFF2-40B4-BE49-F238E27FC236}">
                <a16:creationId xmlns:a16="http://schemas.microsoft.com/office/drawing/2014/main" id="{40537A35-7B46-E546-9563-2A5EC312BF46}"/>
              </a:ext>
            </a:extLst>
          </p:cNvPr>
          <p:cNvPicPr>
            <a:picLocks noChangeAspect="1" noChangeArrowheads="1"/>
          </p:cNvPicPr>
          <p:nvPr/>
        </p:nvPicPr>
        <p:blipFill rotWithShape="1">
          <a:blip r:embed="rId3">
            <a:alphaModFix amt="20000"/>
            <a:extLst>
              <a:ext uri="{28A0092B-C50C-407E-A947-70E740481C1C}">
                <a14:useLocalDpi xmlns:a14="http://schemas.microsoft.com/office/drawing/2010/main" val="0"/>
              </a:ext>
            </a:extLst>
          </a:blip>
          <a:srcRect/>
          <a:stretch/>
        </p:blipFill>
        <p:spPr bwMode="auto">
          <a:xfrm>
            <a:off x="21" y="10"/>
            <a:ext cx="12191979" cy="685799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E6B9FC61-C8DA-3CA6-942B-65CA0B42D62F}"/>
              </a:ext>
            </a:extLst>
          </p:cNvPr>
          <p:cNvSpPr>
            <a:spLocks noGrp="1"/>
          </p:cNvSpPr>
          <p:nvPr>
            <p:ph type="title"/>
          </p:nvPr>
        </p:nvSpPr>
        <p:spPr>
          <a:xfrm>
            <a:off x="841249" y="941832"/>
            <a:ext cx="10506456" cy="2057400"/>
          </a:xfrm>
        </p:spPr>
        <p:txBody>
          <a:bodyPr anchor="b">
            <a:normAutofit/>
          </a:bodyPr>
          <a:lstStyle/>
          <a:p>
            <a:r>
              <a:rPr lang="en-US" sz="5000">
                <a:solidFill>
                  <a:schemeClr val="bg1"/>
                </a:solidFill>
              </a:rPr>
              <a:t>Accusations Audit </a:t>
            </a:r>
            <a:endParaRPr lang="en-US" sz="5000" dirty="0">
              <a:solidFill>
                <a:schemeClr val="bg1"/>
              </a:solidFill>
            </a:endParaRPr>
          </a:p>
        </p:txBody>
      </p:sp>
      <p:sp>
        <p:nvSpPr>
          <p:cNvPr id="2087" name="Rectangle 2086">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0140"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085" name="Rectangle 2084">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1248" y="3241202"/>
            <a:ext cx="10506456" cy="18288"/>
          </a:xfrm>
          <a:prstGeom prst="rect">
            <a:avLst/>
          </a:prstGeom>
          <a:solidFill>
            <a:schemeClr val="bg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61E32CA4-0115-EE66-1E59-75C536AAA50A}"/>
              </a:ext>
            </a:extLst>
          </p:cNvPr>
          <p:cNvSpPr>
            <a:spLocks noGrp="1"/>
          </p:cNvSpPr>
          <p:nvPr>
            <p:ph idx="1"/>
          </p:nvPr>
        </p:nvSpPr>
        <p:spPr>
          <a:xfrm>
            <a:off x="841248" y="3502152"/>
            <a:ext cx="10506456" cy="2670048"/>
          </a:xfrm>
        </p:spPr>
        <p:txBody>
          <a:bodyPr>
            <a:normAutofit fontScale="92500" lnSpcReduction="20000"/>
          </a:bodyPr>
          <a:lstStyle/>
          <a:p>
            <a:r>
              <a:rPr lang="en-US" sz="3200" dirty="0">
                <a:solidFill>
                  <a:schemeClr val="bg1"/>
                </a:solidFill>
              </a:rPr>
              <a:t>Proactively addressing negative emotions</a:t>
            </a:r>
          </a:p>
          <a:p>
            <a:pPr lvl="1"/>
            <a:r>
              <a:rPr lang="en-US" sz="3200" dirty="0">
                <a:solidFill>
                  <a:schemeClr val="bg1"/>
                </a:solidFill>
              </a:rPr>
              <a:t>All negative</a:t>
            </a:r>
          </a:p>
          <a:p>
            <a:pPr lvl="1"/>
            <a:r>
              <a:rPr lang="en-US" sz="3600" dirty="0">
                <a:solidFill>
                  <a:schemeClr val="bg1"/>
                </a:solidFill>
              </a:rPr>
              <a:t>Fair or Unfair</a:t>
            </a:r>
          </a:p>
          <a:p>
            <a:pPr lvl="1"/>
            <a:r>
              <a:rPr lang="en-US" sz="3600" dirty="0">
                <a:solidFill>
                  <a:schemeClr val="bg1"/>
                </a:solidFill>
              </a:rPr>
              <a:t>True or Untrue</a:t>
            </a:r>
          </a:p>
          <a:p>
            <a:r>
              <a:rPr lang="en-US" sz="3200" dirty="0">
                <a:solidFill>
                  <a:schemeClr val="bg1"/>
                </a:solidFill>
              </a:rPr>
              <a:t>Structure</a:t>
            </a:r>
          </a:p>
          <a:p>
            <a:pPr lvl="1"/>
            <a:r>
              <a:rPr lang="en-US" sz="3200" dirty="0">
                <a:solidFill>
                  <a:schemeClr val="bg1"/>
                </a:solidFill>
              </a:rPr>
              <a:t>You may, You might, You probably</a:t>
            </a:r>
          </a:p>
        </p:txBody>
      </p:sp>
    </p:spTree>
    <p:extLst>
      <p:ext uri="{BB962C8B-B14F-4D97-AF65-F5344CB8AC3E}">
        <p14:creationId xmlns:p14="http://schemas.microsoft.com/office/powerpoint/2010/main" val="2016635474"/>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102" name="Rectangle 3101">
            <a:extLst>
              <a:ext uri="{FF2B5EF4-FFF2-40B4-BE49-F238E27FC236}">
                <a16:creationId xmlns:a16="http://schemas.microsoft.com/office/drawing/2014/main" id="{665DBBEF-238B-476B-96AB-8AAC3224EC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CA7D821-9B8E-CECB-77BB-8D96AADCC8E9}"/>
              </a:ext>
            </a:extLst>
          </p:cNvPr>
          <p:cNvSpPr>
            <a:spLocks noGrp="1"/>
          </p:cNvSpPr>
          <p:nvPr>
            <p:ph type="title"/>
          </p:nvPr>
        </p:nvSpPr>
        <p:spPr>
          <a:xfrm>
            <a:off x="638882" y="639193"/>
            <a:ext cx="3571810" cy="3573516"/>
          </a:xfrm>
          <a:prstGeom prst="ellipse">
            <a:avLst/>
          </a:prstGeom>
        </p:spPr>
        <p:txBody>
          <a:bodyPr vert="horz" lIns="91440" tIns="45720" rIns="91440" bIns="45720" rtlCol="0" anchor="b">
            <a:normAutofit/>
          </a:bodyPr>
          <a:lstStyle/>
          <a:p>
            <a:r>
              <a:rPr lang="en-US" sz="5600" kern="1200">
                <a:solidFill>
                  <a:schemeClr val="tx1"/>
                </a:solidFill>
                <a:latin typeface="+mj-lt"/>
                <a:ea typeface="+mj-ea"/>
                <a:cs typeface="+mj-cs"/>
              </a:rPr>
              <a:t>That’s Right</a:t>
            </a:r>
            <a:br>
              <a:rPr lang="en-US" sz="5600" b="1" i="0" kern="1200">
                <a:solidFill>
                  <a:schemeClr val="tx1"/>
                </a:solidFill>
                <a:effectLst/>
                <a:latin typeface="+mj-lt"/>
                <a:ea typeface="+mj-ea"/>
                <a:cs typeface="+mj-cs"/>
              </a:rPr>
            </a:br>
            <a:endParaRPr lang="en-US" sz="5600" kern="1200">
              <a:solidFill>
                <a:schemeClr val="tx1"/>
              </a:solidFill>
              <a:latin typeface="+mj-lt"/>
              <a:ea typeface="+mj-ea"/>
              <a:cs typeface="+mj-cs"/>
            </a:endParaRPr>
          </a:p>
        </p:txBody>
      </p:sp>
      <p:sp>
        <p:nvSpPr>
          <p:cNvPr id="3085" name="Content Placeholder 3084">
            <a:extLst>
              <a:ext uri="{FF2B5EF4-FFF2-40B4-BE49-F238E27FC236}">
                <a16:creationId xmlns:a16="http://schemas.microsoft.com/office/drawing/2014/main" id="{E90E3A0A-802B-74D4-7379-09D91A4964CA}"/>
              </a:ext>
            </a:extLst>
          </p:cNvPr>
          <p:cNvSpPr>
            <a:spLocks noGrp="1"/>
          </p:cNvSpPr>
          <p:nvPr>
            <p:ph idx="1"/>
          </p:nvPr>
        </p:nvSpPr>
        <p:spPr>
          <a:xfrm>
            <a:off x="638882" y="4631161"/>
            <a:ext cx="3571810" cy="1559327"/>
          </a:xfrm>
        </p:spPr>
        <p:txBody>
          <a:bodyPr vert="horz" lIns="91440" tIns="45720" rIns="91440" bIns="45720" rtlCol="0">
            <a:normAutofit fontScale="92500" lnSpcReduction="20000"/>
          </a:bodyPr>
          <a:lstStyle/>
          <a:p>
            <a:pPr marL="0" indent="0">
              <a:buNone/>
            </a:pPr>
            <a:r>
              <a:rPr lang="en-US" sz="3200" b="1" i="0" kern="1200" dirty="0">
                <a:solidFill>
                  <a:schemeClr val="tx1"/>
                </a:solidFill>
                <a:effectLst/>
                <a:latin typeface="+mn-lt"/>
                <a:ea typeface="+mn-ea"/>
                <a:cs typeface="+mn-cs"/>
              </a:rPr>
              <a:t>How your Grandmother wanted you to treat other people.</a:t>
            </a:r>
            <a:endParaRPr lang="en-US" sz="3200" kern="1200" dirty="0">
              <a:solidFill>
                <a:schemeClr val="tx1"/>
              </a:solidFill>
              <a:latin typeface="+mn-lt"/>
              <a:ea typeface="+mn-ea"/>
              <a:cs typeface="+mn-cs"/>
            </a:endParaRPr>
          </a:p>
        </p:txBody>
      </p:sp>
      <p:sp>
        <p:nvSpPr>
          <p:cNvPr id="3103" name="sketch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4409267"/>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74" name="Picture 2" descr="negotiation training">
            <a:extLst>
              <a:ext uri="{FF2B5EF4-FFF2-40B4-BE49-F238E27FC236}">
                <a16:creationId xmlns:a16="http://schemas.microsoft.com/office/drawing/2014/main" id="{A8759503-FCE6-2682-420C-80779048021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572" t="1529" r="6916" b="7557"/>
          <a:stretch/>
        </p:blipFill>
        <p:spPr bwMode="auto">
          <a:xfrm>
            <a:off x="4210692" y="1029042"/>
            <a:ext cx="7867302" cy="45117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16634459"/>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1" name="Rectangle 1030">
            <a:extLst>
              <a:ext uri="{FF2B5EF4-FFF2-40B4-BE49-F238E27FC236}">
                <a16:creationId xmlns:a16="http://schemas.microsoft.com/office/drawing/2014/main" id="{F13C74B1-5B17-4795-BED0-7140497B44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8D8947C-76A7-EF66-49F6-4843424DBAAE}"/>
              </a:ext>
            </a:extLst>
          </p:cNvPr>
          <p:cNvSpPr>
            <a:spLocks noGrp="1"/>
          </p:cNvSpPr>
          <p:nvPr>
            <p:ph type="title"/>
          </p:nvPr>
        </p:nvSpPr>
        <p:spPr>
          <a:xfrm>
            <a:off x="640080" y="325369"/>
            <a:ext cx="4368602" cy="1956841"/>
          </a:xfrm>
        </p:spPr>
        <p:txBody>
          <a:bodyPr anchor="b">
            <a:normAutofit/>
          </a:bodyPr>
          <a:lstStyle/>
          <a:p>
            <a:r>
              <a:rPr lang="en-AU" sz="5400"/>
              <a:t>Never Split the Difference</a:t>
            </a:r>
          </a:p>
        </p:txBody>
      </p:sp>
      <p:sp>
        <p:nvSpPr>
          <p:cNvPr id="1033" name="sketchy line">
            <a:extLst>
              <a:ext uri="{FF2B5EF4-FFF2-40B4-BE49-F238E27FC236}">
                <a16:creationId xmlns:a16="http://schemas.microsoft.com/office/drawing/2014/main" id="{D4974D33-8DC5-464E-8C6D-BE58F0669C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80" y="2586994"/>
            <a:ext cx="3474720" cy="18288"/>
          </a:xfrm>
          <a:custGeom>
            <a:avLst/>
            <a:gdLst>
              <a:gd name="csX0" fmla="*/ 0 w 3474720"/>
              <a:gd name="csY0" fmla="*/ 0 h 18288"/>
              <a:gd name="csX1" fmla="*/ 694944 w 3474720"/>
              <a:gd name="csY1" fmla="*/ 0 h 18288"/>
              <a:gd name="csX2" fmla="*/ 1355141 w 3474720"/>
              <a:gd name="csY2" fmla="*/ 0 h 18288"/>
              <a:gd name="csX3" fmla="*/ 2015338 w 3474720"/>
              <a:gd name="csY3" fmla="*/ 0 h 18288"/>
              <a:gd name="csX4" fmla="*/ 2779776 w 3474720"/>
              <a:gd name="csY4" fmla="*/ 0 h 18288"/>
              <a:gd name="csX5" fmla="*/ 3474720 w 3474720"/>
              <a:gd name="csY5" fmla="*/ 0 h 18288"/>
              <a:gd name="csX6" fmla="*/ 3474720 w 3474720"/>
              <a:gd name="csY6" fmla="*/ 18288 h 18288"/>
              <a:gd name="csX7" fmla="*/ 2779776 w 3474720"/>
              <a:gd name="csY7" fmla="*/ 18288 h 18288"/>
              <a:gd name="csX8" fmla="*/ 2189074 w 3474720"/>
              <a:gd name="csY8" fmla="*/ 18288 h 18288"/>
              <a:gd name="csX9" fmla="*/ 1528877 w 3474720"/>
              <a:gd name="csY9" fmla="*/ 18288 h 18288"/>
              <a:gd name="csX10" fmla="*/ 868680 w 3474720"/>
              <a:gd name="csY10" fmla="*/ 18288 h 18288"/>
              <a:gd name="csX11" fmla="*/ 0 w 3474720"/>
              <a:gd name="csY11" fmla="*/ 18288 h 18288"/>
              <a:gd name="csX12" fmla="*/ 0 w 3474720"/>
              <a:gd name="csY12"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stroke="0"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8158BE7B-DB99-0162-5265-9905EEB009F9}"/>
              </a:ext>
            </a:extLst>
          </p:cNvPr>
          <p:cNvSpPr>
            <a:spLocks noGrp="1"/>
          </p:cNvSpPr>
          <p:nvPr>
            <p:ph idx="1"/>
          </p:nvPr>
        </p:nvSpPr>
        <p:spPr>
          <a:xfrm>
            <a:off x="640080" y="2872899"/>
            <a:ext cx="4243589" cy="3320668"/>
          </a:xfrm>
        </p:spPr>
        <p:txBody>
          <a:bodyPr>
            <a:normAutofit/>
          </a:bodyPr>
          <a:lstStyle/>
          <a:p>
            <a:r>
              <a:rPr lang="en-AU" dirty="0"/>
              <a:t>Suckers Move</a:t>
            </a:r>
          </a:p>
          <a:p>
            <a:r>
              <a:rPr lang="en-AU" dirty="0"/>
              <a:t>Fools Move</a:t>
            </a:r>
          </a:p>
        </p:txBody>
      </p:sp>
      <p:pic>
        <p:nvPicPr>
          <p:cNvPr id="1026" name="Picture 2" descr="19 ways to improve your negotiation skills: “Never Split the Difference”  summary">
            <a:extLst>
              <a:ext uri="{FF2B5EF4-FFF2-40B4-BE49-F238E27FC236}">
                <a16:creationId xmlns:a16="http://schemas.microsoft.com/office/drawing/2014/main" id="{604F01E3-CB33-F8B6-6A1D-0CB4C9E2D695}"/>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6757" r="-1" b="8469"/>
          <a:stretch/>
        </p:blipFill>
        <p:spPr bwMode="auto">
          <a:xfrm>
            <a:off x="5311702"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56292798"/>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DBC8166-481C-4473-95F5-9A5B9073B7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A5A5CE6E-90AF-4D43-A014-1F9EC83EB9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4512467" cy="6858000"/>
          </a:xfrm>
          <a:custGeom>
            <a:avLst/>
            <a:gdLst>
              <a:gd name="connsiteX0" fmla="*/ 0 w 4512467"/>
              <a:gd name="connsiteY0" fmla="*/ 0 h 6858000"/>
              <a:gd name="connsiteX1" fmla="*/ 2579526 w 4512467"/>
              <a:gd name="connsiteY1" fmla="*/ 0 h 6858000"/>
              <a:gd name="connsiteX2" fmla="*/ 2583267 w 4512467"/>
              <a:gd name="connsiteY2" fmla="*/ 2151 h 6858000"/>
              <a:gd name="connsiteX3" fmla="*/ 4512467 w 4512467"/>
              <a:gd name="connsiteY3" fmla="*/ 3429000 h 6858000"/>
              <a:gd name="connsiteX4" fmla="*/ 2583267 w 4512467"/>
              <a:gd name="connsiteY4" fmla="*/ 6855849 h 6858000"/>
              <a:gd name="connsiteX5" fmla="*/ 2579526 w 4512467"/>
              <a:gd name="connsiteY5" fmla="*/ 6858000 h 6858000"/>
              <a:gd name="connsiteX6" fmla="*/ 0 w 451246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12467" h="6858000">
                <a:moveTo>
                  <a:pt x="0" y="0"/>
                </a:moveTo>
                <a:lnTo>
                  <a:pt x="2579526" y="0"/>
                </a:lnTo>
                <a:lnTo>
                  <a:pt x="2583267" y="2151"/>
                </a:lnTo>
                <a:cubicBezTo>
                  <a:pt x="3739868" y="704919"/>
                  <a:pt x="4512467" y="1976735"/>
                  <a:pt x="4512467" y="3429000"/>
                </a:cubicBezTo>
                <a:cubicBezTo>
                  <a:pt x="4512467" y="4881266"/>
                  <a:pt x="3739868" y="6153081"/>
                  <a:pt x="2583267" y="6855849"/>
                </a:cubicBezTo>
                <a:lnTo>
                  <a:pt x="2579526"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bg1"/>
              </a:solidFill>
            </a:endParaRPr>
          </a:p>
        </p:txBody>
      </p:sp>
      <p:sp>
        <p:nvSpPr>
          <p:cNvPr id="2" name="Title 1">
            <a:extLst>
              <a:ext uri="{FF2B5EF4-FFF2-40B4-BE49-F238E27FC236}">
                <a16:creationId xmlns:a16="http://schemas.microsoft.com/office/drawing/2014/main" id="{0BC215D3-AD23-03EF-6AEF-7F7F95D99D1A}"/>
              </a:ext>
            </a:extLst>
          </p:cNvPr>
          <p:cNvSpPr>
            <a:spLocks noGrp="1"/>
          </p:cNvSpPr>
          <p:nvPr>
            <p:ph type="title"/>
          </p:nvPr>
        </p:nvSpPr>
        <p:spPr>
          <a:xfrm>
            <a:off x="838200" y="643467"/>
            <a:ext cx="2951205" cy="5571066"/>
          </a:xfrm>
        </p:spPr>
        <p:txBody>
          <a:bodyPr>
            <a:normAutofit/>
          </a:bodyPr>
          <a:lstStyle/>
          <a:p>
            <a:r>
              <a:rPr lang="en-US">
                <a:solidFill>
                  <a:srgbClr val="FFFFFF"/>
                </a:solidFill>
              </a:rPr>
              <a:t>Ackerman Model</a:t>
            </a:r>
          </a:p>
        </p:txBody>
      </p:sp>
      <p:graphicFrame>
        <p:nvGraphicFramePr>
          <p:cNvPr id="5" name="Content Placeholder 2">
            <a:extLst>
              <a:ext uri="{FF2B5EF4-FFF2-40B4-BE49-F238E27FC236}">
                <a16:creationId xmlns:a16="http://schemas.microsoft.com/office/drawing/2014/main" id="{87FAF86B-98C8-48AE-11CE-EBF08615F729}"/>
              </a:ext>
            </a:extLst>
          </p:cNvPr>
          <p:cNvGraphicFramePr>
            <a:graphicFrameLocks noGrp="1"/>
          </p:cNvGraphicFramePr>
          <p:nvPr>
            <p:ph idx="1"/>
            <p:extLst>
              <p:ext uri="{D42A27DB-BD31-4B8C-83A1-F6EECF244321}">
                <p14:modId xmlns:p14="http://schemas.microsoft.com/office/powerpoint/2010/main" val="3940744238"/>
              </p:ext>
            </p:extLst>
          </p:nvPr>
        </p:nvGraphicFramePr>
        <p:xfrm>
          <a:off x="5207640" y="643466"/>
          <a:ext cx="6291714" cy="553073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543109098"/>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657F69E0-C4B0-4BEC-A689-4F8D877F05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Different coloured question marks">
            <a:extLst>
              <a:ext uri="{FF2B5EF4-FFF2-40B4-BE49-F238E27FC236}">
                <a16:creationId xmlns:a16="http://schemas.microsoft.com/office/drawing/2014/main" id="{5BC93D0C-6A17-7C76-1217-A21D133E65D7}"/>
              </a:ext>
            </a:extLst>
          </p:cNvPr>
          <p:cNvPicPr>
            <a:picLocks noChangeAspect="1"/>
          </p:cNvPicPr>
          <p:nvPr/>
        </p:nvPicPr>
        <p:blipFill rotWithShape="1">
          <a:blip r:embed="rId3">
            <a:alphaModFix amt="50000"/>
          </a:blip>
          <a:srcRect l="25"/>
          <a:stretch>
            <a:fillRect/>
          </a:stretch>
        </p:blipFill>
        <p:spPr>
          <a:xfrm>
            <a:off x="20" y="10"/>
            <a:ext cx="12188930" cy="6857990"/>
          </a:xfrm>
          <a:prstGeom prst="rect">
            <a:avLst/>
          </a:prstGeom>
        </p:spPr>
      </p:pic>
      <p:sp>
        <p:nvSpPr>
          <p:cNvPr id="2" name="Title 1">
            <a:extLst>
              <a:ext uri="{FF2B5EF4-FFF2-40B4-BE49-F238E27FC236}">
                <a16:creationId xmlns:a16="http://schemas.microsoft.com/office/drawing/2014/main" id="{8FDFC12A-17DE-CF6A-993C-E65F8D65FC71}"/>
              </a:ext>
            </a:extLst>
          </p:cNvPr>
          <p:cNvSpPr>
            <a:spLocks noGrp="1"/>
          </p:cNvSpPr>
          <p:nvPr>
            <p:ph type="ctrTitle"/>
          </p:nvPr>
        </p:nvSpPr>
        <p:spPr>
          <a:xfrm>
            <a:off x="1524000" y="1122363"/>
            <a:ext cx="9144000" cy="3063240"/>
          </a:xfrm>
        </p:spPr>
        <p:txBody>
          <a:bodyPr>
            <a:normAutofit/>
          </a:bodyPr>
          <a:lstStyle/>
          <a:p>
            <a:r>
              <a:rPr lang="en-US" sz="6600">
                <a:solidFill>
                  <a:schemeClr val="bg1"/>
                </a:solidFill>
              </a:rPr>
              <a:t>Questions, Comments, Suggestions</a:t>
            </a:r>
          </a:p>
        </p:txBody>
      </p:sp>
      <p:sp>
        <p:nvSpPr>
          <p:cNvPr id="30" name="sketchy line">
            <a:extLst>
              <a:ext uri="{FF2B5EF4-FFF2-40B4-BE49-F238E27FC236}">
                <a16:creationId xmlns:a16="http://schemas.microsoft.com/office/drawing/2014/main" id="{9F6380B4-6A1C-481E-8408-B4E6C75B9B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74206" y="4368623"/>
            <a:ext cx="4243589" cy="18288"/>
          </a:xfrm>
          <a:custGeom>
            <a:avLst/>
            <a:gdLst>
              <a:gd name="csX0" fmla="*/ 0 w 4243589"/>
              <a:gd name="csY0" fmla="*/ 0 h 18288"/>
              <a:gd name="csX1" fmla="*/ 478919 w 4243589"/>
              <a:gd name="csY1" fmla="*/ 0 h 18288"/>
              <a:gd name="csX2" fmla="*/ 957839 w 4243589"/>
              <a:gd name="csY2" fmla="*/ 0 h 18288"/>
              <a:gd name="csX3" fmla="*/ 1521630 w 4243589"/>
              <a:gd name="csY3" fmla="*/ 0 h 18288"/>
              <a:gd name="csX4" fmla="*/ 2212729 w 4243589"/>
              <a:gd name="csY4" fmla="*/ 0 h 18288"/>
              <a:gd name="csX5" fmla="*/ 2734084 w 4243589"/>
              <a:gd name="csY5" fmla="*/ 0 h 18288"/>
              <a:gd name="csX6" fmla="*/ 3255439 w 4243589"/>
              <a:gd name="csY6" fmla="*/ 0 h 18288"/>
              <a:gd name="csX7" fmla="*/ 4243589 w 4243589"/>
              <a:gd name="csY7" fmla="*/ 0 h 18288"/>
              <a:gd name="csX8" fmla="*/ 4243589 w 4243589"/>
              <a:gd name="csY8" fmla="*/ 18288 h 18288"/>
              <a:gd name="csX9" fmla="*/ 3594926 w 4243589"/>
              <a:gd name="csY9" fmla="*/ 18288 h 18288"/>
              <a:gd name="csX10" fmla="*/ 3073571 w 4243589"/>
              <a:gd name="csY10" fmla="*/ 18288 h 18288"/>
              <a:gd name="csX11" fmla="*/ 2552216 w 4243589"/>
              <a:gd name="csY11" fmla="*/ 18288 h 18288"/>
              <a:gd name="csX12" fmla="*/ 1903553 w 4243589"/>
              <a:gd name="csY12" fmla="*/ 18288 h 18288"/>
              <a:gd name="csX13" fmla="*/ 1212454 w 4243589"/>
              <a:gd name="csY13" fmla="*/ 18288 h 18288"/>
              <a:gd name="csX14" fmla="*/ 733535 w 4243589"/>
              <a:gd name="csY14" fmla="*/ 18288 h 18288"/>
              <a:gd name="csX15" fmla="*/ 0 w 4243589"/>
              <a:gd name="csY15" fmla="*/ 18288 h 18288"/>
              <a:gd name="csX16" fmla="*/ 0 w 4243589"/>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rgbClr val="FFFFFF">
              <a:alpha val="75000"/>
            </a:srgbClr>
          </a:solidFill>
          <a:ln w="44450" cap="rnd">
            <a:solidFill>
              <a:schemeClr val="bg1">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0710762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26931</TotalTime>
  <Words>2789</Words>
  <Application>Microsoft Macintosh PowerPoint</Application>
  <PresentationFormat>Widescreen</PresentationFormat>
  <Paragraphs>465</Paragraphs>
  <Slides>34</Slides>
  <Notes>31</Notes>
  <HiddenSlides>0</HiddenSlides>
  <MMClips>0</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34</vt:i4>
      </vt:variant>
    </vt:vector>
  </HeadingPairs>
  <TitlesOfParts>
    <vt:vector size="48" baseType="lpstr">
      <vt:lpstr>Arial</vt:lpstr>
      <vt:lpstr>Calibri</vt:lpstr>
      <vt:lpstr>Calibri Light</vt:lpstr>
      <vt:lpstr>ff-scala-sans-pro</vt:lpstr>
      <vt:lpstr>Georgia</vt:lpstr>
      <vt:lpstr>Google Sans</vt:lpstr>
      <vt:lpstr>Inter</vt:lpstr>
      <vt:lpstr>Lexend Deca</vt:lpstr>
      <vt:lpstr>Raleway</vt:lpstr>
      <vt:lpstr>Rubik</vt:lpstr>
      <vt:lpstr>system-ui</vt:lpstr>
      <vt:lpstr>Tahoma</vt:lpstr>
      <vt:lpstr>Wingdings</vt:lpstr>
      <vt:lpstr>Office Theme</vt:lpstr>
      <vt:lpstr>Negotiation: What, Why and How Hostage &amp; Crisis Tactics for Everywhere</vt:lpstr>
      <vt:lpstr>PowerPoint Presentation</vt:lpstr>
      <vt:lpstr>Importance of Negotiation Skills</vt:lpstr>
      <vt:lpstr>Negotiation Fundamentals</vt:lpstr>
      <vt:lpstr>Zone of Possible Agreement (ZOPA)</vt:lpstr>
      <vt:lpstr>Best Alternative To A Negotiated Agreement (BATNA)</vt:lpstr>
      <vt:lpstr>Multiple Issue Negotiation</vt:lpstr>
      <vt:lpstr>Anchoring Bias</vt:lpstr>
      <vt:lpstr>Anchors</vt:lpstr>
      <vt:lpstr>Anchors vs ZOPA</vt:lpstr>
      <vt:lpstr>Negotiator’s Dilemma</vt:lpstr>
      <vt:lpstr>Value &amp; Distribution </vt:lpstr>
      <vt:lpstr>Creating Value (Collaborative)</vt:lpstr>
      <vt:lpstr>Claiming Value ( Competitive)</vt:lpstr>
      <vt:lpstr>PowerPoint Presentation</vt:lpstr>
      <vt:lpstr>PowerPoint Presentation</vt:lpstr>
      <vt:lpstr>PowerPoint Presentation</vt:lpstr>
      <vt:lpstr>Key Take Home Message</vt:lpstr>
      <vt:lpstr>How</vt:lpstr>
      <vt:lpstr>Why do smart people fail?</vt:lpstr>
      <vt:lpstr>The Practical "How"</vt:lpstr>
      <vt:lpstr>Tactical Empathy &amp; Trust Based Influence</vt:lpstr>
      <vt:lpstr>Tone</vt:lpstr>
      <vt:lpstr>Mirrors</vt:lpstr>
      <vt:lpstr>Mirrors</vt:lpstr>
      <vt:lpstr>Calibrated Questions</vt:lpstr>
      <vt:lpstr>Labels</vt:lpstr>
      <vt:lpstr>“No” Oriented Questions</vt:lpstr>
      <vt:lpstr>“No” Oriented Questions</vt:lpstr>
      <vt:lpstr>Accusations Audit </vt:lpstr>
      <vt:lpstr>That’s Right </vt:lpstr>
      <vt:lpstr>Never Split the Difference</vt:lpstr>
      <vt:lpstr>Ackerman Model</vt:lpstr>
      <vt:lpstr>Questions, Comments, Suggestions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Negotiation</dc:title>
  <dc:creator>Nicholas</dc:creator>
  <cp:lastModifiedBy>Nicholas Spooner</cp:lastModifiedBy>
  <cp:revision>78</cp:revision>
  <cp:lastPrinted>2026-06-19T03:16:14Z</cp:lastPrinted>
  <dcterms:created xsi:type="dcterms:W3CDTF">2023-12-05T04:41:43Z</dcterms:created>
  <dcterms:modified xsi:type="dcterms:W3CDTF">2026-06-27T22:26:29Z</dcterms:modified>
</cp:coreProperties>
</file>